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55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56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57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58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59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60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61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62.xml" ContentType="application/vnd.openxmlformats-officedocument.presentationml.notesSlide+xml"/>
  <Override PartName="/ppt/theme/themeOverride9.xml" ContentType="application/vnd.openxmlformats-officedocument.themeOverride+xml"/>
  <Override PartName="/ppt/notesSlides/notesSlide63.xml" ContentType="application/vnd.openxmlformats-officedocument.presentationml.notesSlide+xml"/>
  <Override PartName="/ppt/theme/themeOverride10.xml" ContentType="application/vnd.openxmlformats-officedocument.themeOverride+xml"/>
  <Override PartName="/ppt/notesSlides/notesSlide64.xml" ContentType="application/vnd.openxmlformats-officedocument.presentationml.notesSlide+xml"/>
  <Override PartName="/ppt/theme/themeOverride11.xml" ContentType="application/vnd.openxmlformats-officedocument.themeOverride+xml"/>
  <Override PartName="/ppt/notesSlides/notesSlide65.xml" ContentType="application/vnd.openxmlformats-officedocument.presentationml.notesSlide+xml"/>
  <Override PartName="/ppt/theme/themeOverride12.xml" ContentType="application/vnd.openxmlformats-officedocument.themeOverride+xml"/>
  <Override PartName="/ppt/notesSlides/notesSlide66.xml" ContentType="application/vnd.openxmlformats-officedocument.presentationml.notesSlide+xml"/>
  <Override PartName="/ppt/theme/themeOverride13.xml" ContentType="application/vnd.openxmlformats-officedocument.themeOverride+xml"/>
  <Override PartName="/ppt/notesSlides/notesSlide67.xml" ContentType="application/vnd.openxmlformats-officedocument.presentationml.notesSlide+xml"/>
  <Override PartName="/ppt/theme/themeOverride14.xml" ContentType="application/vnd.openxmlformats-officedocument.themeOverride+xml"/>
  <Override PartName="/ppt/notesSlides/notesSlide68.xml" ContentType="application/vnd.openxmlformats-officedocument.presentationml.notesSlide+xml"/>
  <Override PartName="/ppt/theme/themeOverride15.xml" ContentType="application/vnd.openxmlformats-officedocument.themeOverride+xml"/>
  <Override PartName="/ppt/notesSlides/notesSlide69.xml" ContentType="application/vnd.openxmlformats-officedocument.presentationml.notesSlide+xml"/>
  <Override PartName="/ppt/theme/themeOverride16.xml" ContentType="application/vnd.openxmlformats-officedocument.themeOverride+xml"/>
  <Override PartName="/ppt/notesSlides/notesSlide70.xml" ContentType="application/vnd.openxmlformats-officedocument.presentationml.notesSlide+xml"/>
  <Override PartName="/ppt/theme/themeOverride17.xml" ContentType="application/vnd.openxmlformats-officedocument.themeOverride+xml"/>
  <Override PartName="/ppt/notesSlides/notesSlide71.xml" ContentType="application/vnd.openxmlformats-officedocument.presentationml.notesSlide+xml"/>
  <Override PartName="/ppt/theme/themeOverride18.xml" ContentType="application/vnd.openxmlformats-officedocument.themeOverride+xml"/>
  <Override PartName="/ppt/notesSlides/notesSlide72.xml" ContentType="application/vnd.openxmlformats-officedocument.presentationml.notesSlide+xml"/>
  <Override PartName="/ppt/theme/themeOverride19.xml" ContentType="application/vnd.openxmlformats-officedocument.themeOverride+xml"/>
  <Override PartName="/ppt/notesSlides/notesSlide73.xml" ContentType="application/vnd.openxmlformats-officedocument.presentationml.notesSlide+xml"/>
  <Override PartName="/ppt/theme/themeOverride20.xml" ContentType="application/vnd.openxmlformats-officedocument.themeOverride+xml"/>
  <Override PartName="/ppt/notesSlides/notesSlide74.xml" ContentType="application/vnd.openxmlformats-officedocument.presentationml.notesSlide+xml"/>
  <Override PartName="/ppt/theme/themeOverride21.xml" ContentType="application/vnd.openxmlformats-officedocument.themeOverride+xml"/>
  <Override PartName="/ppt/notesSlides/notesSlide75.xml" ContentType="application/vnd.openxmlformats-officedocument.presentationml.notesSlide+xml"/>
  <Override PartName="/ppt/theme/themeOverride22.xml" ContentType="application/vnd.openxmlformats-officedocument.themeOverride+xml"/>
  <Override PartName="/ppt/notesSlides/notesSlide76.xml" ContentType="application/vnd.openxmlformats-officedocument.presentationml.notesSlide+xml"/>
  <Override PartName="/ppt/theme/themeOverride23.xml" ContentType="application/vnd.openxmlformats-officedocument.themeOverride+xml"/>
  <Override PartName="/ppt/notesSlides/notesSlide77.xml" ContentType="application/vnd.openxmlformats-officedocument.presentationml.notesSlide+xml"/>
  <Override PartName="/ppt/theme/themeOverride24.xml" ContentType="application/vnd.openxmlformats-officedocument.themeOverride+xml"/>
  <Override PartName="/ppt/notesSlides/notesSlide78.xml" ContentType="application/vnd.openxmlformats-officedocument.presentationml.notesSlide+xml"/>
  <Override PartName="/ppt/theme/themeOverride25.xml" ContentType="application/vnd.openxmlformats-officedocument.themeOverride+xml"/>
  <Override PartName="/ppt/notesSlides/notesSlide79.xml" ContentType="application/vnd.openxmlformats-officedocument.presentationml.notesSlide+xml"/>
  <Override PartName="/ppt/theme/themeOverride26.xml" ContentType="application/vnd.openxmlformats-officedocument.themeOverride+xml"/>
  <Override PartName="/ppt/notesSlides/notesSlide80.xml" ContentType="application/vnd.openxmlformats-officedocument.presentationml.notesSlide+xml"/>
  <Override PartName="/ppt/theme/themeOverride27.xml" ContentType="application/vnd.openxmlformats-officedocument.themeOverride+xml"/>
  <Override PartName="/ppt/notesSlides/notesSlide81.xml" ContentType="application/vnd.openxmlformats-officedocument.presentationml.notesSlide+xml"/>
  <Override PartName="/ppt/theme/themeOverride28.xml" ContentType="application/vnd.openxmlformats-officedocument.themeOverride+xml"/>
  <Override PartName="/ppt/notesSlides/notesSlide82.xml" ContentType="application/vnd.openxmlformats-officedocument.presentationml.notesSlide+xml"/>
  <Override PartName="/ppt/theme/themeOverride29.xml" ContentType="application/vnd.openxmlformats-officedocument.themeOverride+xml"/>
  <Override PartName="/ppt/notesSlides/notesSlide83.xml" ContentType="application/vnd.openxmlformats-officedocument.presentationml.notesSlide+xml"/>
  <Override PartName="/ppt/theme/themeOverride30.xml" ContentType="application/vnd.openxmlformats-officedocument.themeOverride+xml"/>
  <Override PartName="/ppt/notesSlides/notesSlide84.xml" ContentType="application/vnd.openxmlformats-officedocument.presentationml.notesSlide+xml"/>
  <Override PartName="/ppt/theme/themeOverride31.xml" ContentType="application/vnd.openxmlformats-officedocument.themeOverride+xml"/>
  <Override PartName="/ppt/notesSlides/notesSlide85.xml" ContentType="application/vnd.openxmlformats-officedocument.presentationml.notesSlide+xml"/>
  <Override PartName="/ppt/theme/themeOverride32.xml" ContentType="application/vnd.openxmlformats-officedocument.themeOverride+xml"/>
  <Override PartName="/ppt/notesSlides/notesSlide86.xml" ContentType="application/vnd.openxmlformats-officedocument.presentationml.notesSlide+xml"/>
  <Override PartName="/ppt/theme/themeOverride33.xml" ContentType="application/vnd.openxmlformats-officedocument.themeOverride+xml"/>
  <Override PartName="/ppt/notesSlides/notesSlide87.xml" ContentType="application/vnd.openxmlformats-officedocument.presentationml.notesSlide+xml"/>
  <Override PartName="/ppt/theme/themeOverride34.xml" ContentType="application/vnd.openxmlformats-officedocument.themeOverride+xml"/>
  <Override PartName="/ppt/notesSlides/notesSlide88.xml" ContentType="application/vnd.openxmlformats-officedocument.presentationml.notesSlide+xml"/>
  <Override PartName="/ppt/theme/themeOverride35.xml" ContentType="application/vnd.openxmlformats-officedocument.themeOverride+xml"/>
  <Override PartName="/ppt/notesSlides/notesSlide89.xml" ContentType="application/vnd.openxmlformats-officedocument.presentationml.notesSlide+xml"/>
  <Override PartName="/ppt/theme/themeOverride36.xml" ContentType="application/vnd.openxmlformats-officedocument.themeOverride+xml"/>
  <Override PartName="/ppt/notesSlides/notesSlide90.xml" ContentType="application/vnd.openxmlformats-officedocument.presentationml.notesSlide+xml"/>
  <Override PartName="/ppt/theme/themeOverride37.xml" ContentType="application/vnd.openxmlformats-officedocument.themeOverride+xml"/>
  <Override PartName="/ppt/notesSlides/notesSlide91.xml" ContentType="application/vnd.openxmlformats-officedocument.presentationml.notesSlide+xml"/>
  <Override PartName="/ppt/theme/themeOverride38.xml" ContentType="application/vnd.openxmlformats-officedocument.themeOverride+xml"/>
  <Override PartName="/ppt/notesSlides/notesSlide92.xml" ContentType="application/vnd.openxmlformats-officedocument.presentationml.notesSlide+xml"/>
  <Override PartName="/ppt/theme/themeOverride39.xml" ContentType="application/vnd.openxmlformats-officedocument.themeOverride+xml"/>
  <Override PartName="/ppt/notesSlides/notesSlide93.xml" ContentType="application/vnd.openxmlformats-officedocument.presentationml.notesSlide+xml"/>
  <Override PartName="/ppt/theme/themeOverride40.xml" ContentType="application/vnd.openxmlformats-officedocument.themeOverride+xml"/>
  <Override PartName="/ppt/notesSlides/notesSlide94.xml" ContentType="application/vnd.openxmlformats-officedocument.presentationml.notesSlide+xml"/>
  <Override PartName="/ppt/theme/themeOverride41.xml" ContentType="application/vnd.openxmlformats-officedocument.themeOverride+xml"/>
  <Override PartName="/ppt/notesSlides/notesSlide95.xml" ContentType="application/vnd.openxmlformats-officedocument.presentationml.notesSlide+xml"/>
  <Override PartName="/ppt/theme/themeOverride42.xml" ContentType="application/vnd.openxmlformats-officedocument.themeOverride+xml"/>
  <Override PartName="/ppt/notesSlides/notesSlide96.xml" ContentType="application/vnd.openxmlformats-officedocument.presentationml.notesSlide+xml"/>
  <Override PartName="/ppt/theme/themeOverride43.xml" ContentType="application/vnd.openxmlformats-officedocument.themeOverride+xml"/>
  <Override PartName="/ppt/notesSlides/notesSlide97.xml" ContentType="application/vnd.openxmlformats-officedocument.presentationml.notesSlide+xml"/>
  <Override PartName="/ppt/theme/themeOverride44.xml" ContentType="application/vnd.openxmlformats-officedocument.themeOverride+xml"/>
  <Override PartName="/ppt/notesSlides/notesSlide98.xml" ContentType="application/vnd.openxmlformats-officedocument.presentationml.notesSlide+xml"/>
  <Override PartName="/ppt/theme/themeOverride45.xml" ContentType="application/vnd.openxmlformats-officedocument.themeOverr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1" r:id="rId56"/>
    <p:sldId id="310" r:id="rId57"/>
    <p:sldId id="312" r:id="rId58"/>
    <p:sldId id="313" r:id="rId59"/>
    <p:sldId id="314" r:id="rId60"/>
    <p:sldId id="315" r:id="rId61"/>
    <p:sldId id="316" r:id="rId62"/>
    <p:sldId id="321" r:id="rId63"/>
    <p:sldId id="317" r:id="rId64"/>
    <p:sldId id="318" r:id="rId65"/>
    <p:sldId id="319" r:id="rId66"/>
    <p:sldId id="320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7" r:id="rId78"/>
    <p:sldId id="338" r:id="rId79"/>
    <p:sldId id="339" r:id="rId80"/>
    <p:sldId id="332" r:id="rId81"/>
    <p:sldId id="333" r:id="rId82"/>
    <p:sldId id="334" r:id="rId83"/>
    <p:sldId id="335" r:id="rId84"/>
    <p:sldId id="336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33612C-B4E0-405E-8150-2DFD3616867F}" type="datetimeFigureOut">
              <a:rPr lang="en-IN" smtClean="0"/>
              <a:t>15-12-2025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78D5A9-91BB-4EAA-9DF0-209E252E665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6773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8463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69752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8189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3787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93560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6331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66383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61155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55771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33242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57180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57028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45716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12607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63636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577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86182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66249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29431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92231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27224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55226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25179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0843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57945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83536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99222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80371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51912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002601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142982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80298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34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514912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35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529287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36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460388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37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536483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827470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969292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086318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41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443694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42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76409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43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451524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44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061894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45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046954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46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49046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47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71158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48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593441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49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610025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50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685022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51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958223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52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195956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53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498977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54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349612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55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29668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56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773657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57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121974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58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448092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59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774972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60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187930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61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952610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62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11998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63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887912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64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94651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65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467838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66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9906818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67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684179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68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54599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69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938149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70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068457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71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133012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72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435760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73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681410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74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402417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75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719698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76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903252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77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133969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78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480890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79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666629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80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30979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81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565665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82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22789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83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9298519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84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735388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85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800977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86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8935316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87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623356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88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598817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89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381548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90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884693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91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803138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92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264777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93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623877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94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917755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95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443729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96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9723430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97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492634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98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088068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99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722818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1D35"/>
                </a:solidFill>
                <a:effectLst/>
                <a:latin typeface="Google Sans"/>
              </a:rPr>
              <a:t> define its structure, format, and the relationships between different parts of a document using symbols called tags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78D5A9-91BB-4EAA-9DF0-209E252E6659}" type="slidenum">
              <a:rPr lang="en-IN" smtClean="0"/>
              <a:t>100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82733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12/15/2025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7" r:id="rId10"/>
    <p:sldLayoutId id="2147483663" r:id="rId11"/>
    <p:sldLayoutId id="2147483664" r:id="rId12"/>
    <p:sldLayoutId id="2147483665" r:id="rId13"/>
    <p:sldLayoutId id="2147483668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9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0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4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6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8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9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3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5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6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8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9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0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3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5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6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8.xml"/><Relationship Id="rId4" Type="http://schemas.openxmlformats.org/officeDocument/2006/relationships/image" Target="../media/image8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9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3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4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98AB3-D5CF-929C-D5AD-7635B0639C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databriics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37518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94704" y="450452"/>
            <a:ext cx="10679503" cy="6663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What Is a Data Lake?</a:t>
            </a:r>
          </a:p>
          <a:p>
            <a:pPr>
              <a:spcBef>
                <a:spcPts val="600"/>
              </a:spcBef>
            </a:pPr>
            <a:r>
              <a:rPr lang="en-US" dirty="0"/>
              <a:t>	A </a:t>
            </a:r>
            <a:r>
              <a:rPr lang="en-US" b="1" dirty="0"/>
              <a:t>Data Lake</a:t>
            </a:r>
            <a:r>
              <a:rPr lang="en-US" dirty="0"/>
              <a:t> is a centralized storage system where you can store </a:t>
            </a:r>
            <a:r>
              <a:rPr lang="en-US" b="1" dirty="0"/>
              <a:t>all types of data</a:t>
            </a:r>
            <a:r>
              <a:rPr lang="en-US" dirty="0"/>
              <a:t> — </a:t>
            </a:r>
            <a:r>
              <a:rPr lang="en-US" b="1" dirty="0"/>
              <a:t>raw, unstructured, 	semi-structured, and structured</a:t>
            </a:r>
            <a:r>
              <a:rPr lang="en-US" dirty="0"/>
              <a:t> — at </a:t>
            </a:r>
            <a:r>
              <a:rPr lang="en-US" b="1" dirty="0"/>
              <a:t>any scale</a:t>
            </a:r>
            <a:r>
              <a:rPr lang="en-US" dirty="0"/>
              <a:t> and at </a:t>
            </a:r>
            <a:r>
              <a:rPr lang="en-US" b="1" dirty="0"/>
              <a:t>low cost</a:t>
            </a:r>
          </a:p>
          <a:p>
            <a:pPr>
              <a:spcBef>
                <a:spcPts val="600"/>
              </a:spcBef>
            </a:pPr>
            <a:r>
              <a:rPr lang="en-IN" b="1" dirty="0"/>
              <a:t>Key Characteristics of a Data Lake</a:t>
            </a:r>
          </a:p>
          <a:p>
            <a:pPr>
              <a:spcBef>
                <a:spcPts val="600"/>
              </a:spcBef>
            </a:pPr>
            <a:r>
              <a:rPr lang="en-IN" b="1" dirty="0"/>
              <a:t>	1. Stores All Types of Data</a:t>
            </a:r>
          </a:p>
          <a:p>
            <a:pPr lvl="2">
              <a:spcBef>
                <a:spcPts val="600"/>
              </a:spcBef>
            </a:pPr>
            <a:r>
              <a:rPr lang="en-IN" dirty="0"/>
              <a:t>Structured: tables, CSV, RDBMS data</a:t>
            </a:r>
          </a:p>
          <a:p>
            <a:pPr>
              <a:spcBef>
                <a:spcPts val="600"/>
              </a:spcBef>
            </a:pPr>
            <a:r>
              <a:rPr lang="en-IN" dirty="0"/>
              <a:t>		Semi-structured: JSON, XML, logs</a:t>
            </a:r>
          </a:p>
          <a:p>
            <a:pPr>
              <a:spcBef>
                <a:spcPts val="600"/>
              </a:spcBef>
            </a:pPr>
            <a:r>
              <a:rPr lang="en-IN" dirty="0"/>
              <a:t>		Unstructured: images, videos, documents, audio</a:t>
            </a:r>
          </a:p>
          <a:p>
            <a:pPr>
              <a:spcBef>
                <a:spcPts val="600"/>
              </a:spcBef>
            </a:pPr>
            <a:r>
              <a:rPr lang="en-IN" dirty="0"/>
              <a:t>		Binary files		</a:t>
            </a:r>
          </a:p>
          <a:p>
            <a:pPr>
              <a:spcBef>
                <a:spcPts val="600"/>
              </a:spcBef>
            </a:pPr>
            <a:r>
              <a:rPr lang="en-IN" b="1" dirty="0"/>
              <a:t>	2.Schema-on-Read</a:t>
            </a:r>
          </a:p>
          <a:p>
            <a:pPr lvl="2">
              <a:spcBef>
                <a:spcPts val="600"/>
              </a:spcBef>
            </a:pPr>
            <a:r>
              <a:rPr lang="en-IN" dirty="0"/>
              <a:t>Data is stored first → structure is applied </a:t>
            </a:r>
            <a:r>
              <a:rPr lang="en-IN" i="1" dirty="0"/>
              <a:t>only when reading</a:t>
            </a:r>
            <a:r>
              <a:rPr lang="en-IN" dirty="0"/>
              <a:t>.</a:t>
            </a:r>
          </a:p>
          <a:p>
            <a:pPr>
              <a:spcBef>
                <a:spcPts val="600"/>
              </a:spcBef>
            </a:pPr>
            <a:r>
              <a:rPr lang="en-IN" dirty="0"/>
              <a:t>		Very flexible for analytics, ML, data exploration.</a:t>
            </a:r>
          </a:p>
          <a:p>
            <a:pPr>
              <a:spcBef>
                <a:spcPts val="600"/>
              </a:spcBef>
            </a:pPr>
            <a:r>
              <a:rPr lang="en-IN" b="1" dirty="0"/>
              <a:t>	3. Scalable and Low-Cost Storage</a:t>
            </a:r>
          </a:p>
          <a:p>
            <a:pPr>
              <a:spcBef>
                <a:spcPts val="600"/>
              </a:spcBef>
            </a:pPr>
            <a:r>
              <a:rPr lang="en-IN" dirty="0"/>
              <a:t>		AWS S3</a:t>
            </a:r>
          </a:p>
          <a:p>
            <a:pPr>
              <a:spcBef>
                <a:spcPts val="600"/>
              </a:spcBef>
            </a:pPr>
            <a:r>
              <a:rPr lang="en-IN" dirty="0"/>
              <a:t>		Azure Data Lake Storage</a:t>
            </a:r>
          </a:p>
          <a:p>
            <a:pPr>
              <a:spcBef>
                <a:spcPts val="600"/>
              </a:spcBef>
            </a:pPr>
            <a:r>
              <a:rPr lang="en-IN" dirty="0"/>
              <a:t>		Google Cloud Storage</a:t>
            </a:r>
          </a:p>
          <a:p>
            <a:pPr>
              <a:spcBef>
                <a:spcPts val="600"/>
              </a:spcBef>
            </a:pPr>
            <a:r>
              <a:rPr lang="en-IN" dirty="0"/>
              <a:t>		Hadoop HDFS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0718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	Supports Big Data Processing</a:t>
            </a:r>
          </a:p>
          <a:p>
            <a:pPr>
              <a:spcBef>
                <a:spcPts val="600"/>
              </a:spcBef>
            </a:pPr>
            <a:r>
              <a:rPr lang="en-IN" dirty="0"/>
              <a:t>	Data Lakes work seamlessly with:</a:t>
            </a:r>
          </a:p>
          <a:p>
            <a:pPr>
              <a:spcBef>
                <a:spcPts val="600"/>
              </a:spcBef>
            </a:pPr>
            <a:r>
              <a:rPr lang="en-IN" dirty="0"/>
              <a:t>		Apache Spark</a:t>
            </a:r>
          </a:p>
          <a:p>
            <a:pPr>
              <a:spcBef>
                <a:spcPts val="600"/>
              </a:spcBef>
            </a:pPr>
            <a:r>
              <a:rPr lang="en-IN" dirty="0"/>
              <a:t>		Delta Lake</a:t>
            </a:r>
          </a:p>
          <a:p>
            <a:pPr>
              <a:spcBef>
                <a:spcPts val="600"/>
              </a:spcBef>
            </a:pPr>
            <a:r>
              <a:rPr lang="en-IN" dirty="0"/>
              <a:t>		Hadoop</a:t>
            </a:r>
          </a:p>
          <a:p>
            <a:pPr>
              <a:spcBef>
                <a:spcPts val="600"/>
              </a:spcBef>
            </a:pPr>
            <a:r>
              <a:rPr lang="en-IN" dirty="0"/>
              <a:t>		Presto</a:t>
            </a:r>
          </a:p>
          <a:p>
            <a:pPr>
              <a:spcBef>
                <a:spcPts val="600"/>
              </a:spcBef>
            </a:pPr>
            <a:r>
              <a:rPr lang="en-IN" dirty="0"/>
              <a:t>		Databricks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Ideal for AI/ML</a:t>
            </a:r>
          </a:p>
          <a:p>
            <a:pPr>
              <a:spcBef>
                <a:spcPts val="600"/>
              </a:spcBef>
            </a:pPr>
            <a:r>
              <a:rPr lang="en-IN" dirty="0"/>
              <a:t>		Because data is stored in raw form, data scientists can explore and prepare data for:</a:t>
            </a:r>
          </a:p>
          <a:p>
            <a:pPr>
              <a:spcBef>
                <a:spcPts val="600"/>
              </a:spcBef>
            </a:pPr>
            <a:r>
              <a:rPr lang="en-IN" dirty="0"/>
              <a:t>		Machine learning models</a:t>
            </a:r>
          </a:p>
          <a:p>
            <a:pPr>
              <a:spcBef>
                <a:spcPts val="600"/>
              </a:spcBef>
            </a:pPr>
            <a:r>
              <a:rPr lang="en-IN" dirty="0"/>
              <a:t>		Predictive analytics</a:t>
            </a:r>
          </a:p>
          <a:p>
            <a:pPr>
              <a:spcBef>
                <a:spcPts val="600"/>
              </a:spcBef>
            </a:pPr>
            <a:r>
              <a:rPr lang="en-IN" dirty="0"/>
              <a:t>		Streaming analytics</a:t>
            </a:r>
          </a:p>
          <a:p>
            <a:endParaRPr lang="en-US" b="1" dirty="0"/>
          </a:p>
          <a:p>
            <a:endParaRPr lang="en-IN" dirty="0"/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1696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D32E8A4-376B-4164-5B2F-A71EBC43F6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79072"/>
              </p:ext>
            </p:extLst>
          </p:nvPr>
        </p:nvGraphicFramePr>
        <p:xfrm>
          <a:off x="512408" y="868680"/>
          <a:ext cx="10131426" cy="2560320"/>
        </p:xfrm>
        <a:graphic>
          <a:graphicData uri="http://schemas.openxmlformats.org/drawingml/2006/table">
            <a:tbl>
              <a:tblPr/>
              <a:tblGrid>
                <a:gridCol w="3377142">
                  <a:extLst>
                    <a:ext uri="{9D8B030D-6E8A-4147-A177-3AD203B41FA5}">
                      <a16:colId xmlns:a16="http://schemas.microsoft.com/office/drawing/2014/main" val="3132843448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141423651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254017353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b="1"/>
                        <a:t>Data Lake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b="1"/>
                        <a:t>Data Warehouse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9566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Data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All (raw/structured/semi)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Mostly structured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215723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Schema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Schema-on-read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Schema-on-write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924933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70468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Batch + Streaming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Mostly batch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15344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800"/>
                        <a:t>AI/ML, big data, logs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BI reports, dashboards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411258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Flexibility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Very 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Limited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379663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751C463-CA55-28A6-179F-A29627F8901D}"/>
              </a:ext>
            </a:extLst>
          </p:cNvPr>
          <p:cNvSpPr txBox="1"/>
          <p:nvPr/>
        </p:nvSpPr>
        <p:spPr>
          <a:xfrm>
            <a:off x="413766" y="327398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Data Lake vs Data Warehouse</a:t>
            </a:r>
          </a:p>
        </p:txBody>
      </p:sp>
    </p:spTree>
    <p:extLst>
      <p:ext uri="{BB962C8B-B14F-4D97-AF65-F5344CB8AC3E}">
        <p14:creationId xmlns:p14="http://schemas.microsoft.com/office/powerpoint/2010/main" val="262857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6032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Disadvantages of a Data Lake</a:t>
            </a:r>
            <a:r>
              <a:rPr lang="en-IN" b="1" dirty="0"/>
              <a:t>:</a:t>
            </a:r>
          </a:p>
          <a:p>
            <a:pPr>
              <a:spcBef>
                <a:spcPts val="600"/>
              </a:spcBef>
            </a:pPr>
            <a:endParaRPr lang="en-US" b="1" dirty="0"/>
          </a:p>
          <a:p>
            <a:pPr>
              <a:spcBef>
                <a:spcPts val="600"/>
              </a:spcBef>
            </a:pPr>
            <a:r>
              <a:rPr lang="en-US" b="1" dirty="0"/>
              <a:t>Data Becomes a “Data Swamp”</a:t>
            </a:r>
          </a:p>
          <a:p>
            <a:pPr>
              <a:spcBef>
                <a:spcPts val="600"/>
              </a:spcBef>
            </a:pPr>
            <a:r>
              <a:rPr lang="en-US" dirty="0"/>
              <a:t>	If data is dumped without proper governance, metadata, or cataloging:</a:t>
            </a:r>
          </a:p>
          <a:p>
            <a:pPr>
              <a:spcBef>
                <a:spcPts val="600"/>
              </a:spcBef>
            </a:pPr>
            <a:r>
              <a:rPr lang="en-US" dirty="0"/>
              <a:t>	Users cannot find the right data.</a:t>
            </a:r>
          </a:p>
          <a:p>
            <a:pPr>
              <a:spcBef>
                <a:spcPts val="600"/>
              </a:spcBef>
            </a:pPr>
            <a:r>
              <a:rPr lang="en-US" dirty="0"/>
              <a:t>	Duplicate and inconsistent files appear.</a:t>
            </a:r>
          </a:p>
          <a:p>
            <a:pPr>
              <a:spcBef>
                <a:spcPts val="600"/>
              </a:spcBef>
            </a:pPr>
            <a:r>
              <a:rPr lang="en-US" dirty="0"/>
              <a:t>	Data quality becomes poor.</a:t>
            </a:r>
          </a:p>
          <a:p>
            <a:pPr>
              <a:spcBef>
                <a:spcPts val="600"/>
              </a:spcBef>
            </a:pPr>
            <a:r>
              <a:rPr lang="en-US" dirty="0"/>
              <a:t>Example:</a:t>
            </a:r>
          </a:p>
          <a:p>
            <a:pPr>
              <a:spcBef>
                <a:spcPts val="600"/>
              </a:spcBef>
            </a:pPr>
            <a:r>
              <a:rPr lang="en-US" dirty="0"/>
              <a:t>	Multiple copies of </a:t>
            </a:r>
            <a:r>
              <a:rPr lang="en-US" dirty="0" err="1"/>
              <a:t>sales.json</a:t>
            </a:r>
            <a:r>
              <a:rPr lang="en-US" dirty="0"/>
              <a:t> stored in different folders with different schemas → confusion.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r>
              <a:rPr lang="en-IN" b="1" dirty="0"/>
              <a:t>Lack of Data Quality &amp; Validation</a:t>
            </a:r>
          </a:p>
          <a:p>
            <a:pPr>
              <a:spcBef>
                <a:spcPts val="600"/>
              </a:spcBef>
            </a:pPr>
            <a:r>
              <a:rPr lang="en-IN" dirty="0"/>
              <a:t>	Data Lakes store raw data, so:</a:t>
            </a:r>
          </a:p>
          <a:p>
            <a:pPr>
              <a:spcBef>
                <a:spcPts val="600"/>
              </a:spcBef>
            </a:pPr>
            <a:r>
              <a:rPr lang="en-IN" dirty="0"/>
              <a:t>	No validation on ingestion</a:t>
            </a:r>
          </a:p>
          <a:p>
            <a:pPr>
              <a:spcBef>
                <a:spcPts val="600"/>
              </a:spcBef>
            </a:pPr>
            <a:r>
              <a:rPr lang="en-IN" dirty="0"/>
              <a:t>	Incorrect or inconsistent data can enter</a:t>
            </a:r>
          </a:p>
          <a:p>
            <a:pPr>
              <a:spcBef>
                <a:spcPts val="600"/>
              </a:spcBef>
            </a:pPr>
            <a:r>
              <a:rPr lang="en-IN" dirty="0"/>
              <a:t>	Harder to ensure accuracy for reporting</a:t>
            </a:r>
          </a:p>
          <a:p>
            <a:pPr>
              <a:spcBef>
                <a:spcPts val="600"/>
              </a:spcBef>
            </a:pPr>
            <a:r>
              <a:rPr lang="en-IN" dirty="0"/>
              <a:t>Example:</a:t>
            </a:r>
          </a:p>
          <a:p>
            <a:pPr>
              <a:spcBef>
                <a:spcPts val="600"/>
              </a:spcBef>
            </a:pPr>
            <a:r>
              <a:rPr lang="en-IN" dirty="0"/>
              <a:t>	Missing values, wrong date formats, corrupted logs, etc.</a:t>
            </a:r>
          </a:p>
        </p:txBody>
      </p:sp>
    </p:spTree>
    <p:extLst>
      <p:ext uri="{BB962C8B-B14F-4D97-AF65-F5344CB8AC3E}">
        <p14:creationId xmlns:p14="http://schemas.microsoft.com/office/powerpoint/2010/main" val="906550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6032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Disadvantages of a Data Lake</a:t>
            </a:r>
            <a:r>
              <a:rPr lang="en-IN" b="1" dirty="0"/>
              <a:t>:</a:t>
            </a:r>
          </a:p>
          <a:p>
            <a:pPr>
              <a:spcBef>
                <a:spcPts val="600"/>
              </a:spcBef>
            </a:pP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Complex to Manage &amp; Govern</a:t>
            </a:r>
          </a:p>
          <a:p>
            <a:pPr>
              <a:spcBef>
                <a:spcPts val="600"/>
              </a:spcBef>
            </a:pPr>
            <a:r>
              <a:rPr lang="en-US" dirty="0"/>
              <a:t>	Since it stores all types of data:</a:t>
            </a:r>
          </a:p>
          <a:p>
            <a:pPr>
              <a:spcBef>
                <a:spcPts val="600"/>
              </a:spcBef>
            </a:pPr>
            <a:r>
              <a:rPr lang="en-US" dirty="0"/>
              <a:t>	Requires strong governance policies</a:t>
            </a:r>
          </a:p>
          <a:p>
            <a:pPr>
              <a:spcBef>
                <a:spcPts val="600"/>
              </a:spcBef>
            </a:pPr>
            <a:r>
              <a:rPr lang="en-US" dirty="0"/>
              <a:t>	Needs metadata management	</a:t>
            </a:r>
          </a:p>
          <a:p>
            <a:pPr>
              <a:spcBef>
                <a:spcPts val="600"/>
              </a:spcBef>
            </a:pPr>
            <a:r>
              <a:rPr lang="en-US" dirty="0"/>
              <a:t>	Requires proper access control</a:t>
            </a:r>
          </a:p>
          <a:p>
            <a:pPr>
              <a:spcBef>
                <a:spcPts val="600"/>
              </a:spcBef>
            </a:pPr>
            <a:r>
              <a:rPr lang="en-US" dirty="0"/>
              <a:t>If not handled:</a:t>
            </a:r>
          </a:p>
          <a:p>
            <a:pPr>
              <a:spcBef>
                <a:spcPts val="600"/>
              </a:spcBef>
            </a:pPr>
            <a:r>
              <a:rPr lang="en-US" dirty="0"/>
              <a:t>	Unauthorized users may access sensitive data.</a:t>
            </a:r>
          </a:p>
          <a:p>
            <a:pPr>
              <a:spcBef>
                <a:spcPts val="600"/>
              </a:spcBef>
            </a:pPr>
            <a:r>
              <a:rPr lang="en-US" b="1" dirty="0"/>
              <a:t>Slow Query Performance</a:t>
            </a:r>
          </a:p>
          <a:p>
            <a:pPr>
              <a:spcBef>
                <a:spcPts val="600"/>
              </a:spcBef>
            </a:pPr>
            <a:r>
              <a:rPr lang="en-US" b="1" dirty="0"/>
              <a:t>	</a:t>
            </a:r>
            <a:r>
              <a:rPr lang="en-US" dirty="0"/>
              <a:t>Because data is unstructured and schema is applied at read time:</a:t>
            </a:r>
          </a:p>
          <a:p>
            <a:pPr>
              <a:spcBef>
                <a:spcPts val="600"/>
              </a:spcBef>
            </a:pPr>
            <a:r>
              <a:rPr lang="en-US" dirty="0"/>
              <a:t>	Queries may be slow</a:t>
            </a:r>
          </a:p>
          <a:p>
            <a:pPr>
              <a:spcBef>
                <a:spcPts val="600"/>
              </a:spcBef>
            </a:pPr>
            <a:r>
              <a:rPr lang="en-US" dirty="0"/>
              <a:t>	Large scans required</a:t>
            </a:r>
          </a:p>
          <a:p>
            <a:pPr>
              <a:spcBef>
                <a:spcPts val="600"/>
              </a:spcBef>
            </a:pPr>
            <a:r>
              <a:rPr lang="en-US" dirty="0"/>
              <a:t>	Not optimized like data warehouses</a:t>
            </a:r>
          </a:p>
          <a:p>
            <a:pPr>
              <a:spcBef>
                <a:spcPts val="600"/>
              </a:spcBef>
            </a:pPr>
            <a:r>
              <a:rPr lang="en-US" dirty="0"/>
              <a:t>Example:</a:t>
            </a:r>
          </a:p>
          <a:p>
            <a:pPr>
              <a:spcBef>
                <a:spcPts val="600"/>
              </a:spcBef>
            </a:pPr>
            <a:r>
              <a:rPr lang="en-US" dirty="0"/>
              <a:t>	SQL queries on raw CSV files → slow performance.</a:t>
            </a:r>
            <a:endParaRPr lang="en-IN" dirty="0"/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743912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Disadvantages of a Data Lake</a:t>
            </a:r>
            <a:r>
              <a:rPr lang="en-IN" b="1" dirty="0"/>
              <a:t>:</a:t>
            </a:r>
          </a:p>
          <a:p>
            <a:pPr>
              <a:spcBef>
                <a:spcPts val="600"/>
              </a:spcBef>
            </a:pPr>
            <a:r>
              <a:rPr lang="en-US" b="1" dirty="0"/>
              <a:t>Security Challenges</a:t>
            </a:r>
          </a:p>
          <a:p>
            <a:pPr>
              <a:spcBef>
                <a:spcPts val="600"/>
              </a:spcBef>
            </a:pPr>
            <a:r>
              <a:rPr lang="en-US" b="1" dirty="0"/>
              <a:t>	Raw zones may contain:</a:t>
            </a:r>
          </a:p>
          <a:p>
            <a:pPr>
              <a:spcBef>
                <a:spcPts val="600"/>
              </a:spcBef>
            </a:pPr>
            <a:r>
              <a:rPr lang="en-US" b="1" dirty="0"/>
              <a:t>	Personal information</a:t>
            </a:r>
          </a:p>
          <a:p>
            <a:pPr>
              <a:spcBef>
                <a:spcPts val="600"/>
              </a:spcBef>
            </a:pPr>
            <a:r>
              <a:rPr lang="en-US" b="1" dirty="0"/>
              <a:t>	Financial data</a:t>
            </a:r>
          </a:p>
          <a:p>
            <a:pPr>
              <a:spcBef>
                <a:spcPts val="600"/>
              </a:spcBef>
            </a:pPr>
            <a:r>
              <a:rPr lang="en-US" b="1" dirty="0"/>
              <a:t>	Confidential logs</a:t>
            </a:r>
          </a:p>
          <a:p>
            <a:pPr>
              <a:spcBef>
                <a:spcPts val="600"/>
              </a:spcBef>
            </a:pPr>
            <a:r>
              <a:rPr lang="en-US" b="1" dirty="0"/>
              <a:t>If security policies are not tight, large data leaks can happen.</a:t>
            </a:r>
          </a:p>
          <a:p>
            <a:pPr>
              <a:spcBef>
                <a:spcPts val="600"/>
              </a:spcBef>
            </a:pPr>
            <a:endParaRPr lang="en-US" b="1" dirty="0"/>
          </a:p>
          <a:p>
            <a:pPr>
              <a:spcBef>
                <a:spcPts val="600"/>
              </a:spcBef>
            </a:pPr>
            <a:r>
              <a:rPr lang="en-US" b="1" dirty="0"/>
              <a:t>High Storage Consumption</a:t>
            </a:r>
          </a:p>
          <a:p>
            <a:pPr>
              <a:spcBef>
                <a:spcPts val="600"/>
              </a:spcBef>
            </a:pPr>
            <a:r>
              <a:rPr lang="en-US" b="1" dirty="0"/>
              <a:t>	Since data is stored as-is:</a:t>
            </a:r>
          </a:p>
          <a:p>
            <a:pPr>
              <a:spcBef>
                <a:spcPts val="600"/>
              </a:spcBef>
            </a:pPr>
            <a:r>
              <a:rPr lang="en-US" b="1" dirty="0"/>
              <a:t>	Multiple file versions	</a:t>
            </a:r>
          </a:p>
          <a:p>
            <a:pPr>
              <a:spcBef>
                <a:spcPts val="600"/>
              </a:spcBef>
            </a:pPr>
            <a:r>
              <a:rPr lang="en-US" b="1" dirty="0"/>
              <a:t>	Duplicate logs</a:t>
            </a:r>
          </a:p>
          <a:p>
            <a:pPr>
              <a:spcBef>
                <a:spcPts val="600"/>
              </a:spcBef>
            </a:pPr>
            <a:r>
              <a:rPr lang="en-US" b="1" dirty="0"/>
              <a:t>	Backup copies</a:t>
            </a:r>
          </a:p>
          <a:p>
            <a:pPr>
              <a:spcBef>
                <a:spcPts val="600"/>
              </a:spcBef>
            </a:pPr>
            <a:r>
              <a:rPr lang="en-US" b="1" dirty="0"/>
              <a:t>	This increases storage cost over time.</a:t>
            </a:r>
            <a:endParaRPr lang="en-IN" b="1" dirty="0"/>
          </a:p>
          <a:p>
            <a:pPr>
              <a:spcBef>
                <a:spcPts val="600"/>
              </a:spcBef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2087686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What Is a Lakehouse?</a:t>
            </a:r>
          </a:p>
          <a:p>
            <a:pPr>
              <a:spcBef>
                <a:spcPts val="600"/>
              </a:spcBef>
            </a:pPr>
            <a:r>
              <a:rPr lang="en-US" b="1" dirty="0"/>
              <a:t>A Lakehouse is a modern data architecture that combines the best features of a Data Lake + Data Warehouse.</a:t>
            </a:r>
          </a:p>
          <a:p>
            <a:pPr>
              <a:spcBef>
                <a:spcPts val="600"/>
              </a:spcBef>
            </a:pPr>
            <a:endParaRPr lang="en-US" b="1" dirty="0"/>
          </a:p>
          <a:p>
            <a:pPr>
              <a:spcBef>
                <a:spcPts val="600"/>
              </a:spcBef>
            </a:pPr>
            <a:r>
              <a:rPr lang="en-US" b="1" dirty="0"/>
              <a:t>What it solves:</a:t>
            </a:r>
          </a:p>
          <a:p>
            <a:pPr>
              <a:spcBef>
                <a:spcPts val="600"/>
              </a:spcBef>
            </a:pPr>
            <a:r>
              <a:rPr lang="en-US" b="1" dirty="0"/>
              <a:t>	Data Lakes store raw data but lack governance &amp; performance.</a:t>
            </a:r>
          </a:p>
          <a:p>
            <a:pPr>
              <a:spcBef>
                <a:spcPts val="600"/>
              </a:spcBef>
            </a:pPr>
            <a:r>
              <a:rPr lang="en-US" b="1" dirty="0"/>
              <a:t>	Data Warehouses provide structured, reliable analytics but re 	expensive and rigid.</a:t>
            </a:r>
          </a:p>
          <a:p>
            <a:pPr>
              <a:spcBef>
                <a:spcPts val="600"/>
              </a:spcBef>
            </a:pPr>
            <a:endParaRPr lang="en-US" b="1" dirty="0"/>
          </a:p>
          <a:p>
            <a:pPr>
              <a:spcBef>
                <a:spcPts val="600"/>
              </a:spcBef>
            </a:pPr>
            <a:r>
              <a:rPr lang="en-US" b="1" dirty="0"/>
              <a:t>	Lakehouse =</a:t>
            </a:r>
          </a:p>
          <a:p>
            <a:pPr>
              <a:spcBef>
                <a:spcPts val="600"/>
              </a:spcBef>
            </a:pPr>
            <a:r>
              <a:rPr lang="en-US" b="1" dirty="0"/>
              <a:t>	Open Data Lake Storage</a:t>
            </a:r>
          </a:p>
          <a:p>
            <a:pPr>
              <a:spcBef>
                <a:spcPts val="600"/>
              </a:spcBef>
            </a:pPr>
            <a:r>
              <a:rPr lang="en-US" b="1" dirty="0"/>
              <a:t>		+</a:t>
            </a:r>
          </a:p>
          <a:p>
            <a:pPr>
              <a:spcBef>
                <a:spcPts val="600"/>
              </a:spcBef>
            </a:pPr>
            <a:r>
              <a:rPr lang="en-US" b="1" dirty="0"/>
              <a:t>	Data Warehouse Reliability</a:t>
            </a:r>
          </a:p>
          <a:p>
            <a:pPr>
              <a:spcBef>
                <a:spcPts val="600"/>
              </a:spcBef>
            </a:pPr>
            <a:r>
              <a:rPr lang="en-US" b="1" dirty="0"/>
              <a:t>		+</a:t>
            </a:r>
          </a:p>
          <a:p>
            <a:pPr>
              <a:spcBef>
                <a:spcPts val="600"/>
              </a:spcBef>
            </a:pPr>
            <a:r>
              <a:rPr lang="en-US" b="1" dirty="0"/>
              <a:t>	Delta/Parquet Format for ACID &amp; Transactions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1258855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Why Lakehouse? (Business Need)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5985A7-C614-0C9E-6703-6B828F992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143436"/>
              </p:ext>
            </p:extLst>
          </p:nvPr>
        </p:nvGraphicFramePr>
        <p:xfrm>
          <a:off x="521552" y="868680"/>
          <a:ext cx="10131424" cy="2560320"/>
        </p:xfrm>
        <a:graphic>
          <a:graphicData uri="http://schemas.openxmlformats.org/drawingml/2006/table">
            <a:tbl>
              <a:tblPr/>
              <a:tblGrid>
                <a:gridCol w="5065712">
                  <a:extLst>
                    <a:ext uri="{9D8B030D-6E8A-4147-A177-3AD203B41FA5}">
                      <a16:colId xmlns:a16="http://schemas.microsoft.com/office/drawing/2014/main" val="2608725527"/>
                    </a:ext>
                  </a:extLst>
                </a:gridCol>
                <a:gridCol w="5065712">
                  <a:extLst>
                    <a:ext uri="{9D8B030D-6E8A-4147-A177-3AD203B41FA5}">
                      <a16:colId xmlns:a16="http://schemas.microsoft.com/office/drawing/2014/main" val="227453037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 b="1" dirty="0"/>
                        <a:t>Issue in Traditional Systems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b="1" dirty="0"/>
                        <a:t>Lakehouse Solution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354885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Data duplication in DW &amp; DL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Single source of storage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73124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High ETL costs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Direct analytics on lake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550975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No ACID in Data Lake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Delta/Hudi/Iceberg provide ACID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177739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Poor governance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Unified governance &amp; catalogs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25687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ML needs raw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Raw + curated layers exist together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829004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Expensive DW scaling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Low-cost storage + scalable compute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49582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9486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Core Features of a Lakehouse</a:t>
            </a:r>
          </a:p>
          <a:p>
            <a:pPr>
              <a:spcBef>
                <a:spcPts val="600"/>
              </a:spcBef>
            </a:pPr>
            <a:r>
              <a:rPr lang="en-IN" b="1" dirty="0"/>
              <a:t>ACID Transactions</a:t>
            </a:r>
          </a:p>
          <a:p>
            <a:pPr>
              <a:spcBef>
                <a:spcPts val="600"/>
              </a:spcBef>
            </a:pPr>
            <a:r>
              <a:rPr lang="en-IN" dirty="0"/>
              <a:t>	reliability</a:t>
            </a:r>
          </a:p>
          <a:p>
            <a:pPr>
              <a:spcBef>
                <a:spcPts val="600"/>
              </a:spcBef>
            </a:pPr>
            <a:r>
              <a:rPr lang="en-IN" dirty="0"/>
              <a:t>	correct updates/deletes/merges</a:t>
            </a:r>
          </a:p>
          <a:p>
            <a:pPr>
              <a:spcBef>
                <a:spcPts val="600"/>
              </a:spcBef>
            </a:pPr>
            <a:r>
              <a:rPr lang="en-IN" dirty="0"/>
              <a:t>	no partial writes</a:t>
            </a:r>
          </a:p>
          <a:p>
            <a:pPr>
              <a:spcBef>
                <a:spcPts val="600"/>
              </a:spcBef>
            </a:pPr>
            <a:r>
              <a:rPr lang="en-IN" dirty="0"/>
              <a:t>	(Enabled by Delta Lake / Hudi / Iceberg)</a:t>
            </a:r>
          </a:p>
          <a:p>
            <a:pPr>
              <a:spcBef>
                <a:spcPts val="600"/>
              </a:spcBef>
            </a:pPr>
            <a:r>
              <a:rPr lang="en-IN" b="1" dirty="0"/>
              <a:t>Schema Enforcement + Evolution</a:t>
            </a:r>
          </a:p>
          <a:p>
            <a:pPr>
              <a:spcBef>
                <a:spcPts val="600"/>
              </a:spcBef>
            </a:pPr>
            <a:r>
              <a:rPr lang="en-IN" dirty="0"/>
              <a:t>	Rejects bad data</a:t>
            </a:r>
          </a:p>
          <a:p>
            <a:pPr>
              <a:spcBef>
                <a:spcPts val="600"/>
              </a:spcBef>
            </a:pPr>
            <a:r>
              <a:rPr lang="en-IN" dirty="0"/>
              <a:t>	Allows schema changes (add column, modify fields)</a:t>
            </a:r>
          </a:p>
          <a:p>
            <a:pPr>
              <a:spcBef>
                <a:spcPts val="600"/>
              </a:spcBef>
            </a:pPr>
            <a:r>
              <a:rPr lang="en-IN" b="1" dirty="0"/>
              <a:t>Unified Storage for All Data</a:t>
            </a:r>
          </a:p>
          <a:p>
            <a:pPr>
              <a:spcBef>
                <a:spcPts val="600"/>
              </a:spcBef>
            </a:pPr>
            <a:r>
              <a:rPr lang="en-IN" dirty="0"/>
              <a:t>	structured</a:t>
            </a:r>
          </a:p>
          <a:p>
            <a:pPr>
              <a:spcBef>
                <a:spcPts val="600"/>
              </a:spcBef>
            </a:pPr>
            <a:r>
              <a:rPr lang="en-IN" dirty="0"/>
              <a:t>	semi-structured</a:t>
            </a:r>
          </a:p>
          <a:p>
            <a:pPr>
              <a:spcBef>
                <a:spcPts val="600"/>
              </a:spcBef>
            </a:pPr>
            <a:r>
              <a:rPr lang="en-IN" dirty="0"/>
              <a:t>	unstructured</a:t>
            </a:r>
          </a:p>
          <a:p>
            <a:pPr>
              <a:spcBef>
                <a:spcPts val="600"/>
              </a:spcBef>
            </a:pPr>
            <a:r>
              <a:rPr lang="en-IN" b="1" dirty="0"/>
              <a:t>Time Travel</a:t>
            </a:r>
          </a:p>
          <a:p>
            <a:pPr>
              <a:spcBef>
                <a:spcPts val="600"/>
              </a:spcBef>
            </a:pPr>
            <a:r>
              <a:rPr lang="en-IN" dirty="0"/>
              <a:t>	Query older versions of the table.</a:t>
            </a:r>
          </a:p>
          <a:p>
            <a:pPr>
              <a:spcBef>
                <a:spcPts val="600"/>
              </a:spcBef>
            </a:pPr>
            <a:r>
              <a:rPr lang="en-IN" b="1" dirty="0"/>
              <a:t>Separation of Compute &amp; Storage</a:t>
            </a:r>
          </a:p>
          <a:p>
            <a:pPr>
              <a:spcBef>
                <a:spcPts val="600"/>
              </a:spcBef>
            </a:pPr>
            <a:r>
              <a:rPr lang="en-IN" dirty="0"/>
              <a:t>	Storage: cheap (S3, ADLS, GCS, local object storage)</a:t>
            </a:r>
          </a:p>
          <a:p>
            <a:pPr>
              <a:spcBef>
                <a:spcPts val="600"/>
              </a:spcBef>
            </a:pPr>
            <a:r>
              <a:rPr lang="en-IN" dirty="0"/>
              <a:t>	Compute: Spark, Databricks, Presto, Trino, etc.</a:t>
            </a:r>
          </a:p>
          <a:p>
            <a:pPr>
              <a:spcBef>
                <a:spcPts val="600"/>
              </a:spcBef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89188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Data Lakehouse Architecture | Databricks">
            <a:extLst>
              <a:ext uri="{FF2B5EF4-FFF2-40B4-BE49-F238E27FC236}">
                <a16:creationId xmlns:a16="http://schemas.microsoft.com/office/drawing/2014/main" id="{706FA653-254F-CFBD-1035-D2EC0A32E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768" y="196596"/>
            <a:ext cx="11159680" cy="6464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04487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Components of a Lakehouse Architecture</a:t>
            </a:r>
          </a:p>
          <a:p>
            <a:pPr>
              <a:spcBef>
                <a:spcPts val="600"/>
              </a:spcBef>
            </a:pPr>
            <a:r>
              <a:rPr lang="en-IN" b="1" dirty="0"/>
              <a:t>	</a:t>
            </a:r>
            <a:r>
              <a:rPr lang="en-IN" dirty="0"/>
              <a:t>Storage Layer (Open Format)</a:t>
            </a:r>
          </a:p>
          <a:p>
            <a:pPr>
              <a:spcBef>
                <a:spcPts val="600"/>
              </a:spcBef>
            </a:pPr>
            <a:r>
              <a:rPr lang="en-IN" dirty="0"/>
              <a:t>	Parquet</a:t>
            </a:r>
          </a:p>
          <a:p>
            <a:pPr>
              <a:spcBef>
                <a:spcPts val="600"/>
              </a:spcBef>
            </a:pPr>
            <a:r>
              <a:rPr lang="en-IN" dirty="0"/>
              <a:t>	Delta</a:t>
            </a:r>
          </a:p>
          <a:p>
            <a:pPr>
              <a:spcBef>
                <a:spcPts val="600"/>
              </a:spcBef>
            </a:pPr>
            <a:r>
              <a:rPr lang="en-IN" dirty="0"/>
              <a:t>	Iceberg</a:t>
            </a:r>
          </a:p>
          <a:p>
            <a:pPr>
              <a:spcBef>
                <a:spcPts val="600"/>
              </a:spcBef>
            </a:pPr>
            <a:r>
              <a:rPr lang="en-IN" dirty="0"/>
              <a:t>	ORC</a:t>
            </a:r>
          </a:p>
          <a:p>
            <a:pPr>
              <a:spcBef>
                <a:spcPts val="600"/>
              </a:spcBef>
            </a:pPr>
            <a:r>
              <a:rPr lang="en-IN" dirty="0" err="1"/>
              <a:t>Examples:AWS</a:t>
            </a:r>
            <a:r>
              <a:rPr lang="en-IN" dirty="0"/>
              <a:t> S3,Azure </a:t>
            </a:r>
            <a:r>
              <a:rPr lang="en-IN" dirty="0" err="1"/>
              <a:t>ADLS,GCS,On</a:t>
            </a:r>
            <a:r>
              <a:rPr lang="en-IN" dirty="0"/>
              <a:t>-prem object store</a:t>
            </a:r>
          </a:p>
          <a:p>
            <a:pPr>
              <a:spcBef>
                <a:spcPts val="600"/>
              </a:spcBef>
            </a:pPr>
            <a:r>
              <a:rPr lang="en-IN" b="1" dirty="0"/>
              <a:t>Metadata &amp; Governance Layer</a:t>
            </a:r>
          </a:p>
          <a:p>
            <a:pPr>
              <a:spcBef>
                <a:spcPts val="600"/>
              </a:spcBef>
            </a:pPr>
            <a:r>
              <a:rPr lang="en-IN" b="1" dirty="0"/>
              <a:t>	</a:t>
            </a:r>
            <a:r>
              <a:rPr lang="en-IN" dirty="0"/>
              <a:t>Hive </a:t>
            </a:r>
            <a:r>
              <a:rPr lang="en-IN" dirty="0" err="1"/>
              <a:t>Metastore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	Unity </a:t>
            </a:r>
            <a:r>
              <a:rPr lang="en-IN" dirty="0" err="1"/>
              <a:t>Catalog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	AWS Glue </a:t>
            </a:r>
            <a:r>
              <a:rPr lang="en-IN" dirty="0" err="1"/>
              <a:t>Catalog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b="1" dirty="0"/>
              <a:t>Handles:</a:t>
            </a:r>
          </a:p>
          <a:p>
            <a:pPr>
              <a:spcBef>
                <a:spcPts val="600"/>
              </a:spcBef>
            </a:pPr>
            <a:r>
              <a:rPr lang="en-IN" b="1" dirty="0"/>
              <a:t>	</a:t>
            </a:r>
            <a:r>
              <a:rPr lang="en-IN" dirty="0"/>
              <a:t>Table definitions</a:t>
            </a:r>
          </a:p>
          <a:p>
            <a:pPr>
              <a:spcBef>
                <a:spcPts val="600"/>
              </a:spcBef>
            </a:pPr>
            <a:r>
              <a:rPr lang="en-IN" dirty="0"/>
              <a:t>	Permissions</a:t>
            </a:r>
          </a:p>
          <a:p>
            <a:pPr>
              <a:spcBef>
                <a:spcPts val="600"/>
              </a:spcBef>
            </a:pPr>
            <a:r>
              <a:rPr lang="en-IN" dirty="0"/>
              <a:t>	Lineage</a:t>
            </a:r>
          </a:p>
          <a:p>
            <a:pPr>
              <a:spcBef>
                <a:spcPts val="600"/>
              </a:spcBef>
            </a:pPr>
            <a:r>
              <a:rPr lang="en-IN" dirty="0"/>
              <a:t>	Auditing</a:t>
            </a:r>
          </a:p>
        </p:txBody>
      </p:sp>
    </p:spTree>
    <p:extLst>
      <p:ext uri="{BB962C8B-B14F-4D97-AF65-F5344CB8AC3E}">
        <p14:creationId xmlns:p14="http://schemas.microsoft.com/office/powerpoint/2010/main" val="254202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Compute Engines</a:t>
            </a:r>
          </a:p>
          <a:p>
            <a:pPr>
              <a:spcBef>
                <a:spcPts val="600"/>
              </a:spcBef>
            </a:pPr>
            <a:r>
              <a:rPr lang="en-IN" dirty="0"/>
              <a:t>	Apache Spark</a:t>
            </a:r>
          </a:p>
          <a:p>
            <a:pPr>
              <a:spcBef>
                <a:spcPts val="600"/>
              </a:spcBef>
            </a:pPr>
            <a:r>
              <a:rPr lang="en-IN" dirty="0"/>
              <a:t>	Databricks</a:t>
            </a:r>
          </a:p>
          <a:p>
            <a:pPr>
              <a:spcBef>
                <a:spcPts val="600"/>
              </a:spcBef>
            </a:pPr>
            <a:r>
              <a:rPr lang="en-IN" dirty="0"/>
              <a:t>	Presto / Trino</a:t>
            </a:r>
          </a:p>
          <a:p>
            <a:pPr>
              <a:spcBef>
                <a:spcPts val="600"/>
              </a:spcBef>
            </a:pPr>
            <a:r>
              <a:rPr lang="en-IN" dirty="0"/>
              <a:t>	Snowflake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  <a:r>
              <a:rPr lang="en-IN" dirty="0" err="1"/>
              <a:t>BigQuery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	Synapse</a:t>
            </a:r>
          </a:p>
          <a:p>
            <a:pPr>
              <a:spcBef>
                <a:spcPts val="600"/>
              </a:spcBef>
            </a:pPr>
            <a:r>
              <a:rPr lang="en-IN" b="1" dirty="0"/>
              <a:t>Ingestion Tools</a:t>
            </a:r>
          </a:p>
          <a:p>
            <a:pPr>
              <a:spcBef>
                <a:spcPts val="600"/>
              </a:spcBef>
            </a:pPr>
            <a:r>
              <a:rPr lang="en-IN" dirty="0"/>
              <a:t>	Apache Kafka</a:t>
            </a:r>
          </a:p>
          <a:p>
            <a:pPr>
              <a:spcBef>
                <a:spcPts val="600"/>
              </a:spcBef>
            </a:pPr>
            <a:r>
              <a:rPr lang="en-IN" dirty="0"/>
              <a:t>	Apache Spark Streaming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  <a:r>
              <a:rPr lang="en-IN" dirty="0" err="1"/>
              <a:t>Flink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	AWS Kinesis</a:t>
            </a:r>
          </a:p>
          <a:p>
            <a:pPr>
              <a:spcBef>
                <a:spcPts val="600"/>
              </a:spcBef>
            </a:pPr>
            <a:r>
              <a:rPr lang="en-IN" dirty="0"/>
              <a:t>	Azure Event Hub</a:t>
            </a:r>
          </a:p>
          <a:p>
            <a:pPr>
              <a:spcBef>
                <a:spcPts val="600"/>
              </a:spcBef>
            </a:pPr>
            <a:r>
              <a:rPr lang="en-IN" dirty="0"/>
              <a:t>	Batch ingestion tools (ADF, Glue, </a:t>
            </a:r>
            <a:r>
              <a:rPr lang="en-IN" dirty="0" err="1"/>
              <a:t>NiFi</a:t>
            </a:r>
            <a:r>
              <a:rPr lang="en-IN" dirty="0"/>
              <a:t>)</a:t>
            </a:r>
          </a:p>
          <a:p>
            <a:pPr>
              <a:spcBef>
                <a:spcPts val="600"/>
              </a:spcBef>
            </a:pPr>
            <a:r>
              <a:rPr lang="en-IN" b="1" dirty="0"/>
              <a:t>ML &amp; Analytics</a:t>
            </a:r>
          </a:p>
          <a:p>
            <a:pPr>
              <a:spcBef>
                <a:spcPts val="600"/>
              </a:spcBef>
            </a:pPr>
            <a:r>
              <a:rPr lang="en-IN" dirty="0"/>
              <a:t>	Spark </a:t>
            </a:r>
            <a:r>
              <a:rPr lang="en-IN" dirty="0" err="1"/>
              <a:t>MLlib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	TensorFlow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  <a:r>
              <a:rPr lang="en-IN" dirty="0" err="1"/>
              <a:t>MLflow</a:t>
            </a:r>
            <a:r>
              <a:rPr lang="en-IN" dirty="0"/>
              <a:t>	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061033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Azure Data Lakehouse Ingestion and Processing Options">
            <a:extLst>
              <a:ext uri="{FF2B5EF4-FFF2-40B4-BE49-F238E27FC236}">
                <a16:creationId xmlns:a16="http://schemas.microsoft.com/office/drawing/2014/main" id="{E9B524AE-AA79-180D-AAAB-127D84787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897" y="219456"/>
            <a:ext cx="11396999" cy="6281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8007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Compute Engines</a:t>
            </a:r>
          </a:p>
          <a:p>
            <a:pPr>
              <a:spcBef>
                <a:spcPts val="600"/>
              </a:spcBef>
            </a:pPr>
            <a:r>
              <a:rPr lang="en-IN" dirty="0"/>
              <a:t>	Apache Spark</a:t>
            </a:r>
          </a:p>
          <a:p>
            <a:pPr>
              <a:spcBef>
                <a:spcPts val="600"/>
              </a:spcBef>
            </a:pPr>
            <a:r>
              <a:rPr lang="en-IN" dirty="0"/>
              <a:t>	Databricks</a:t>
            </a:r>
          </a:p>
          <a:p>
            <a:pPr>
              <a:spcBef>
                <a:spcPts val="600"/>
              </a:spcBef>
            </a:pPr>
            <a:r>
              <a:rPr lang="en-IN" dirty="0"/>
              <a:t>	Presto / Trino</a:t>
            </a:r>
          </a:p>
          <a:p>
            <a:pPr>
              <a:spcBef>
                <a:spcPts val="600"/>
              </a:spcBef>
            </a:pPr>
            <a:r>
              <a:rPr lang="en-IN" dirty="0"/>
              <a:t>	Snowflake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  <a:r>
              <a:rPr lang="en-IN" dirty="0" err="1"/>
              <a:t>BigQuery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	Synapse</a:t>
            </a:r>
          </a:p>
          <a:p>
            <a:pPr>
              <a:spcBef>
                <a:spcPts val="600"/>
              </a:spcBef>
            </a:pPr>
            <a:r>
              <a:rPr lang="en-IN" b="1" dirty="0"/>
              <a:t>Ingestion Tools</a:t>
            </a:r>
          </a:p>
          <a:p>
            <a:pPr>
              <a:spcBef>
                <a:spcPts val="600"/>
              </a:spcBef>
            </a:pPr>
            <a:r>
              <a:rPr lang="en-IN" dirty="0"/>
              <a:t>	Apache Kafka</a:t>
            </a:r>
          </a:p>
          <a:p>
            <a:pPr>
              <a:spcBef>
                <a:spcPts val="600"/>
              </a:spcBef>
            </a:pPr>
            <a:r>
              <a:rPr lang="en-IN" dirty="0"/>
              <a:t>	Apache Spark Streaming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  <a:r>
              <a:rPr lang="en-IN" dirty="0" err="1"/>
              <a:t>Flink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	AWS Kinesis</a:t>
            </a:r>
          </a:p>
          <a:p>
            <a:pPr>
              <a:spcBef>
                <a:spcPts val="600"/>
              </a:spcBef>
            </a:pPr>
            <a:r>
              <a:rPr lang="en-IN" dirty="0"/>
              <a:t>	Azure Event Hub</a:t>
            </a:r>
          </a:p>
          <a:p>
            <a:pPr>
              <a:spcBef>
                <a:spcPts val="600"/>
              </a:spcBef>
            </a:pPr>
            <a:r>
              <a:rPr lang="en-IN" dirty="0"/>
              <a:t>	Batch ingestion tools (ADF, Glue, </a:t>
            </a:r>
            <a:r>
              <a:rPr lang="en-IN" dirty="0" err="1"/>
              <a:t>NiFi</a:t>
            </a:r>
            <a:r>
              <a:rPr lang="en-IN" dirty="0"/>
              <a:t>)</a:t>
            </a:r>
          </a:p>
          <a:p>
            <a:pPr>
              <a:spcBef>
                <a:spcPts val="600"/>
              </a:spcBef>
            </a:pPr>
            <a:r>
              <a:rPr lang="en-IN" b="1" dirty="0"/>
              <a:t>ML &amp; Analytics</a:t>
            </a:r>
          </a:p>
          <a:p>
            <a:pPr>
              <a:spcBef>
                <a:spcPts val="600"/>
              </a:spcBef>
            </a:pPr>
            <a:r>
              <a:rPr lang="en-IN" dirty="0"/>
              <a:t>	Spark </a:t>
            </a:r>
            <a:r>
              <a:rPr lang="en-IN" dirty="0" err="1"/>
              <a:t>MLlib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	TensorFlow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  <a:r>
              <a:rPr lang="en-IN" dirty="0" err="1"/>
              <a:t>MLflow</a:t>
            </a:r>
            <a:r>
              <a:rPr lang="en-IN" dirty="0"/>
              <a:t>	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871872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dirty="0"/>
              <a:t>Step 1: </a:t>
            </a:r>
          </a:p>
          <a:p>
            <a:pPr>
              <a:spcBef>
                <a:spcPts val="600"/>
              </a:spcBef>
            </a:pPr>
            <a:r>
              <a:rPr lang="en-IN" dirty="0"/>
              <a:t>Data Ingestion</a:t>
            </a:r>
          </a:p>
          <a:p>
            <a:pPr>
              <a:spcBef>
                <a:spcPts val="600"/>
              </a:spcBef>
            </a:pPr>
            <a:r>
              <a:rPr lang="en-IN" dirty="0"/>
              <a:t>Data flows from:</a:t>
            </a:r>
          </a:p>
          <a:p>
            <a:pPr>
              <a:spcBef>
                <a:spcPts val="600"/>
              </a:spcBef>
            </a:pPr>
            <a:r>
              <a:rPr lang="en-IN" dirty="0"/>
              <a:t>	operational DBs (Oracle, MySQL)</a:t>
            </a:r>
          </a:p>
          <a:p>
            <a:pPr>
              <a:spcBef>
                <a:spcPts val="600"/>
              </a:spcBef>
            </a:pPr>
            <a:r>
              <a:rPr lang="en-IN" dirty="0"/>
              <a:t>	IoT devices</a:t>
            </a:r>
          </a:p>
          <a:p>
            <a:pPr>
              <a:spcBef>
                <a:spcPts val="600"/>
              </a:spcBef>
            </a:pPr>
            <a:r>
              <a:rPr lang="en-IN" dirty="0"/>
              <a:t>	ERP / CRM</a:t>
            </a:r>
          </a:p>
          <a:p>
            <a:pPr>
              <a:spcBef>
                <a:spcPts val="600"/>
              </a:spcBef>
            </a:pPr>
            <a:r>
              <a:rPr lang="en-IN" dirty="0"/>
              <a:t>	streaming sources (Kafka)</a:t>
            </a:r>
          </a:p>
          <a:p>
            <a:pPr>
              <a:spcBef>
                <a:spcPts val="600"/>
              </a:spcBef>
            </a:pPr>
            <a:r>
              <a:rPr lang="en-IN" dirty="0"/>
              <a:t>   → to Bronze layer</a:t>
            </a:r>
          </a:p>
          <a:p>
            <a:pPr>
              <a:spcBef>
                <a:spcPts val="600"/>
              </a:spcBef>
            </a:pPr>
            <a:r>
              <a:rPr lang="en-IN" dirty="0"/>
              <a:t>Step 2: Data Processing</a:t>
            </a:r>
          </a:p>
          <a:p>
            <a:pPr>
              <a:spcBef>
                <a:spcPts val="600"/>
              </a:spcBef>
            </a:pPr>
            <a:r>
              <a:rPr lang="en-IN" dirty="0"/>
              <a:t>	Using Spark:</a:t>
            </a:r>
          </a:p>
          <a:p>
            <a:pPr>
              <a:spcBef>
                <a:spcPts val="600"/>
              </a:spcBef>
            </a:pPr>
            <a:r>
              <a:rPr lang="en-IN" dirty="0"/>
              <a:t>	clean</a:t>
            </a:r>
          </a:p>
          <a:p>
            <a:pPr>
              <a:spcBef>
                <a:spcPts val="600"/>
              </a:spcBef>
            </a:pPr>
            <a:r>
              <a:rPr lang="en-IN" dirty="0"/>
              <a:t>	transform</a:t>
            </a:r>
          </a:p>
          <a:p>
            <a:pPr>
              <a:spcBef>
                <a:spcPts val="600"/>
              </a:spcBef>
            </a:pPr>
            <a:r>
              <a:rPr lang="en-IN" dirty="0"/>
              <a:t>	deduplicate</a:t>
            </a:r>
          </a:p>
          <a:p>
            <a:pPr>
              <a:spcBef>
                <a:spcPts val="600"/>
              </a:spcBef>
            </a:pPr>
            <a:r>
              <a:rPr lang="en-IN" dirty="0"/>
              <a:t>	validate schema</a:t>
            </a:r>
          </a:p>
          <a:p>
            <a:pPr>
              <a:spcBef>
                <a:spcPts val="600"/>
              </a:spcBef>
            </a:pPr>
            <a:r>
              <a:rPr lang="en-IN" dirty="0"/>
              <a:t>   → move to Silver layer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6929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/>
              <a:t>Step 3: Data Aggregation</a:t>
            </a:r>
          </a:p>
          <a:p>
            <a:pPr>
              <a:spcBef>
                <a:spcPts val="600"/>
              </a:spcBef>
            </a:pPr>
            <a:r>
              <a:rPr lang="en-US" dirty="0"/>
              <a:t>Business logic:</a:t>
            </a:r>
          </a:p>
          <a:p>
            <a:pPr>
              <a:spcBef>
                <a:spcPts val="600"/>
              </a:spcBef>
            </a:pPr>
            <a:r>
              <a:rPr lang="en-US" dirty="0"/>
              <a:t>	fact tables (sales, revenue, cost)</a:t>
            </a:r>
          </a:p>
          <a:p>
            <a:pPr>
              <a:spcBef>
                <a:spcPts val="600"/>
              </a:spcBef>
            </a:pPr>
            <a:r>
              <a:rPr lang="en-US" dirty="0"/>
              <a:t>	dimension tables (customers, products)</a:t>
            </a:r>
          </a:p>
          <a:p>
            <a:pPr>
              <a:spcBef>
                <a:spcPts val="600"/>
              </a:spcBef>
            </a:pPr>
            <a:r>
              <a:rPr lang="en-US" dirty="0"/>
              <a:t>    → move to Gold layer</a:t>
            </a:r>
          </a:p>
          <a:p>
            <a:pPr>
              <a:spcBef>
                <a:spcPts val="600"/>
              </a:spcBef>
            </a:pPr>
            <a:r>
              <a:rPr lang="en-US" dirty="0"/>
              <a:t>Step 4: Serving Data</a:t>
            </a:r>
          </a:p>
          <a:p>
            <a:pPr>
              <a:spcBef>
                <a:spcPts val="600"/>
              </a:spcBef>
            </a:pPr>
            <a:r>
              <a:rPr lang="en-US" dirty="0"/>
              <a:t>	BI dashboards</a:t>
            </a:r>
          </a:p>
          <a:p>
            <a:pPr>
              <a:spcBef>
                <a:spcPts val="600"/>
              </a:spcBef>
            </a:pPr>
            <a:r>
              <a:rPr lang="en-US" dirty="0"/>
              <a:t>	ML training</a:t>
            </a:r>
          </a:p>
          <a:p>
            <a:pPr>
              <a:spcBef>
                <a:spcPts val="600"/>
              </a:spcBef>
            </a:pPr>
            <a:r>
              <a:rPr lang="en-US" dirty="0"/>
              <a:t>	Real-time apps</a:t>
            </a:r>
          </a:p>
          <a:p>
            <a:pPr>
              <a:spcBef>
                <a:spcPts val="600"/>
              </a:spcBef>
            </a:pPr>
            <a:r>
              <a:rPr lang="en-US" dirty="0"/>
              <a:t>	Data APIs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23311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28E1190-2814-105F-8A1E-6AAAA8860D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505205"/>
              </p:ext>
            </p:extLst>
          </p:nvPr>
        </p:nvGraphicFramePr>
        <p:xfrm>
          <a:off x="557784" y="868585"/>
          <a:ext cx="9994264" cy="3291840"/>
        </p:xfrm>
        <a:graphic>
          <a:graphicData uri="http://schemas.openxmlformats.org/drawingml/2006/table">
            <a:tbl>
              <a:tblPr/>
              <a:tblGrid>
                <a:gridCol w="2498566">
                  <a:extLst>
                    <a:ext uri="{9D8B030D-6E8A-4147-A177-3AD203B41FA5}">
                      <a16:colId xmlns:a16="http://schemas.microsoft.com/office/drawing/2014/main" val="383804405"/>
                    </a:ext>
                  </a:extLst>
                </a:gridCol>
                <a:gridCol w="2498566">
                  <a:extLst>
                    <a:ext uri="{9D8B030D-6E8A-4147-A177-3AD203B41FA5}">
                      <a16:colId xmlns:a16="http://schemas.microsoft.com/office/drawing/2014/main" val="2762007061"/>
                    </a:ext>
                  </a:extLst>
                </a:gridCol>
                <a:gridCol w="2498566">
                  <a:extLst>
                    <a:ext uri="{9D8B030D-6E8A-4147-A177-3AD203B41FA5}">
                      <a16:colId xmlns:a16="http://schemas.microsoft.com/office/drawing/2014/main" val="402400353"/>
                    </a:ext>
                  </a:extLst>
                </a:gridCol>
                <a:gridCol w="2498566">
                  <a:extLst>
                    <a:ext uri="{9D8B030D-6E8A-4147-A177-3AD203B41FA5}">
                      <a16:colId xmlns:a16="http://schemas.microsoft.com/office/drawing/2014/main" val="24206960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Data Lake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Data Warehouse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8872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Data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All types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Structured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All types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776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ACID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✔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✔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94008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Governance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Weak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Strong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Strong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9840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Performance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5920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67090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ML 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52072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Time Travel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399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Schema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On-read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On-write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Both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555548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509080B-312D-0F5C-1A6A-FF80B119B056}"/>
              </a:ext>
            </a:extLst>
          </p:cNvPr>
          <p:cNvSpPr txBox="1"/>
          <p:nvPr/>
        </p:nvSpPr>
        <p:spPr>
          <a:xfrm>
            <a:off x="420624" y="222254"/>
            <a:ext cx="69220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Lakehouse vs Data Lake vs Data Warehouse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82174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6032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dirty="0"/>
              <a:t>LAKEHOUSE PRINCIPLES</a:t>
            </a:r>
          </a:p>
          <a:p>
            <a:pPr>
              <a:spcBef>
                <a:spcPts val="600"/>
              </a:spcBef>
            </a:pPr>
            <a:r>
              <a:rPr lang="en-IN" dirty="0"/>
              <a:t>1 ACID Transactions</a:t>
            </a:r>
          </a:p>
          <a:p>
            <a:pPr>
              <a:spcBef>
                <a:spcPts val="600"/>
              </a:spcBef>
            </a:pPr>
            <a:r>
              <a:rPr lang="en-IN" dirty="0"/>
              <a:t>Lakehouse systems must support Atomicity, Consistency, Isolation, Durability.</a:t>
            </a:r>
          </a:p>
          <a:p>
            <a:pPr>
              <a:spcBef>
                <a:spcPts val="600"/>
              </a:spcBef>
            </a:pPr>
            <a:r>
              <a:rPr lang="en-IN" dirty="0"/>
              <a:t>Why?</a:t>
            </a:r>
          </a:p>
          <a:p>
            <a:pPr>
              <a:spcBef>
                <a:spcPts val="600"/>
              </a:spcBef>
            </a:pPr>
            <a:r>
              <a:rPr lang="en-IN" dirty="0"/>
              <a:t>	Ensures reliable writes/updates/deletes</a:t>
            </a:r>
          </a:p>
          <a:p>
            <a:pPr>
              <a:spcBef>
                <a:spcPts val="600"/>
              </a:spcBef>
            </a:pPr>
            <a:r>
              <a:rPr lang="en-IN" dirty="0"/>
              <a:t>	Prevents partial writes or corrupted tables</a:t>
            </a:r>
          </a:p>
          <a:p>
            <a:pPr>
              <a:spcBef>
                <a:spcPts val="600"/>
              </a:spcBef>
            </a:pPr>
            <a:r>
              <a:rPr lang="en-IN" dirty="0"/>
              <a:t>	Supports concurrent operations</a:t>
            </a:r>
          </a:p>
          <a:p>
            <a:pPr>
              <a:spcBef>
                <a:spcPts val="600"/>
              </a:spcBef>
            </a:pPr>
            <a:r>
              <a:rPr lang="en-IN" b="1" dirty="0"/>
              <a:t>Important for: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  <a:r>
              <a:rPr lang="en-IN" dirty="0" err="1"/>
              <a:t>Upserts</a:t>
            </a:r>
            <a:r>
              <a:rPr lang="en-IN" dirty="0"/>
              <a:t>, merges, streaming writes, time travel</a:t>
            </a:r>
          </a:p>
          <a:p>
            <a:pPr>
              <a:spcBef>
                <a:spcPts val="600"/>
              </a:spcBef>
            </a:pPr>
            <a:r>
              <a:rPr lang="en-IN" dirty="0"/>
              <a:t>2 Schema Enforcement &amp; Governance</a:t>
            </a:r>
          </a:p>
          <a:p>
            <a:pPr>
              <a:spcBef>
                <a:spcPts val="600"/>
              </a:spcBef>
            </a:pPr>
            <a:r>
              <a:rPr lang="en-IN" dirty="0"/>
              <a:t>	A Lakehouse maintains data quality using:</a:t>
            </a:r>
          </a:p>
          <a:p>
            <a:pPr>
              <a:spcBef>
                <a:spcPts val="600"/>
              </a:spcBef>
            </a:pPr>
            <a:r>
              <a:rPr lang="en-IN" dirty="0"/>
              <a:t>	Schema enforcement (reject bad data)</a:t>
            </a:r>
          </a:p>
          <a:p>
            <a:pPr>
              <a:spcBef>
                <a:spcPts val="600"/>
              </a:spcBef>
            </a:pPr>
            <a:r>
              <a:rPr lang="en-IN" dirty="0"/>
              <a:t>	Schema evolution (allow adding new fields)</a:t>
            </a:r>
          </a:p>
          <a:p>
            <a:pPr>
              <a:spcBef>
                <a:spcPts val="600"/>
              </a:spcBef>
            </a:pPr>
            <a:r>
              <a:rPr lang="en-IN" dirty="0"/>
              <a:t>	Centralized governance (</a:t>
            </a:r>
            <a:r>
              <a:rPr lang="en-IN" dirty="0" err="1"/>
              <a:t>catalogs</a:t>
            </a:r>
            <a:r>
              <a:rPr lang="en-IN" dirty="0"/>
              <a:t> &amp; permissions)</a:t>
            </a:r>
          </a:p>
          <a:p>
            <a:pPr>
              <a:spcBef>
                <a:spcPts val="600"/>
              </a:spcBef>
            </a:pPr>
            <a:r>
              <a:rPr lang="en-IN" dirty="0"/>
              <a:t>Why?</a:t>
            </a:r>
          </a:p>
          <a:p>
            <a:pPr>
              <a:spcBef>
                <a:spcPts val="600"/>
              </a:spcBef>
            </a:pPr>
            <a:r>
              <a:rPr lang="en-IN" dirty="0"/>
              <a:t>	Data Lakes become “data swamps” without structure. </a:t>
            </a:r>
            <a:r>
              <a:rPr lang="en-IN" dirty="0" err="1"/>
              <a:t>Lakehouses</a:t>
            </a:r>
            <a:r>
              <a:rPr lang="en-IN" dirty="0"/>
              <a:t> 	prevent this.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625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6386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3 Storage &amp; Compute Separation</a:t>
            </a:r>
          </a:p>
          <a:p>
            <a:pPr>
              <a:spcBef>
                <a:spcPts val="600"/>
              </a:spcBef>
            </a:pPr>
            <a:r>
              <a:rPr lang="en-IN" dirty="0"/>
              <a:t>	Lakehouse uses:</a:t>
            </a:r>
          </a:p>
          <a:p>
            <a:pPr>
              <a:spcBef>
                <a:spcPts val="600"/>
              </a:spcBef>
            </a:pPr>
            <a:r>
              <a:rPr lang="en-IN" dirty="0"/>
              <a:t>	Cheap object storage → S3 / ADLS / GCS</a:t>
            </a:r>
          </a:p>
          <a:p>
            <a:pPr>
              <a:spcBef>
                <a:spcPts val="600"/>
              </a:spcBef>
            </a:pPr>
            <a:r>
              <a:rPr lang="en-IN" dirty="0"/>
              <a:t>	Independent compute engines → Spark, Presto, Trino, DB SQL</a:t>
            </a:r>
          </a:p>
          <a:p>
            <a:pPr>
              <a:spcBef>
                <a:spcPts val="600"/>
              </a:spcBef>
            </a:pPr>
            <a:r>
              <a:rPr lang="en-IN" dirty="0"/>
              <a:t>Benefit:</a:t>
            </a:r>
          </a:p>
          <a:p>
            <a:pPr>
              <a:spcBef>
                <a:spcPts val="600"/>
              </a:spcBef>
            </a:pPr>
            <a:r>
              <a:rPr lang="en-IN" dirty="0"/>
              <a:t>	Scale storage and compute separately → lower cost, more flexibility.</a:t>
            </a:r>
          </a:p>
          <a:p>
            <a:pPr>
              <a:spcBef>
                <a:spcPts val="600"/>
              </a:spcBef>
            </a:pPr>
            <a:r>
              <a:rPr lang="en-IN" b="1" dirty="0"/>
              <a:t>4 Open Storage Formats</a:t>
            </a:r>
          </a:p>
          <a:p>
            <a:pPr>
              <a:spcBef>
                <a:spcPts val="600"/>
              </a:spcBef>
            </a:pPr>
            <a:r>
              <a:rPr lang="en-IN" dirty="0"/>
              <a:t>	Data is stored in open, columnar formats:</a:t>
            </a:r>
          </a:p>
          <a:p>
            <a:pPr>
              <a:spcBef>
                <a:spcPts val="600"/>
              </a:spcBef>
            </a:pPr>
            <a:r>
              <a:rPr lang="en-IN" dirty="0"/>
              <a:t>	Delta Lake</a:t>
            </a:r>
          </a:p>
          <a:p>
            <a:pPr>
              <a:spcBef>
                <a:spcPts val="600"/>
              </a:spcBef>
            </a:pPr>
            <a:r>
              <a:rPr lang="en-IN" dirty="0"/>
              <a:t>	Apache Iceberg</a:t>
            </a:r>
          </a:p>
          <a:p>
            <a:pPr>
              <a:spcBef>
                <a:spcPts val="600"/>
              </a:spcBef>
            </a:pPr>
            <a:r>
              <a:rPr lang="en-IN" dirty="0"/>
              <a:t>	Apache Hudi</a:t>
            </a:r>
          </a:p>
          <a:p>
            <a:pPr>
              <a:spcBef>
                <a:spcPts val="600"/>
              </a:spcBef>
            </a:pPr>
            <a:r>
              <a:rPr lang="en-IN" dirty="0"/>
              <a:t>	Parquet</a:t>
            </a:r>
          </a:p>
          <a:p>
            <a:pPr>
              <a:spcBef>
                <a:spcPts val="600"/>
              </a:spcBef>
            </a:pPr>
            <a:r>
              <a:rPr lang="en-IN" dirty="0"/>
              <a:t>Why?</a:t>
            </a:r>
          </a:p>
          <a:p>
            <a:pPr>
              <a:spcBef>
                <a:spcPts val="600"/>
              </a:spcBef>
            </a:pPr>
            <a:r>
              <a:rPr lang="en-IN" dirty="0"/>
              <a:t>	Avoid vendor lock-in</a:t>
            </a:r>
          </a:p>
          <a:p>
            <a:pPr>
              <a:spcBef>
                <a:spcPts val="600"/>
              </a:spcBef>
            </a:pPr>
            <a:r>
              <a:rPr lang="en-IN" dirty="0"/>
              <a:t>	Any engine can read/write</a:t>
            </a:r>
          </a:p>
          <a:p>
            <a:pPr>
              <a:spcBef>
                <a:spcPts val="600"/>
              </a:spcBef>
            </a:pPr>
            <a:r>
              <a:rPr lang="en-IN" dirty="0"/>
              <a:t>	Enables long-term durability</a:t>
            </a:r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49672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5 Support for BI + AI/ML Workloads (Unified System)</a:t>
            </a:r>
          </a:p>
          <a:p>
            <a:pPr>
              <a:spcBef>
                <a:spcPts val="600"/>
              </a:spcBef>
            </a:pPr>
            <a:r>
              <a:rPr lang="en-IN" dirty="0"/>
              <a:t>	Traditional systems separate:</a:t>
            </a:r>
          </a:p>
          <a:p>
            <a:pPr>
              <a:spcBef>
                <a:spcPts val="600"/>
              </a:spcBef>
            </a:pPr>
            <a:r>
              <a:rPr lang="en-IN" dirty="0"/>
              <a:t>	Data Warehouse → BI</a:t>
            </a:r>
          </a:p>
          <a:p>
            <a:pPr>
              <a:spcBef>
                <a:spcPts val="600"/>
              </a:spcBef>
            </a:pPr>
            <a:r>
              <a:rPr lang="en-IN" dirty="0"/>
              <a:t>	Data Lake → AI/ML</a:t>
            </a:r>
          </a:p>
          <a:p>
            <a:pPr>
              <a:spcBef>
                <a:spcPts val="600"/>
              </a:spcBef>
            </a:pPr>
            <a:r>
              <a:rPr lang="en-IN" dirty="0"/>
              <a:t>	Lakehouse combines both.</a:t>
            </a:r>
          </a:p>
          <a:p>
            <a:pPr>
              <a:spcBef>
                <a:spcPts val="600"/>
              </a:spcBef>
            </a:pPr>
            <a:r>
              <a:rPr lang="en-IN" dirty="0"/>
              <a:t>Advantages:</a:t>
            </a:r>
          </a:p>
          <a:p>
            <a:pPr>
              <a:spcBef>
                <a:spcPts val="600"/>
              </a:spcBef>
            </a:pPr>
            <a:r>
              <a:rPr lang="en-IN" dirty="0"/>
              <a:t>	Single data copy</a:t>
            </a:r>
          </a:p>
          <a:p>
            <a:pPr>
              <a:spcBef>
                <a:spcPts val="600"/>
              </a:spcBef>
            </a:pPr>
            <a:r>
              <a:rPr lang="en-IN" dirty="0"/>
              <a:t>	Simpler pipeline</a:t>
            </a:r>
          </a:p>
          <a:p>
            <a:pPr>
              <a:spcBef>
                <a:spcPts val="600"/>
              </a:spcBef>
            </a:pPr>
            <a:r>
              <a:rPr lang="en-IN" dirty="0"/>
              <a:t>	Same data accessible by Power BI, </a:t>
            </a:r>
            <a:r>
              <a:rPr lang="en-IN" dirty="0" err="1"/>
              <a:t>MLflow</a:t>
            </a:r>
            <a:r>
              <a:rPr lang="en-IN" dirty="0"/>
              <a:t>, Python, Spark, Tableau, etc.</a:t>
            </a:r>
          </a:p>
          <a:p>
            <a:pPr>
              <a:spcBef>
                <a:spcPts val="600"/>
              </a:spcBef>
            </a:pPr>
            <a:r>
              <a:rPr lang="en-IN" b="1" dirty="0"/>
              <a:t>6 End-to-End Streaming + Batch Support</a:t>
            </a:r>
          </a:p>
          <a:p>
            <a:pPr>
              <a:spcBef>
                <a:spcPts val="600"/>
              </a:spcBef>
            </a:pPr>
            <a:r>
              <a:rPr lang="en-IN" dirty="0"/>
              <a:t>	Lakehouse supports:</a:t>
            </a:r>
          </a:p>
          <a:p>
            <a:pPr>
              <a:spcBef>
                <a:spcPts val="600"/>
              </a:spcBef>
            </a:pPr>
            <a:r>
              <a:rPr lang="en-IN" dirty="0"/>
              <a:t>	Real-time ingestion (Kafka, Event Hub)</a:t>
            </a:r>
          </a:p>
          <a:p>
            <a:pPr>
              <a:spcBef>
                <a:spcPts val="600"/>
              </a:spcBef>
            </a:pPr>
            <a:r>
              <a:rPr lang="en-IN" dirty="0"/>
              <a:t>	Stream processing</a:t>
            </a:r>
          </a:p>
          <a:p>
            <a:pPr>
              <a:spcBef>
                <a:spcPts val="600"/>
              </a:spcBef>
            </a:pPr>
            <a:r>
              <a:rPr lang="en-IN" dirty="0"/>
              <a:t>	Batch analytics</a:t>
            </a:r>
          </a:p>
          <a:p>
            <a:pPr>
              <a:spcBef>
                <a:spcPts val="600"/>
              </a:spcBef>
            </a:pPr>
            <a:r>
              <a:rPr lang="en-IN" dirty="0"/>
              <a:t>Using a unified table format (like Delta), streaming writes become first-class citizen.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0326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7 Time Travel &amp; Data Versioning</a:t>
            </a:r>
          </a:p>
          <a:p>
            <a:pPr>
              <a:spcBef>
                <a:spcPts val="600"/>
              </a:spcBef>
            </a:pPr>
            <a:r>
              <a:rPr lang="en-IN" dirty="0"/>
              <a:t>	Lakehouse maintains snapshots/versions of the table.</a:t>
            </a:r>
          </a:p>
          <a:p>
            <a:pPr>
              <a:spcBef>
                <a:spcPts val="600"/>
              </a:spcBef>
            </a:pPr>
            <a:r>
              <a:rPr lang="en-IN" dirty="0"/>
              <a:t>You can:</a:t>
            </a:r>
          </a:p>
          <a:p>
            <a:pPr>
              <a:spcBef>
                <a:spcPts val="600"/>
              </a:spcBef>
            </a:pPr>
            <a:r>
              <a:rPr lang="en-IN" dirty="0"/>
              <a:t>	Query old versions</a:t>
            </a:r>
          </a:p>
          <a:p>
            <a:pPr>
              <a:spcBef>
                <a:spcPts val="600"/>
              </a:spcBef>
            </a:pPr>
            <a:r>
              <a:rPr lang="en-IN" dirty="0"/>
              <a:t>	Reproduce past dashboards</a:t>
            </a:r>
          </a:p>
          <a:p>
            <a:pPr>
              <a:spcBef>
                <a:spcPts val="600"/>
              </a:spcBef>
            </a:pPr>
            <a:r>
              <a:rPr lang="en-IN" dirty="0"/>
              <a:t>	Recover from accidental deletes</a:t>
            </a:r>
          </a:p>
          <a:p>
            <a:pPr>
              <a:spcBef>
                <a:spcPts val="600"/>
              </a:spcBef>
            </a:pPr>
            <a:r>
              <a:rPr lang="en-IN" dirty="0"/>
              <a:t>Enabled by:</a:t>
            </a:r>
          </a:p>
          <a:p>
            <a:pPr>
              <a:spcBef>
                <a:spcPts val="600"/>
              </a:spcBef>
            </a:pPr>
            <a:r>
              <a:rPr lang="en-IN" dirty="0"/>
              <a:t>	Delta Lake transaction logs</a:t>
            </a:r>
          </a:p>
          <a:p>
            <a:pPr>
              <a:spcBef>
                <a:spcPts val="600"/>
              </a:spcBef>
            </a:pPr>
            <a:r>
              <a:rPr lang="en-IN" dirty="0"/>
              <a:t>	Iceberg metadata snapshots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6439862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8 Indexing &amp; Performance Optimization</a:t>
            </a:r>
          </a:p>
          <a:p>
            <a:pPr>
              <a:spcBef>
                <a:spcPts val="600"/>
              </a:spcBef>
            </a:pPr>
            <a:r>
              <a:rPr lang="en-IN" dirty="0"/>
              <a:t>	To achieve Data Warehouse–level performance, </a:t>
            </a:r>
          </a:p>
          <a:p>
            <a:pPr>
              <a:spcBef>
                <a:spcPts val="600"/>
              </a:spcBef>
            </a:pPr>
            <a:r>
              <a:rPr lang="en-IN" dirty="0" err="1"/>
              <a:t>Lakehouses</a:t>
            </a:r>
            <a:r>
              <a:rPr lang="en-IN" dirty="0"/>
              <a:t> provide:</a:t>
            </a:r>
          </a:p>
          <a:p>
            <a:pPr>
              <a:spcBef>
                <a:spcPts val="600"/>
              </a:spcBef>
            </a:pPr>
            <a:r>
              <a:rPr lang="en-IN" dirty="0"/>
              <a:t>	Data skipping</a:t>
            </a:r>
          </a:p>
          <a:p>
            <a:pPr>
              <a:spcBef>
                <a:spcPts val="600"/>
              </a:spcBef>
            </a:pPr>
            <a:r>
              <a:rPr lang="en-IN" dirty="0"/>
              <a:t>	Z-ordering</a:t>
            </a:r>
          </a:p>
          <a:p>
            <a:pPr>
              <a:spcBef>
                <a:spcPts val="600"/>
              </a:spcBef>
            </a:pPr>
            <a:r>
              <a:rPr lang="en-IN" dirty="0"/>
              <a:t>	Bloom filters</a:t>
            </a:r>
          </a:p>
          <a:p>
            <a:pPr>
              <a:spcBef>
                <a:spcPts val="600"/>
              </a:spcBef>
            </a:pPr>
            <a:r>
              <a:rPr lang="en-IN" dirty="0"/>
              <a:t>	Caching</a:t>
            </a:r>
          </a:p>
          <a:p>
            <a:pPr>
              <a:spcBef>
                <a:spcPts val="600"/>
              </a:spcBef>
            </a:pPr>
            <a:r>
              <a:rPr lang="en-IN" dirty="0"/>
              <a:t>	Column pruning</a:t>
            </a:r>
          </a:p>
          <a:p>
            <a:pPr>
              <a:spcBef>
                <a:spcPts val="600"/>
              </a:spcBef>
            </a:pPr>
            <a:r>
              <a:rPr lang="en-IN" dirty="0"/>
              <a:t>	File compaction</a:t>
            </a:r>
          </a:p>
          <a:p>
            <a:pPr>
              <a:spcBef>
                <a:spcPts val="600"/>
              </a:spcBef>
            </a:pPr>
            <a:r>
              <a:rPr lang="en-IN" dirty="0"/>
              <a:t>Why?</a:t>
            </a:r>
          </a:p>
          <a:p>
            <a:pPr>
              <a:spcBef>
                <a:spcPts val="600"/>
              </a:spcBef>
            </a:pPr>
            <a:r>
              <a:rPr lang="en-IN" dirty="0"/>
              <a:t>Raw data in lakes is slow → Lakehouse solves performance issues.</a:t>
            </a:r>
          </a:p>
        </p:txBody>
      </p:sp>
    </p:spTree>
    <p:extLst>
      <p:ext uri="{BB962C8B-B14F-4D97-AF65-F5344CB8AC3E}">
        <p14:creationId xmlns:p14="http://schemas.microsoft.com/office/powerpoint/2010/main" val="3618182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6386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9 Unified Governance &amp; Security</a:t>
            </a:r>
          </a:p>
          <a:p>
            <a:pPr>
              <a:spcBef>
                <a:spcPts val="600"/>
              </a:spcBef>
            </a:pPr>
            <a:r>
              <a:rPr lang="en-IN" dirty="0"/>
              <a:t>	Lakehouse centralizes governance:</a:t>
            </a:r>
          </a:p>
          <a:p>
            <a:pPr>
              <a:spcBef>
                <a:spcPts val="600"/>
              </a:spcBef>
            </a:pPr>
            <a:r>
              <a:rPr lang="en-IN" dirty="0"/>
              <a:t>	Access control</a:t>
            </a:r>
          </a:p>
          <a:p>
            <a:pPr>
              <a:spcBef>
                <a:spcPts val="600"/>
              </a:spcBef>
            </a:pPr>
            <a:r>
              <a:rPr lang="en-IN" dirty="0"/>
              <a:t>	Lineage</a:t>
            </a:r>
          </a:p>
          <a:p>
            <a:pPr>
              <a:spcBef>
                <a:spcPts val="600"/>
              </a:spcBef>
            </a:pPr>
            <a:r>
              <a:rPr lang="en-IN" dirty="0"/>
              <a:t>	Auditing</a:t>
            </a:r>
          </a:p>
          <a:p>
            <a:pPr>
              <a:spcBef>
                <a:spcPts val="600"/>
              </a:spcBef>
            </a:pPr>
            <a:r>
              <a:rPr lang="en-IN" dirty="0"/>
              <a:t>	Metadata management</a:t>
            </a:r>
          </a:p>
          <a:p>
            <a:pPr>
              <a:spcBef>
                <a:spcPts val="600"/>
              </a:spcBef>
            </a:pPr>
            <a:r>
              <a:rPr lang="en-IN" dirty="0"/>
              <a:t>	Fine-grained permissions</a:t>
            </a:r>
          </a:p>
          <a:p>
            <a:pPr>
              <a:spcBef>
                <a:spcPts val="600"/>
              </a:spcBef>
            </a:pPr>
            <a:r>
              <a:rPr lang="en-IN" dirty="0"/>
              <a:t>Powered by tools like:</a:t>
            </a:r>
          </a:p>
          <a:p>
            <a:pPr>
              <a:spcBef>
                <a:spcPts val="600"/>
              </a:spcBef>
            </a:pPr>
            <a:r>
              <a:rPr lang="en-IN" dirty="0"/>
              <a:t>	Unity </a:t>
            </a:r>
            <a:r>
              <a:rPr lang="en-IN" dirty="0" err="1"/>
              <a:t>Catalog</a:t>
            </a:r>
            <a:r>
              <a:rPr lang="en-IN" dirty="0"/>
              <a:t> (Databricks)</a:t>
            </a:r>
          </a:p>
          <a:p>
            <a:pPr>
              <a:spcBef>
                <a:spcPts val="600"/>
              </a:spcBef>
            </a:pPr>
            <a:r>
              <a:rPr lang="en-IN" dirty="0"/>
              <a:t>	Apache Ranger</a:t>
            </a:r>
          </a:p>
          <a:p>
            <a:pPr>
              <a:spcBef>
                <a:spcPts val="600"/>
              </a:spcBef>
            </a:pPr>
            <a:r>
              <a:rPr lang="en-IN" dirty="0"/>
              <a:t>	AWS Lake Formation</a:t>
            </a:r>
          </a:p>
          <a:p>
            <a:pPr>
              <a:spcBef>
                <a:spcPts val="600"/>
              </a:spcBef>
            </a:pPr>
            <a:r>
              <a:rPr lang="en-IN" b="1" dirty="0"/>
              <a:t>10 Standard SQL Support</a:t>
            </a:r>
          </a:p>
          <a:p>
            <a:pPr>
              <a:spcBef>
                <a:spcPts val="600"/>
              </a:spcBef>
            </a:pPr>
            <a:r>
              <a:rPr lang="en-IN" dirty="0"/>
              <a:t>	BI teams require SQL.</a:t>
            </a:r>
          </a:p>
          <a:p>
            <a:pPr>
              <a:spcBef>
                <a:spcPts val="600"/>
              </a:spcBef>
            </a:pPr>
            <a:r>
              <a:rPr lang="en-IN" dirty="0"/>
              <a:t>	Lakehouse engines support:</a:t>
            </a:r>
          </a:p>
          <a:p>
            <a:pPr>
              <a:spcBef>
                <a:spcPts val="600"/>
              </a:spcBef>
            </a:pPr>
            <a:r>
              <a:rPr lang="en-IN" dirty="0"/>
              <a:t>	ANSI SQL</a:t>
            </a:r>
          </a:p>
          <a:p>
            <a:pPr>
              <a:spcBef>
                <a:spcPts val="600"/>
              </a:spcBef>
            </a:pPr>
            <a:r>
              <a:rPr lang="en-IN" dirty="0"/>
              <a:t>	DDL/DML</a:t>
            </a:r>
          </a:p>
          <a:p>
            <a:pPr>
              <a:spcBef>
                <a:spcPts val="600"/>
              </a:spcBef>
            </a:pPr>
            <a:r>
              <a:rPr lang="en-IN" dirty="0"/>
              <a:t>	MERGE, UPDATE, DELETE directly on tables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3015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5678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Introduction to Databricks</a:t>
            </a:r>
          </a:p>
          <a:p>
            <a:pPr>
              <a:spcBef>
                <a:spcPts val="600"/>
              </a:spcBef>
            </a:pPr>
            <a:endParaRPr lang="en-US" b="1" dirty="0"/>
          </a:p>
          <a:p>
            <a:pPr>
              <a:spcBef>
                <a:spcPts val="600"/>
              </a:spcBef>
            </a:pPr>
            <a:r>
              <a:rPr lang="en-US" dirty="0"/>
              <a:t>	Databricks is a unified data analytics and AI platform built on top of Apache Spark.</a:t>
            </a:r>
          </a:p>
          <a:p>
            <a:pPr>
              <a:spcBef>
                <a:spcPts val="600"/>
              </a:spcBef>
            </a:pPr>
            <a:r>
              <a:rPr lang="en-US" dirty="0"/>
              <a:t>	Provides a collaborative environment for data engineering, data science, machine learning, and analytics.</a:t>
            </a:r>
          </a:p>
          <a:p>
            <a:pPr>
              <a:spcBef>
                <a:spcPts val="600"/>
              </a:spcBef>
            </a:pPr>
            <a:r>
              <a:rPr lang="en-US" dirty="0"/>
              <a:t>	Founded by the creators of Apache Spark.</a:t>
            </a:r>
          </a:p>
          <a:p>
            <a:pPr>
              <a:spcBef>
                <a:spcPts val="600"/>
              </a:spcBef>
            </a:pPr>
            <a:r>
              <a:rPr lang="en-US" dirty="0"/>
              <a:t>	Supports multiple languages: Python, SQL, R, Scala, Java.</a:t>
            </a:r>
          </a:p>
          <a:p>
            <a:pPr>
              <a:spcBef>
                <a:spcPts val="600"/>
              </a:spcBef>
            </a:pPr>
            <a:r>
              <a:rPr lang="en-US" dirty="0"/>
              <a:t>	Available on major clouds: Azure, AWS, Google Cloud.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r>
              <a:rPr lang="en-US" b="1" dirty="0"/>
              <a:t>Why Databricks?</a:t>
            </a:r>
          </a:p>
          <a:p>
            <a:pPr>
              <a:spcBef>
                <a:spcPts val="600"/>
              </a:spcBef>
            </a:pPr>
            <a:r>
              <a:rPr lang="en-US" dirty="0"/>
              <a:t>	Traditional data architectures are complex, slow, and expensive.</a:t>
            </a:r>
          </a:p>
          <a:p>
            <a:pPr>
              <a:spcBef>
                <a:spcPts val="600"/>
              </a:spcBef>
            </a:pPr>
            <a:r>
              <a:rPr lang="en-US" dirty="0"/>
              <a:t>	Data exists in multiple systems (data warehouse, data lake, ETL pipelines, ML environments).</a:t>
            </a:r>
          </a:p>
          <a:p>
            <a:pPr>
              <a:spcBef>
                <a:spcPts val="600"/>
              </a:spcBef>
            </a:pPr>
            <a:r>
              <a:rPr lang="en-US" dirty="0"/>
              <a:t>Difficulty in:</a:t>
            </a:r>
          </a:p>
          <a:p>
            <a:pPr>
              <a:spcBef>
                <a:spcPts val="600"/>
              </a:spcBef>
            </a:pPr>
            <a:r>
              <a:rPr lang="en-US" dirty="0"/>
              <a:t>	Handling unstructured data</a:t>
            </a:r>
          </a:p>
          <a:p>
            <a:pPr>
              <a:spcBef>
                <a:spcPts val="600"/>
              </a:spcBef>
            </a:pPr>
            <a:r>
              <a:rPr lang="en-US" dirty="0"/>
              <a:t>	Scaling big data</a:t>
            </a:r>
          </a:p>
          <a:p>
            <a:pPr>
              <a:spcBef>
                <a:spcPts val="600"/>
              </a:spcBef>
            </a:pPr>
            <a:r>
              <a:rPr lang="en-US" dirty="0"/>
              <a:t>	Operationalizing machine learning</a:t>
            </a:r>
          </a:p>
          <a:p>
            <a:pPr>
              <a:spcBef>
                <a:spcPts val="600"/>
              </a:spcBef>
            </a:pPr>
            <a:r>
              <a:rPr lang="en-US" dirty="0"/>
              <a:t>	Databricks solves these problems with a Lakehouse Architecture.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697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6032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dirty="0"/>
              <a:t>Key Components of Databricks</a:t>
            </a:r>
          </a:p>
          <a:p>
            <a:pPr>
              <a:spcBef>
                <a:spcPts val="600"/>
              </a:spcBef>
            </a:pPr>
            <a:r>
              <a:rPr lang="en-IN" dirty="0"/>
              <a:t>	Databricks Workspace: Interface for notebooks, repos, workflows.</a:t>
            </a:r>
          </a:p>
          <a:p>
            <a:pPr>
              <a:spcBef>
                <a:spcPts val="600"/>
              </a:spcBef>
            </a:pPr>
            <a:r>
              <a:rPr lang="en-IN" dirty="0"/>
              <a:t>	Databricks Runtime: Optimized Spark cluster engine.</a:t>
            </a:r>
          </a:p>
          <a:p>
            <a:pPr>
              <a:spcBef>
                <a:spcPts val="600"/>
              </a:spcBef>
            </a:pPr>
            <a:r>
              <a:rPr lang="en-IN" dirty="0"/>
              <a:t>	Delta Lake: Storage layer enabling ACID transactions on data lakes.</a:t>
            </a:r>
          </a:p>
          <a:p>
            <a:pPr>
              <a:spcBef>
                <a:spcPts val="600"/>
              </a:spcBef>
            </a:pPr>
            <a:r>
              <a:rPr lang="en-IN" dirty="0"/>
              <a:t>	Unity </a:t>
            </a:r>
            <a:r>
              <a:rPr lang="en-IN" dirty="0" err="1"/>
              <a:t>Catalog</a:t>
            </a:r>
            <a:r>
              <a:rPr lang="en-IN" dirty="0"/>
              <a:t>: Centralized governance for data, models, and AI.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  <a:r>
              <a:rPr lang="en-IN" dirty="0" err="1"/>
              <a:t>MLflow</a:t>
            </a:r>
            <a:r>
              <a:rPr lang="en-IN" dirty="0"/>
              <a:t>: Machine learning lifecycle platform.</a:t>
            </a:r>
          </a:p>
          <a:p>
            <a:pPr>
              <a:spcBef>
                <a:spcPts val="600"/>
              </a:spcBef>
            </a:pPr>
            <a:r>
              <a:rPr lang="en-IN" dirty="0"/>
              <a:t>	Databricks SQL: BI engine for SQL analytics.</a:t>
            </a:r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Databricks Lakehouse Platform</a:t>
            </a:r>
          </a:p>
          <a:p>
            <a:pPr>
              <a:spcBef>
                <a:spcPts val="600"/>
              </a:spcBef>
            </a:pPr>
            <a:r>
              <a:rPr lang="en-IN" dirty="0"/>
              <a:t>	The Lakehouse combines the best of:</a:t>
            </a:r>
          </a:p>
          <a:p>
            <a:pPr>
              <a:spcBef>
                <a:spcPts val="600"/>
              </a:spcBef>
            </a:pPr>
            <a:r>
              <a:rPr lang="en-IN" dirty="0"/>
              <a:t>	Data Lakes → Scalability, low cost</a:t>
            </a:r>
          </a:p>
          <a:p>
            <a:pPr>
              <a:spcBef>
                <a:spcPts val="600"/>
              </a:spcBef>
            </a:pPr>
            <a:r>
              <a:rPr lang="en-IN" dirty="0"/>
              <a:t>	Data Warehouses → ACID transactions, governance, BI performance</a:t>
            </a:r>
          </a:p>
          <a:p>
            <a:pPr>
              <a:spcBef>
                <a:spcPts val="600"/>
              </a:spcBef>
            </a:pPr>
            <a:r>
              <a:rPr lang="en-IN" dirty="0"/>
              <a:t>Core principles:</a:t>
            </a:r>
          </a:p>
          <a:p>
            <a:pPr>
              <a:spcBef>
                <a:spcPts val="600"/>
              </a:spcBef>
            </a:pPr>
            <a:r>
              <a:rPr lang="en-IN" dirty="0"/>
              <a:t>	Open Storage Format → Delta Lake</a:t>
            </a:r>
          </a:p>
          <a:p>
            <a:pPr>
              <a:spcBef>
                <a:spcPts val="600"/>
              </a:spcBef>
            </a:pPr>
            <a:r>
              <a:rPr lang="en-IN" dirty="0"/>
              <a:t>	Governance + Security → Unity </a:t>
            </a:r>
            <a:r>
              <a:rPr lang="en-IN" dirty="0" err="1"/>
              <a:t>Catalog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	High Performance → Photon Engine, optimized Spark</a:t>
            </a:r>
          </a:p>
          <a:p>
            <a:pPr>
              <a:spcBef>
                <a:spcPts val="600"/>
              </a:spcBef>
            </a:pPr>
            <a:r>
              <a:rPr lang="en-IN" dirty="0"/>
              <a:t>	Support for All Workloads → Batch, streaming, ML, BI</a:t>
            </a:r>
          </a:p>
        </p:txBody>
      </p:sp>
    </p:spTree>
    <p:extLst>
      <p:ext uri="{BB962C8B-B14F-4D97-AF65-F5344CB8AC3E}">
        <p14:creationId xmlns:p14="http://schemas.microsoft.com/office/powerpoint/2010/main" val="22053280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dirty="0"/>
              <a:t>What is Delta Lake?</a:t>
            </a:r>
          </a:p>
          <a:p>
            <a:pPr>
              <a:spcBef>
                <a:spcPts val="600"/>
              </a:spcBef>
            </a:pPr>
            <a:r>
              <a:rPr lang="en-IN" dirty="0"/>
              <a:t>	Open-source storage layer from Databricks.</a:t>
            </a:r>
          </a:p>
          <a:p>
            <a:pPr>
              <a:spcBef>
                <a:spcPts val="600"/>
              </a:spcBef>
            </a:pPr>
            <a:r>
              <a:rPr lang="en-IN" dirty="0"/>
              <a:t>	Enables ACID transactions on data lakes.</a:t>
            </a:r>
          </a:p>
          <a:p>
            <a:pPr>
              <a:spcBef>
                <a:spcPts val="600"/>
              </a:spcBef>
            </a:pPr>
            <a:r>
              <a:rPr lang="en-IN" dirty="0"/>
              <a:t>	Solves problems such as:</a:t>
            </a:r>
          </a:p>
          <a:p>
            <a:pPr>
              <a:spcBef>
                <a:spcPts val="600"/>
              </a:spcBef>
            </a:pPr>
            <a:r>
              <a:rPr lang="en-IN" dirty="0"/>
              <a:t>	Dirty reads</a:t>
            </a:r>
          </a:p>
          <a:p>
            <a:pPr>
              <a:spcBef>
                <a:spcPts val="600"/>
              </a:spcBef>
            </a:pPr>
            <a:r>
              <a:rPr lang="en-IN" dirty="0"/>
              <a:t>	Schema inconsistencies</a:t>
            </a:r>
          </a:p>
          <a:p>
            <a:pPr>
              <a:spcBef>
                <a:spcPts val="600"/>
              </a:spcBef>
            </a:pPr>
            <a:r>
              <a:rPr lang="en-IN" dirty="0"/>
              <a:t>	Slow query performance</a:t>
            </a:r>
          </a:p>
          <a:p>
            <a:pPr>
              <a:spcBef>
                <a:spcPts val="600"/>
              </a:spcBef>
            </a:pPr>
            <a:r>
              <a:rPr lang="en-IN" dirty="0"/>
              <a:t>	Data corruption</a:t>
            </a:r>
          </a:p>
          <a:p>
            <a:endParaRPr lang="en-IN" b="1" dirty="0"/>
          </a:p>
          <a:p>
            <a:r>
              <a:rPr lang="en-IN" b="1" dirty="0"/>
              <a:t>Features</a:t>
            </a:r>
            <a:endParaRPr lang="en-IN" dirty="0"/>
          </a:p>
          <a:p>
            <a:r>
              <a:rPr lang="en-IN" dirty="0"/>
              <a:t>	Time Travel</a:t>
            </a:r>
          </a:p>
          <a:p>
            <a:r>
              <a:rPr lang="en-IN" dirty="0"/>
              <a:t>	Schema Enforcement</a:t>
            </a:r>
          </a:p>
          <a:p>
            <a:r>
              <a:rPr lang="en-IN" dirty="0"/>
              <a:t>	Schema Evolution</a:t>
            </a:r>
          </a:p>
          <a:p>
            <a:r>
              <a:rPr lang="en-IN" dirty="0"/>
              <a:t>	MERGE, UPDATE, DELETE</a:t>
            </a:r>
          </a:p>
          <a:p>
            <a:r>
              <a:rPr lang="en-IN" dirty="0"/>
              <a:t>	Auto Optimize &amp; Z-Ordering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48089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Databricks Architecture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D0685282-5398-DA9B-2D41-6151EF0AC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128" y="875675"/>
            <a:ext cx="9753600" cy="5714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59405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6386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Databricks Architecture</a:t>
            </a:r>
          </a:p>
          <a:p>
            <a:pPr>
              <a:spcBef>
                <a:spcPts val="600"/>
              </a:spcBef>
            </a:pPr>
            <a:r>
              <a:rPr lang="en-IN" b="1" dirty="0"/>
              <a:t>Layers:</a:t>
            </a:r>
          </a:p>
          <a:p>
            <a:pPr>
              <a:spcBef>
                <a:spcPts val="600"/>
              </a:spcBef>
            </a:pPr>
            <a:r>
              <a:rPr lang="en-IN" b="1" dirty="0"/>
              <a:t>	Storage Layer → Cloud Object Storage (S3, ADLS, GCS) with Delta Lake</a:t>
            </a:r>
          </a:p>
          <a:p>
            <a:pPr>
              <a:spcBef>
                <a:spcPts val="600"/>
              </a:spcBef>
            </a:pPr>
            <a:r>
              <a:rPr lang="en-IN" b="1" dirty="0"/>
              <a:t>	Compute Layer → Clusters (Spark, Photon)</a:t>
            </a:r>
          </a:p>
          <a:p>
            <a:pPr>
              <a:spcBef>
                <a:spcPts val="600"/>
              </a:spcBef>
            </a:pPr>
            <a:r>
              <a:rPr lang="en-IN" b="1" dirty="0"/>
              <a:t>	Governance Layer → Unity </a:t>
            </a:r>
            <a:r>
              <a:rPr lang="en-IN" b="1" dirty="0" err="1"/>
              <a:t>Catalog</a:t>
            </a:r>
            <a:endParaRPr lang="en-IN" b="1" dirty="0"/>
          </a:p>
          <a:p>
            <a:pPr>
              <a:spcBef>
                <a:spcPts val="600"/>
              </a:spcBef>
            </a:pPr>
            <a:r>
              <a:rPr lang="en-IN" b="1" dirty="0"/>
              <a:t>	Consumption Layer → Notebooks, Databricks SQL, BI tools (</a:t>
            </a:r>
            <a:r>
              <a:rPr lang="en-IN" b="1" dirty="0" err="1"/>
              <a:t>PowerBI</a:t>
            </a:r>
            <a:r>
              <a:rPr lang="en-IN" b="1" dirty="0"/>
              <a:t>, Tableau)</a:t>
            </a:r>
          </a:p>
          <a:p>
            <a:pPr>
              <a:spcBef>
                <a:spcPts val="600"/>
              </a:spcBef>
            </a:pPr>
            <a:endParaRPr lang="en-IN" b="1" dirty="0"/>
          </a:p>
          <a:p>
            <a:pPr>
              <a:spcBef>
                <a:spcPts val="600"/>
              </a:spcBef>
            </a:pPr>
            <a:r>
              <a:rPr lang="en-IN" b="1" dirty="0"/>
              <a:t>Databricks Notebooks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Interactive environment for:</a:t>
            </a:r>
          </a:p>
          <a:p>
            <a:pPr>
              <a:spcBef>
                <a:spcPts val="600"/>
              </a:spcBef>
            </a:pPr>
            <a:r>
              <a:rPr lang="en-IN" b="1" dirty="0"/>
              <a:t>		Data exploration</a:t>
            </a:r>
          </a:p>
          <a:p>
            <a:pPr>
              <a:spcBef>
                <a:spcPts val="600"/>
              </a:spcBef>
            </a:pPr>
            <a:r>
              <a:rPr lang="en-IN" b="1" dirty="0"/>
              <a:t>		ETL pipelines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	Machine learning models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	Visualizations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Supports multiple languages in a single notebook.</a:t>
            </a:r>
          </a:p>
          <a:p>
            <a:pPr>
              <a:spcBef>
                <a:spcPts val="600"/>
              </a:spcBef>
            </a:pPr>
            <a:r>
              <a:rPr lang="en-IN" b="1" dirty="0"/>
              <a:t>	Version control using Repos + GitHub/Azure DevOps.</a:t>
            </a:r>
          </a:p>
          <a:p>
            <a:pPr>
              <a:spcBef>
                <a:spcPts val="600"/>
              </a:spcBef>
            </a:pPr>
            <a:endParaRPr lang="en-IN" b="1" dirty="0"/>
          </a:p>
          <a:p>
            <a:pPr>
              <a:spcBef>
                <a:spcPts val="600"/>
              </a:spcBef>
            </a:pPr>
            <a:endParaRPr lang="en-IN" b="1" dirty="0"/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44148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4262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Databricks Architecture</a:t>
            </a:r>
          </a:p>
          <a:p>
            <a:pPr>
              <a:spcBef>
                <a:spcPts val="600"/>
              </a:spcBef>
            </a:pPr>
            <a:r>
              <a:rPr lang="en-IN" b="1" dirty="0"/>
              <a:t>Databricks Clusters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Clusters are the compute engines.</a:t>
            </a:r>
          </a:p>
          <a:p>
            <a:pPr>
              <a:spcBef>
                <a:spcPts val="600"/>
              </a:spcBef>
            </a:pPr>
            <a:r>
              <a:rPr lang="en-IN" b="1" dirty="0"/>
              <a:t>		Types of clusters:</a:t>
            </a:r>
          </a:p>
          <a:p>
            <a:pPr>
              <a:spcBef>
                <a:spcPts val="600"/>
              </a:spcBef>
            </a:pPr>
            <a:r>
              <a:rPr lang="en-IN" b="1" dirty="0"/>
              <a:t>			Interactive → For development</a:t>
            </a:r>
          </a:p>
          <a:p>
            <a:pPr>
              <a:spcBef>
                <a:spcPts val="600"/>
              </a:spcBef>
            </a:pPr>
            <a:r>
              <a:rPr lang="en-IN" b="1" dirty="0"/>
              <a:t>			Job clusters → Auto-spin for ETL jobs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		All-Purpose Clusters → Multi-user</a:t>
            </a:r>
          </a:p>
          <a:p>
            <a:pPr>
              <a:spcBef>
                <a:spcPts val="600"/>
              </a:spcBef>
            </a:pPr>
            <a:r>
              <a:rPr lang="en-IN" b="1" dirty="0"/>
              <a:t>	Autoscaling supported.</a:t>
            </a:r>
          </a:p>
          <a:p>
            <a:pPr>
              <a:spcBef>
                <a:spcPts val="600"/>
              </a:spcBef>
            </a:pPr>
            <a:r>
              <a:rPr lang="en-IN" b="1" dirty="0"/>
              <a:t>	Databricks Runtime accelerates Spark performance.</a:t>
            </a:r>
          </a:p>
          <a:p>
            <a:pPr>
              <a:spcBef>
                <a:spcPts val="600"/>
              </a:spcBef>
            </a:pPr>
            <a:endParaRPr lang="en-IN" b="1" dirty="0"/>
          </a:p>
          <a:p>
            <a:pPr>
              <a:spcBef>
                <a:spcPts val="600"/>
              </a:spcBef>
            </a:pPr>
            <a:endParaRPr lang="en-IN" b="1" dirty="0"/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69726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/>
              <a:t>Unity Catalog – Governance</a:t>
            </a:r>
          </a:p>
          <a:p>
            <a:pPr>
              <a:spcBef>
                <a:spcPts val="600"/>
              </a:spcBef>
            </a:pPr>
            <a:r>
              <a:rPr lang="en-US" dirty="0"/>
              <a:t>	Platform for:</a:t>
            </a:r>
          </a:p>
          <a:p>
            <a:pPr>
              <a:spcBef>
                <a:spcPts val="600"/>
              </a:spcBef>
            </a:pPr>
            <a:r>
              <a:rPr lang="en-US" dirty="0"/>
              <a:t>		Data discovery</a:t>
            </a:r>
          </a:p>
          <a:p>
            <a:pPr>
              <a:spcBef>
                <a:spcPts val="600"/>
              </a:spcBef>
            </a:pPr>
            <a:r>
              <a:rPr lang="en-US" dirty="0"/>
              <a:t>		Access control</a:t>
            </a:r>
          </a:p>
          <a:p>
            <a:pPr>
              <a:spcBef>
                <a:spcPts val="600"/>
              </a:spcBef>
            </a:pPr>
            <a:r>
              <a:rPr lang="en-US" dirty="0"/>
              <a:t>		Lineage</a:t>
            </a:r>
          </a:p>
          <a:p>
            <a:pPr>
              <a:spcBef>
                <a:spcPts val="600"/>
              </a:spcBef>
            </a:pPr>
            <a:r>
              <a:rPr lang="en-US" dirty="0"/>
              <a:t>		Security</a:t>
            </a:r>
          </a:p>
          <a:p>
            <a:pPr>
              <a:spcBef>
                <a:spcPts val="600"/>
              </a:spcBef>
            </a:pPr>
            <a:r>
              <a:rPr lang="en-US" dirty="0"/>
              <a:t>		Auditing</a:t>
            </a:r>
          </a:p>
          <a:p>
            <a:pPr>
              <a:spcBef>
                <a:spcPts val="600"/>
              </a:spcBef>
            </a:pPr>
            <a:r>
              <a:rPr lang="en-US" dirty="0"/>
              <a:t>	Provides fine-grained access down to column-level.</a:t>
            </a:r>
          </a:p>
          <a:p>
            <a:pPr>
              <a:spcBef>
                <a:spcPts val="600"/>
              </a:spcBef>
            </a:pPr>
            <a:r>
              <a:rPr lang="en-US" dirty="0"/>
              <a:t>	Governs:</a:t>
            </a:r>
          </a:p>
          <a:p>
            <a:pPr>
              <a:spcBef>
                <a:spcPts val="600"/>
              </a:spcBef>
            </a:pPr>
            <a:r>
              <a:rPr lang="en-US" dirty="0"/>
              <a:t>		Tables</a:t>
            </a:r>
          </a:p>
          <a:p>
            <a:pPr>
              <a:spcBef>
                <a:spcPts val="600"/>
              </a:spcBef>
            </a:pPr>
            <a:r>
              <a:rPr lang="en-US" dirty="0"/>
              <a:t>		Files</a:t>
            </a:r>
          </a:p>
          <a:p>
            <a:pPr>
              <a:spcBef>
                <a:spcPts val="600"/>
              </a:spcBef>
            </a:pPr>
            <a:r>
              <a:rPr lang="en-US" dirty="0"/>
              <a:t>		ML Models</a:t>
            </a:r>
          </a:p>
          <a:p>
            <a:pPr>
              <a:spcBef>
                <a:spcPts val="600"/>
              </a:spcBef>
            </a:pPr>
            <a:r>
              <a:rPr lang="en-US" dirty="0"/>
              <a:t>		Dashboards</a:t>
            </a:r>
          </a:p>
          <a:p>
            <a:pPr>
              <a:spcBef>
                <a:spcPts val="600"/>
              </a:spcBef>
            </a:pPr>
            <a:r>
              <a:rPr lang="en-US" dirty="0"/>
              <a:t>		Functions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1541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4262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dirty="0"/>
              <a:t>Databricks for Machine Learning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  <a:r>
              <a:rPr lang="en-IN" dirty="0" err="1"/>
              <a:t>MLflow</a:t>
            </a:r>
            <a:r>
              <a:rPr lang="en-IN" dirty="0"/>
              <a:t> built-in for lifecycle:</a:t>
            </a:r>
          </a:p>
          <a:p>
            <a:pPr>
              <a:spcBef>
                <a:spcPts val="600"/>
              </a:spcBef>
            </a:pPr>
            <a:r>
              <a:rPr lang="en-IN" dirty="0"/>
              <a:t>	Experiment Tracking</a:t>
            </a:r>
          </a:p>
          <a:p>
            <a:pPr>
              <a:spcBef>
                <a:spcPts val="600"/>
              </a:spcBef>
            </a:pPr>
            <a:r>
              <a:rPr lang="en-IN" dirty="0"/>
              <a:t>	Model Registry</a:t>
            </a:r>
          </a:p>
          <a:p>
            <a:pPr>
              <a:spcBef>
                <a:spcPts val="600"/>
              </a:spcBef>
            </a:pPr>
            <a:r>
              <a:rPr lang="en-IN" dirty="0"/>
              <a:t>	Deployment</a:t>
            </a:r>
          </a:p>
          <a:p>
            <a:pPr>
              <a:spcBef>
                <a:spcPts val="600"/>
              </a:spcBef>
            </a:pPr>
            <a:r>
              <a:rPr lang="en-IN" dirty="0" err="1"/>
              <a:t>AutoML</a:t>
            </a:r>
            <a:r>
              <a:rPr lang="en-IN" dirty="0"/>
              <a:t> for quick model development.</a:t>
            </a:r>
          </a:p>
          <a:p>
            <a:pPr>
              <a:spcBef>
                <a:spcPts val="600"/>
              </a:spcBef>
            </a:pPr>
            <a:r>
              <a:rPr lang="en-IN" dirty="0"/>
              <a:t>Supports distributed training frameworks:</a:t>
            </a:r>
          </a:p>
          <a:p>
            <a:pPr>
              <a:spcBef>
                <a:spcPts val="600"/>
              </a:spcBef>
            </a:pPr>
            <a:r>
              <a:rPr lang="en-IN" dirty="0"/>
              <a:t>	TensorFlow</a:t>
            </a:r>
          </a:p>
          <a:p>
            <a:pPr>
              <a:spcBef>
                <a:spcPts val="600"/>
              </a:spcBef>
            </a:pPr>
            <a:r>
              <a:rPr lang="en-IN" dirty="0"/>
              <a:t>	</a:t>
            </a:r>
            <a:r>
              <a:rPr lang="en-IN" dirty="0" err="1"/>
              <a:t>PyTorch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	Scikit-learn</a:t>
            </a:r>
          </a:p>
          <a:p>
            <a:pPr>
              <a:spcBef>
                <a:spcPts val="600"/>
              </a:spcBef>
            </a:pPr>
            <a:r>
              <a:rPr lang="en-IN" dirty="0"/>
              <a:t>Feature Store for feature versioning and reuse.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59334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dirty="0"/>
              <a:t>Databricks SQL</a:t>
            </a:r>
          </a:p>
          <a:p>
            <a:pPr>
              <a:spcBef>
                <a:spcPts val="600"/>
              </a:spcBef>
            </a:pPr>
            <a:r>
              <a:rPr lang="en-IN" dirty="0"/>
              <a:t>	High-performance SQL warehousing layer.</a:t>
            </a:r>
          </a:p>
          <a:p>
            <a:pPr>
              <a:spcBef>
                <a:spcPts val="600"/>
              </a:spcBef>
            </a:pPr>
            <a:r>
              <a:rPr lang="en-IN" dirty="0"/>
              <a:t>	Photon query engine → extremely fast.</a:t>
            </a:r>
          </a:p>
          <a:p>
            <a:pPr>
              <a:spcBef>
                <a:spcPts val="600"/>
              </a:spcBef>
            </a:pPr>
            <a:r>
              <a:rPr lang="en-IN" dirty="0"/>
              <a:t>	Enables dashboards and BI workloads.</a:t>
            </a:r>
          </a:p>
          <a:p>
            <a:pPr>
              <a:spcBef>
                <a:spcPts val="600"/>
              </a:spcBef>
            </a:pPr>
            <a:r>
              <a:rPr lang="en-IN" dirty="0"/>
              <a:t>	Integrates with:</a:t>
            </a:r>
          </a:p>
          <a:p>
            <a:pPr>
              <a:spcBef>
                <a:spcPts val="600"/>
              </a:spcBef>
            </a:pPr>
            <a:r>
              <a:rPr lang="en-IN" dirty="0"/>
              <a:t>		Power BI</a:t>
            </a:r>
          </a:p>
          <a:p>
            <a:pPr>
              <a:spcBef>
                <a:spcPts val="600"/>
              </a:spcBef>
            </a:pPr>
            <a:r>
              <a:rPr lang="en-IN" dirty="0"/>
              <a:t>		Tableau</a:t>
            </a:r>
          </a:p>
          <a:p>
            <a:pPr>
              <a:spcBef>
                <a:spcPts val="600"/>
              </a:spcBef>
            </a:pPr>
            <a:r>
              <a:rPr lang="en-IN" dirty="0"/>
              <a:t>		Looker</a:t>
            </a:r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56251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6032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Use Cases</a:t>
            </a:r>
          </a:p>
          <a:p>
            <a:pPr>
              <a:spcBef>
                <a:spcPts val="600"/>
              </a:spcBef>
            </a:pPr>
            <a:r>
              <a:rPr lang="en-IN" dirty="0"/>
              <a:t>	ETL / ELT Pipelines</a:t>
            </a:r>
          </a:p>
          <a:p>
            <a:pPr>
              <a:spcBef>
                <a:spcPts val="600"/>
              </a:spcBef>
            </a:pPr>
            <a:r>
              <a:rPr lang="en-IN" dirty="0"/>
              <a:t>		Ingesting raw data (batch or streaming)</a:t>
            </a:r>
          </a:p>
          <a:p>
            <a:pPr>
              <a:spcBef>
                <a:spcPts val="600"/>
              </a:spcBef>
            </a:pPr>
            <a:r>
              <a:rPr lang="en-IN" dirty="0"/>
              <a:t>		Transformation using Spark</a:t>
            </a:r>
          </a:p>
          <a:p>
            <a:pPr>
              <a:spcBef>
                <a:spcPts val="600"/>
              </a:spcBef>
            </a:pPr>
            <a:r>
              <a:rPr lang="en-IN" dirty="0"/>
              <a:t>		Storing in Delta Lake</a:t>
            </a:r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	Real-Time Analytics</a:t>
            </a:r>
          </a:p>
          <a:p>
            <a:pPr>
              <a:spcBef>
                <a:spcPts val="600"/>
              </a:spcBef>
            </a:pPr>
            <a:r>
              <a:rPr lang="en-IN" dirty="0"/>
              <a:t>		Structured Streaming</a:t>
            </a:r>
          </a:p>
          <a:p>
            <a:pPr>
              <a:spcBef>
                <a:spcPts val="600"/>
              </a:spcBef>
            </a:pPr>
            <a:r>
              <a:rPr lang="en-IN" dirty="0"/>
              <a:t>		IoT data pipelines</a:t>
            </a:r>
          </a:p>
          <a:p>
            <a:pPr>
              <a:spcBef>
                <a:spcPts val="600"/>
              </a:spcBef>
            </a:pPr>
            <a:r>
              <a:rPr lang="en-IN" dirty="0"/>
              <a:t>	Data Science &amp; ML</a:t>
            </a:r>
          </a:p>
          <a:p>
            <a:pPr>
              <a:spcBef>
                <a:spcPts val="600"/>
              </a:spcBef>
            </a:pPr>
            <a:r>
              <a:rPr lang="en-IN" dirty="0"/>
              <a:t>		Feature engineering</a:t>
            </a:r>
          </a:p>
          <a:p>
            <a:pPr>
              <a:spcBef>
                <a:spcPts val="600"/>
              </a:spcBef>
            </a:pPr>
            <a:r>
              <a:rPr lang="en-IN" dirty="0"/>
              <a:t>		Training models at scale</a:t>
            </a:r>
          </a:p>
          <a:p>
            <a:pPr>
              <a:spcBef>
                <a:spcPts val="600"/>
              </a:spcBef>
            </a:pPr>
            <a:r>
              <a:rPr lang="en-IN" dirty="0"/>
              <a:t>	BI and Reporting</a:t>
            </a:r>
          </a:p>
          <a:p>
            <a:pPr>
              <a:spcBef>
                <a:spcPts val="600"/>
              </a:spcBef>
            </a:pPr>
            <a:r>
              <a:rPr lang="en-IN" dirty="0"/>
              <a:t>		Dashboards</a:t>
            </a:r>
          </a:p>
          <a:p>
            <a:pPr>
              <a:spcBef>
                <a:spcPts val="600"/>
              </a:spcBef>
            </a:pPr>
            <a:r>
              <a:rPr lang="en-IN" dirty="0"/>
              <a:t>		SQL data warehouse workloads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13170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/>
              <a:t>Industry Examples</a:t>
            </a:r>
          </a:p>
          <a:p>
            <a:pPr>
              <a:spcBef>
                <a:spcPts val="600"/>
              </a:spcBef>
            </a:pPr>
            <a:r>
              <a:rPr lang="en-US" dirty="0"/>
              <a:t>	Retail: Recommendation engines</a:t>
            </a:r>
          </a:p>
          <a:p>
            <a:pPr>
              <a:spcBef>
                <a:spcPts val="600"/>
              </a:spcBef>
            </a:pPr>
            <a:r>
              <a:rPr lang="en-US" dirty="0"/>
              <a:t>	Banking: Fraud detection</a:t>
            </a:r>
          </a:p>
          <a:p>
            <a:pPr>
              <a:spcBef>
                <a:spcPts val="600"/>
              </a:spcBef>
            </a:pPr>
            <a:r>
              <a:rPr lang="en-US" dirty="0"/>
              <a:t>	Healthcare: Predictive analytics</a:t>
            </a:r>
          </a:p>
          <a:p>
            <a:pPr>
              <a:spcBef>
                <a:spcPts val="600"/>
              </a:spcBef>
            </a:pPr>
            <a:r>
              <a:rPr lang="en-US" dirty="0"/>
              <a:t>	Manufacturing: IoT device monitoring</a:t>
            </a:r>
          </a:p>
          <a:p>
            <a:pPr>
              <a:spcBef>
                <a:spcPts val="600"/>
              </a:spcBef>
            </a:pPr>
            <a:r>
              <a:rPr lang="en-US" dirty="0"/>
              <a:t>	Government: Compliance reporting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914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67572"/>
            <a:ext cx="10679503" cy="2846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dirty="0"/>
              <a:t>Databricks Advantages</a:t>
            </a:r>
          </a:p>
          <a:p>
            <a:pPr>
              <a:spcBef>
                <a:spcPts val="600"/>
              </a:spcBef>
            </a:pPr>
            <a:r>
              <a:rPr lang="en-IN" dirty="0"/>
              <a:t>	Unified platform → No siloed systems</a:t>
            </a:r>
          </a:p>
          <a:p>
            <a:pPr>
              <a:spcBef>
                <a:spcPts val="600"/>
              </a:spcBef>
            </a:pPr>
            <a:r>
              <a:rPr lang="en-IN" dirty="0"/>
              <a:t>	Faster performance with Photon Engine</a:t>
            </a:r>
          </a:p>
          <a:p>
            <a:pPr>
              <a:spcBef>
                <a:spcPts val="600"/>
              </a:spcBef>
            </a:pPr>
            <a:r>
              <a:rPr lang="en-IN" dirty="0"/>
              <a:t>	Open and enterprise-ready (Delta Lake, </a:t>
            </a:r>
            <a:r>
              <a:rPr lang="en-IN" dirty="0" err="1"/>
              <a:t>MLflow</a:t>
            </a:r>
            <a:r>
              <a:rPr lang="en-IN" dirty="0"/>
              <a:t>)</a:t>
            </a:r>
          </a:p>
          <a:p>
            <a:pPr>
              <a:spcBef>
                <a:spcPts val="600"/>
              </a:spcBef>
            </a:pPr>
            <a:r>
              <a:rPr lang="en-IN" dirty="0"/>
              <a:t>	Best-in-class governance (Unity </a:t>
            </a:r>
            <a:r>
              <a:rPr lang="en-IN" dirty="0" err="1"/>
              <a:t>Catalog</a:t>
            </a:r>
            <a:r>
              <a:rPr lang="en-IN" dirty="0"/>
              <a:t>)</a:t>
            </a:r>
          </a:p>
          <a:p>
            <a:pPr>
              <a:spcBef>
                <a:spcPts val="600"/>
              </a:spcBef>
            </a:pPr>
            <a:r>
              <a:rPr lang="en-IN" dirty="0"/>
              <a:t>	Cost-efficient &amp; elastic</a:t>
            </a:r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Databricks vs Traditional Systems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31A422D-4908-4223-EA0B-7DD7A4DB0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8424969"/>
              </p:ext>
            </p:extLst>
          </p:nvPr>
        </p:nvGraphicFramePr>
        <p:xfrm>
          <a:off x="630936" y="3344577"/>
          <a:ext cx="10131424" cy="2834640"/>
        </p:xfrm>
        <a:graphic>
          <a:graphicData uri="http://schemas.openxmlformats.org/drawingml/2006/table">
            <a:tbl>
              <a:tblPr/>
              <a:tblGrid>
                <a:gridCol w="2532856">
                  <a:extLst>
                    <a:ext uri="{9D8B030D-6E8A-4147-A177-3AD203B41FA5}">
                      <a16:colId xmlns:a16="http://schemas.microsoft.com/office/drawing/2014/main" val="411335668"/>
                    </a:ext>
                  </a:extLst>
                </a:gridCol>
                <a:gridCol w="2532856">
                  <a:extLst>
                    <a:ext uri="{9D8B030D-6E8A-4147-A177-3AD203B41FA5}">
                      <a16:colId xmlns:a16="http://schemas.microsoft.com/office/drawing/2014/main" val="1335499456"/>
                    </a:ext>
                  </a:extLst>
                </a:gridCol>
                <a:gridCol w="2532856">
                  <a:extLst>
                    <a:ext uri="{9D8B030D-6E8A-4147-A177-3AD203B41FA5}">
                      <a16:colId xmlns:a16="http://schemas.microsoft.com/office/drawing/2014/main" val="3731738341"/>
                    </a:ext>
                  </a:extLst>
                </a:gridCol>
                <a:gridCol w="2532856">
                  <a:extLst>
                    <a:ext uri="{9D8B030D-6E8A-4147-A177-3AD203B41FA5}">
                      <a16:colId xmlns:a16="http://schemas.microsoft.com/office/drawing/2014/main" val="40584294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Data Warehouse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Data Lake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Databricks 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482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Handles 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Limited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799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Handles unstructured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43315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Supports BI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595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Supports ML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Limited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8819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ACID Transactions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6784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/>
                        <a:t>Cost Efficiency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High + ACID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01343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04267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76716"/>
            <a:ext cx="10679503" cy="321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Databricks architecture is split into two logical layers: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Control Plane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Managed completely by Databricks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Stores </a:t>
            </a:r>
            <a:r>
              <a:rPr lang="en-US" b="1" dirty="0"/>
              <a:t>meta-information</a:t>
            </a:r>
            <a:r>
              <a:rPr lang="en-US" dirty="0"/>
              <a:t>, </a:t>
            </a:r>
            <a:r>
              <a:rPr lang="en-US" b="1" dirty="0"/>
              <a:t>notebooks</a:t>
            </a:r>
            <a:r>
              <a:rPr lang="en-US" dirty="0"/>
              <a:t>, </a:t>
            </a:r>
            <a:r>
              <a:rPr lang="en-US" b="1" dirty="0"/>
              <a:t>job configurations</a:t>
            </a:r>
            <a:r>
              <a:rPr lang="en-US" dirty="0"/>
              <a:t>, etc.</a:t>
            </a:r>
          </a:p>
          <a:p>
            <a:pPr lvl="1"/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Data Plane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Runs in your cloud account (AWS / Azure / GCP)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Your actual data stays here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All compute happens here (clusters, SQL warehouses)</a:t>
            </a:r>
          </a:p>
          <a:p>
            <a:r>
              <a:rPr lang="en-US" dirty="0"/>
              <a:t>This separation ensures </a:t>
            </a:r>
            <a:r>
              <a:rPr lang="en-US" b="1" dirty="0"/>
              <a:t>security</a:t>
            </a:r>
            <a:r>
              <a:rPr lang="en-US" dirty="0"/>
              <a:t>, </a:t>
            </a:r>
            <a:r>
              <a:rPr lang="en-US" b="1" dirty="0"/>
              <a:t>privacy</a:t>
            </a:r>
            <a:r>
              <a:rPr lang="en-US" dirty="0"/>
              <a:t>, and </a:t>
            </a:r>
            <a:r>
              <a:rPr lang="en-US" b="1" dirty="0"/>
              <a:t>enterprise control</a:t>
            </a:r>
            <a:r>
              <a:rPr lang="en-US" dirty="0"/>
              <a:t>.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  <p:pic>
        <p:nvPicPr>
          <p:cNvPr id="15362" name="Picture 2" descr="High-level architecture | Databricks on AWS">
            <a:extLst>
              <a:ext uri="{FF2B5EF4-FFF2-40B4-BE49-F238E27FC236}">
                <a16:creationId xmlns:a16="http://schemas.microsoft.com/office/drawing/2014/main" id="{FF6BD9F6-9717-FE3C-363D-CA1A17F6B5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217" y="3429000"/>
            <a:ext cx="8562975" cy="3122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68845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76716"/>
            <a:ext cx="10679503" cy="6386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Why Split Architecture?</a:t>
            </a:r>
          </a:p>
          <a:p>
            <a:pPr>
              <a:spcBef>
                <a:spcPts val="600"/>
              </a:spcBef>
            </a:pPr>
            <a:r>
              <a:rPr lang="en-US" b="1" dirty="0"/>
              <a:t>Benefits:</a:t>
            </a:r>
          </a:p>
          <a:p>
            <a:pPr>
              <a:spcBef>
                <a:spcPts val="600"/>
              </a:spcBef>
            </a:pPr>
            <a:r>
              <a:rPr lang="en-US" b="1" dirty="0"/>
              <a:t>	Security:</a:t>
            </a:r>
            <a:r>
              <a:rPr lang="en-US" dirty="0"/>
              <a:t> Databricks never stores or accesses your business data.</a:t>
            </a:r>
          </a:p>
          <a:p>
            <a:pPr>
              <a:spcBef>
                <a:spcPts val="600"/>
              </a:spcBef>
            </a:pPr>
            <a:r>
              <a:rPr lang="en-US" b="1" dirty="0"/>
              <a:t>	Scalability:</a:t>
            </a:r>
            <a:r>
              <a:rPr lang="en-US" dirty="0"/>
              <a:t> Compute autoscaling happens independently.</a:t>
            </a:r>
          </a:p>
          <a:p>
            <a:pPr>
              <a:spcBef>
                <a:spcPts val="600"/>
              </a:spcBef>
            </a:pPr>
            <a:r>
              <a:rPr lang="en-US" b="1" dirty="0"/>
              <a:t>	Governance:</a:t>
            </a:r>
            <a:r>
              <a:rPr lang="en-US" dirty="0"/>
              <a:t> Central identity &amp; access control through Control Plane.</a:t>
            </a:r>
          </a:p>
          <a:p>
            <a:pPr>
              <a:spcBef>
                <a:spcPts val="600"/>
              </a:spcBef>
            </a:pPr>
            <a:r>
              <a:rPr lang="en-US" b="1" dirty="0"/>
              <a:t>	Flexibility:</a:t>
            </a:r>
            <a:r>
              <a:rPr lang="en-US" dirty="0"/>
              <a:t> You choose storage, networking, encryption in Data Plane.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r>
              <a:rPr lang="en-US" b="1" dirty="0"/>
              <a:t>What is the Control Plane?</a:t>
            </a:r>
          </a:p>
          <a:p>
            <a:pPr>
              <a:spcBef>
                <a:spcPts val="600"/>
              </a:spcBef>
            </a:pPr>
            <a:r>
              <a:rPr lang="en-US" dirty="0"/>
              <a:t>The Databricks </a:t>
            </a:r>
            <a:r>
              <a:rPr lang="en-US" b="1" dirty="0"/>
              <a:t>Control Plane</a:t>
            </a:r>
            <a:r>
              <a:rPr lang="en-US" dirty="0"/>
              <a:t> is the fully managed SaaS layer responsible for:</a:t>
            </a:r>
          </a:p>
          <a:p>
            <a:pPr>
              <a:spcBef>
                <a:spcPts val="600"/>
              </a:spcBef>
            </a:pPr>
            <a:r>
              <a:rPr lang="en-US" dirty="0"/>
              <a:t>	User authentication</a:t>
            </a:r>
          </a:p>
          <a:p>
            <a:pPr>
              <a:spcBef>
                <a:spcPts val="600"/>
              </a:spcBef>
            </a:pPr>
            <a:r>
              <a:rPr lang="en-US" dirty="0"/>
              <a:t>	Workspace UI &amp; notebooks</a:t>
            </a:r>
          </a:p>
          <a:p>
            <a:pPr>
              <a:spcBef>
                <a:spcPts val="600"/>
              </a:spcBef>
            </a:pPr>
            <a:r>
              <a:rPr lang="en-US" dirty="0"/>
              <a:t>	Cluster configuration</a:t>
            </a:r>
          </a:p>
          <a:p>
            <a:pPr>
              <a:spcBef>
                <a:spcPts val="600"/>
              </a:spcBef>
            </a:pPr>
            <a:r>
              <a:rPr lang="en-US" dirty="0"/>
              <a:t>	Job scheduling</a:t>
            </a:r>
          </a:p>
          <a:p>
            <a:pPr>
              <a:spcBef>
                <a:spcPts val="600"/>
              </a:spcBef>
            </a:pPr>
            <a:r>
              <a:rPr lang="en-US" dirty="0"/>
              <a:t>	SQL endpoints &amp; dashboard metadata</a:t>
            </a:r>
          </a:p>
          <a:p>
            <a:pPr>
              <a:spcBef>
                <a:spcPts val="600"/>
              </a:spcBef>
            </a:pPr>
            <a:r>
              <a:rPr lang="en-US" dirty="0"/>
              <a:t>	Model registry (</a:t>
            </a:r>
            <a:r>
              <a:rPr lang="en-US" dirty="0" err="1"/>
              <a:t>MLflow</a:t>
            </a:r>
            <a:r>
              <a:rPr lang="en-US" dirty="0"/>
              <a:t> metadata)</a:t>
            </a:r>
          </a:p>
          <a:p>
            <a:pPr>
              <a:spcBef>
                <a:spcPts val="600"/>
              </a:spcBef>
            </a:pPr>
            <a:r>
              <a:rPr lang="en-US" dirty="0"/>
              <a:t>	Notebooks storage (encrypted)</a:t>
            </a:r>
          </a:p>
          <a:p>
            <a:pPr>
              <a:spcBef>
                <a:spcPts val="600"/>
              </a:spcBef>
            </a:pPr>
            <a:r>
              <a:rPr lang="en-US" dirty="0"/>
              <a:t>It </a:t>
            </a:r>
            <a:r>
              <a:rPr lang="en-US" b="1" dirty="0"/>
              <a:t>does not process your data</a:t>
            </a:r>
            <a:r>
              <a:rPr lang="en-US" dirty="0"/>
              <a:t>.</a:t>
            </a:r>
          </a:p>
          <a:p>
            <a:pPr>
              <a:spcBef>
                <a:spcPts val="60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68383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76716"/>
            <a:ext cx="10679503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Control Plane Responsibilities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Cluster Manager:</a:t>
            </a:r>
            <a:r>
              <a:rPr lang="en-IN" dirty="0"/>
              <a:t> Creates, starts, stops compute clusters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Notebook Management:</a:t>
            </a:r>
            <a:r>
              <a:rPr lang="en-IN" dirty="0"/>
              <a:t> Stores notebook code and revisions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Job Orchestration:</a:t>
            </a:r>
            <a:r>
              <a:rPr lang="en-IN" dirty="0"/>
              <a:t> Workflow scheduler for ETL/ML jobs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REST APIs &amp; UI:</a:t>
            </a:r>
            <a:r>
              <a:rPr lang="en-IN" dirty="0"/>
              <a:t> All UI interactions go through the control plane</a:t>
            </a:r>
          </a:p>
          <a:p>
            <a:pPr>
              <a:spcBef>
                <a:spcPts val="600"/>
              </a:spcBef>
            </a:pPr>
            <a:r>
              <a:rPr lang="en-IN" b="1" dirty="0"/>
              <a:t>	Unity </a:t>
            </a:r>
            <a:r>
              <a:rPr lang="en-IN" b="1" dirty="0" err="1"/>
              <a:t>Catalog</a:t>
            </a:r>
            <a:r>
              <a:rPr lang="en-IN" b="1" dirty="0"/>
              <a:t> Governance:</a:t>
            </a:r>
            <a:r>
              <a:rPr lang="en-IN" dirty="0"/>
              <a:t> Central location for permissions &amp; lineage</a:t>
            </a:r>
          </a:p>
          <a:p>
            <a:pPr>
              <a:spcBef>
                <a:spcPts val="600"/>
              </a:spcBef>
            </a:pPr>
            <a:r>
              <a:rPr lang="en-IN" b="1" dirty="0"/>
              <a:t>	Secrets Management:</a:t>
            </a:r>
            <a:r>
              <a:rPr lang="en-IN" dirty="0"/>
              <a:t> Secure storage of tokens, passwords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r>
              <a:rPr lang="en-US" b="1" dirty="0"/>
              <a:t>What the Control Plane Contains</a:t>
            </a:r>
            <a:endParaRPr lang="en-IN" b="1" dirty="0"/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2AB771B-C149-96C8-E6B5-54346B968B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375510"/>
              </p:ext>
            </p:extLst>
          </p:nvPr>
        </p:nvGraphicFramePr>
        <p:xfrm>
          <a:off x="521552" y="3429000"/>
          <a:ext cx="10131424" cy="2560320"/>
        </p:xfrm>
        <a:graphic>
          <a:graphicData uri="http://schemas.openxmlformats.org/drawingml/2006/table">
            <a:tbl>
              <a:tblPr/>
              <a:tblGrid>
                <a:gridCol w="5065712">
                  <a:extLst>
                    <a:ext uri="{9D8B030D-6E8A-4147-A177-3AD203B41FA5}">
                      <a16:colId xmlns:a16="http://schemas.microsoft.com/office/drawing/2014/main" val="485168335"/>
                    </a:ext>
                  </a:extLst>
                </a:gridCol>
                <a:gridCol w="5065712">
                  <a:extLst>
                    <a:ext uri="{9D8B030D-6E8A-4147-A177-3AD203B41FA5}">
                      <a16:colId xmlns:a16="http://schemas.microsoft.com/office/drawing/2014/main" val="185143534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Component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Stored in Control Plane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707892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Notebooks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✔️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34133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Job definitions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✔️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99637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Metadata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✔️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96731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dirty="0"/>
                        <a:t>SQL dashboards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✔️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507647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dirty="0"/>
                        <a:t>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0397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Cluster execution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9067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9521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76716"/>
            <a:ext cx="10679503" cy="6386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/>
              <a:t>What is the Data Plane?</a:t>
            </a:r>
          </a:p>
          <a:p>
            <a:pPr>
              <a:spcBef>
                <a:spcPts val="600"/>
              </a:spcBef>
            </a:pPr>
            <a:r>
              <a:rPr lang="en-US" dirty="0"/>
              <a:t>	The Data Plane refers to the environment inside your own cloud account where:</a:t>
            </a:r>
          </a:p>
          <a:p>
            <a:pPr>
              <a:spcBef>
                <a:spcPts val="600"/>
              </a:spcBef>
            </a:pPr>
            <a:r>
              <a:rPr lang="en-US" dirty="0"/>
              <a:t>	Compute clusters run</a:t>
            </a:r>
          </a:p>
          <a:p>
            <a:pPr>
              <a:spcBef>
                <a:spcPts val="600"/>
              </a:spcBef>
            </a:pPr>
            <a:r>
              <a:rPr lang="en-US" dirty="0"/>
              <a:t>	SQL warehouses run</a:t>
            </a:r>
          </a:p>
          <a:p>
            <a:pPr>
              <a:spcBef>
                <a:spcPts val="600"/>
              </a:spcBef>
            </a:pPr>
            <a:r>
              <a:rPr lang="en-US" dirty="0"/>
              <a:t>	Your actual data lives (ADLS / S3 / GCS)</a:t>
            </a:r>
          </a:p>
          <a:p>
            <a:pPr>
              <a:spcBef>
                <a:spcPts val="600"/>
              </a:spcBef>
            </a:pPr>
            <a:r>
              <a:rPr lang="en-US" dirty="0"/>
              <a:t>	Delta Lake tables are stored</a:t>
            </a:r>
          </a:p>
          <a:p>
            <a:pPr>
              <a:spcBef>
                <a:spcPts val="600"/>
              </a:spcBef>
            </a:pPr>
            <a:r>
              <a:rPr lang="en-US" dirty="0"/>
              <a:t>	ETL processing happens</a:t>
            </a:r>
          </a:p>
          <a:p>
            <a:pPr>
              <a:spcBef>
                <a:spcPts val="600"/>
              </a:spcBef>
            </a:pPr>
            <a:r>
              <a:rPr lang="en-US" dirty="0"/>
              <a:t>This ensures your data never leaves your cloud boundary.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r>
              <a:rPr lang="en-US" dirty="0"/>
              <a:t>Data Plane Responsibilities</a:t>
            </a:r>
          </a:p>
          <a:p>
            <a:pPr>
              <a:spcBef>
                <a:spcPts val="600"/>
              </a:spcBef>
            </a:pPr>
            <a:r>
              <a:rPr lang="en-US" dirty="0"/>
              <a:t>	Running Spark compute clusters</a:t>
            </a:r>
          </a:p>
          <a:p>
            <a:pPr>
              <a:spcBef>
                <a:spcPts val="600"/>
              </a:spcBef>
            </a:pPr>
            <a:r>
              <a:rPr lang="en-US" dirty="0"/>
              <a:t>	Processing ETL / batch / streaming workloads</a:t>
            </a:r>
          </a:p>
          <a:p>
            <a:pPr>
              <a:spcBef>
                <a:spcPts val="600"/>
              </a:spcBef>
            </a:pPr>
            <a:r>
              <a:rPr lang="en-US" dirty="0"/>
              <a:t>	Storing and reading data from:</a:t>
            </a:r>
          </a:p>
          <a:p>
            <a:pPr>
              <a:spcBef>
                <a:spcPts val="600"/>
              </a:spcBef>
            </a:pPr>
            <a:r>
              <a:rPr lang="en-US" dirty="0"/>
              <a:t>	Data Lakes (Delta Lake)</a:t>
            </a:r>
          </a:p>
          <a:p>
            <a:pPr>
              <a:spcBef>
                <a:spcPts val="600"/>
              </a:spcBef>
            </a:pPr>
            <a:r>
              <a:rPr lang="en-US" dirty="0"/>
              <a:t>	Parquet / CSV / JSON</a:t>
            </a:r>
          </a:p>
          <a:p>
            <a:pPr>
              <a:spcBef>
                <a:spcPts val="600"/>
              </a:spcBef>
            </a:pPr>
            <a:r>
              <a:rPr lang="en-US" dirty="0"/>
              <a:t>	External Databases</a:t>
            </a:r>
          </a:p>
          <a:p>
            <a:pPr>
              <a:spcBef>
                <a:spcPts val="600"/>
              </a:spcBef>
            </a:pPr>
            <a:r>
              <a:rPr lang="en-US" dirty="0"/>
              <a:t>	ML training using distributed compute</a:t>
            </a:r>
          </a:p>
          <a:p>
            <a:pPr>
              <a:spcBef>
                <a:spcPts val="600"/>
              </a:spcBef>
            </a:pPr>
            <a:r>
              <a:rPr lang="en-US" dirty="0"/>
              <a:t>	Execution of Databricks SQL queries</a:t>
            </a:r>
          </a:p>
        </p:txBody>
      </p:sp>
    </p:spTree>
    <p:extLst>
      <p:ext uri="{BB962C8B-B14F-4D97-AF65-F5344CB8AC3E}">
        <p14:creationId xmlns:p14="http://schemas.microsoft.com/office/powerpoint/2010/main" val="15517668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76716"/>
            <a:ext cx="106795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/>
              <a:t>What the Data Plane Contains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AE76C4E-10B9-9B06-D8B7-AC5A5A6B74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6591328"/>
              </p:ext>
            </p:extLst>
          </p:nvPr>
        </p:nvGraphicFramePr>
        <p:xfrm>
          <a:off x="612992" y="731520"/>
          <a:ext cx="10131424" cy="2926080"/>
        </p:xfrm>
        <a:graphic>
          <a:graphicData uri="http://schemas.openxmlformats.org/drawingml/2006/table">
            <a:tbl>
              <a:tblPr/>
              <a:tblGrid>
                <a:gridCol w="5065712">
                  <a:extLst>
                    <a:ext uri="{9D8B030D-6E8A-4147-A177-3AD203B41FA5}">
                      <a16:colId xmlns:a16="http://schemas.microsoft.com/office/drawing/2014/main" val="1260138298"/>
                    </a:ext>
                  </a:extLst>
                </a:gridCol>
                <a:gridCol w="5065712">
                  <a:extLst>
                    <a:ext uri="{9D8B030D-6E8A-4147-A177-3AD203B41FA5}">
                      <a16:colId xmlns:a16="http://schemas.microsoft.com/office/drawing/2014/main" val="2126907980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Stored/Executed in Data Plane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8821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Business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✔️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899319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Delta Lake tables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✔️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588714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Clusters (Spark/Photon)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✔️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4487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SQL Warehouse compute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✔️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0348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Unity Catalog–governed tables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✔️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85735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Notebooks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165548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dirty="0"/>
                        <a:t>Metadata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❌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76953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03FD377-933D-2040-7FCD-AEA16F8B2921}"/>
              </a:ext>
            </a:extLst>
          </p:cNvPr>
          <p:cNvSpPr txBox="1"/>
          <p:nvPr/>
        </p:nvSpPr>
        <p:spPr>
          <a:xfrm>
            <a:off x="612992" y="3847838"/>
            <a:ext cx="798236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COMMUNICATION BETWEEN PLANES</a:t>
            </a:r>
          </a:p>
          <a:p>
            <a:endParaRPr lang="en-IN" dirty="0"/>
          </a:p>
          <a:p>
            <a:r>
              <a:rPr lang="en-IN" dirty="0"/>
              <a:t>	</a:t>
            </a:r>
            <a:r>
              <a:rPr lang="en-US" dirty="0"/>
              <a:t>Control Plane sends → “Run this notebook code”</a:t>
            </a:r>
          </a:p>
          <a:p>
            <a:r>
              <a:rPr lang="en-US" dirty="0"/>
              <a:t>	Data Plane executes → Spark/SQL engine</a:t>
            </a:r>
          </a:p>
          <a:p>
            <a:r>
              <a:rPr lang="en-US" dirty="0"/>
              <a:t>	Results (not the full data) return to the Control Plane for display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5938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76716"/>
            <a:ext cx="10679503" cy="6386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/>
              <a:t>What is DBFS?</a:t>
            </a:r>
          </a:p>
          <a:p>
            <a:pPr>
              <a:spcBef>
                <a:spcPts val="600"/>
              </a:spcBef>
            </a:pPr>
            <a:r>
              <a:rPr lang="en-US" dirty="0"/>
              <a:t>	DBFS = Databricks File System</a:t>
            </a:r>
          </a:p>
          <a:p>
            <a:pPr>
              <a:spcBef>
                <a:spcPts val="600"/>
              </a:spcBef>
            </a:pPr>
            <a:r>
              <a:rPr lang="en-US" dirty="0"/>
              <a:t>	A virtual, distributed filesystem built on top of cloud storage:</a:t>
            </a:r>
          </a:p>
          <a:p>
            <a:pPr>
              <a:spcBef>
                <a:spcPts val="600"/>
              </a:spcBef>
            </a:pPr>
            <a:r>
              <a:rPr lang="en-US" dirty="0"/>
              <a:t>		Azure → ADLS Gen2</a:t>
            </a:r>
          </a:p>
          <a:p>
            <a:pPr>
              <a:spcBef>
                <a:spcPts val="600"/>
              </a:spcBef>
            </a:pPr>
            <a:r>
              <a:rPr lang="en-US" dirty="0"/>
              <a:t>		AWS → S3</a:t>
            </a:r>
          </a:p>
          <a:p>
            <a:pPr>
              <a:spcBef>
                <a:spcPts val="600"/>
              </a:spcBef>
            </a:pPr>
            <a:r>
              <a:rPr lang="en-US" dirty="0"/>
              <a:t>		GCP → GCS</a:t>
            </a:r>
          </a:p>
          <a:p>
            <a:pPr>
              <a:spcBef>
                <a:spcPts val="600"/>
              </a:spcBef>
            </a:pPr>
            <a:r>
              <a:rPr lang="en-US" dirty="0"/>
              <a:t>	Provides a POSIX-like interface to cloud data:</a:t>
            </a:r>
          </a:p>
          <a:p>
            <a:pPr>
              <a:spcBef>
                <a:spcPts val="600"/>
              </a:spcBef>
            </a:pPr>
            <a:r>
              <a:rPr lang="en-US" dirty="0"/>
              <a:t>		</a:t>
            </a:r>
            <a:r>
              <a:rPr lang="en-US" dirty="0" err="1"/>
              <a:t>dbfs</a:t>
            </a:r>
            <a:r>
              <a:rPr lang="en-US" dirty="0"/>
              <a:t>:/</a:t>
            </a:r>
            <a:r>
              <a:rPr lang="en-US" dirty="0" err="1"/>
              <a:t>mnt</a:t>
            </a:r>
            <a:r>
              <a:rPr lang="en-US" dirty="0"/>
              <a:t>/data/file.csv</a:t>
            </a:r>
          </a:p>
          <a:p>
            <a:pPr>
              <a:spcBef>
                <a:spcPts val="600"/>
              </a:spcBef>
            </a:pPr>
            <a:r>
              <a:rPr lang="en-US" dirty="0"/>
              <a:t>		/</a:t>
            </a:r>
            <a:r>
              <a:rPr lang="en-US" dirty="0" err="1"/>
              <a:t>dbfs</a:t>
            </a:r>
            <a:r>
              <a:rPr lang="en-US" dirty="0"/>
              <a:t>/</a:t>
            </a:r>
            <a:r>
              <a:rPr lang="en-US" dirty="0" err="1"/>
              <a:t>mnt</a:t>
            </a:r>
            <a:r>
              <a:rPr lang="en-US" dirty="0"/>
              <a:t>/data/file.csv</a:t>
            </a:r>
          </a:p>
          <a:p>
            <a:pPr>
              <a:spcBef>
                <a:spcPts val="600"/>
              </a:spcBef>
            </a:pPr>
            <a:r>
              <a:rPr lang="en-US" dirty="0"/>
              <a:t>Why DBFS Is Important</a:t>
            </a:r>
          </a:p>
          <a:p>
            <a:pPr>
              <a:spcBef>
                <a:spcPts val="600"/>
              </a:spcBef>
            </a:pPr>
            <a:r>
              <a:rPr lang="en-US" dirty="0"/>
              <a:t>	Simplifies reading and writing files from Databricks notebooks</a:t>
            </a:r>
          </a:p>
          <a:p>
            <a:pPr>
              <a:spcBef>
                <a:spcPts val="600"/>
              </a:spcBef>
            </a:pPr>
            <a:r>
              <a:rPr lang="en-US" dirty="0"/>
              <a:t>	Works seamlessly with Spark APIs (CSV, Parquet, Delta)</a:t>
            </a:r>
          </a:p>
          <a:p>
            <a:pPr>
              <a:spcBef>
                <a:spcPts val="600"/>
              </a:spcBef>
            </a:pPr>
            <a:r>
              <a:rPr lang="en-US" dirty="0"/>
              <a:t>	Allows mounting external cloud storage to easier paths</a:t>
            </a:r>
          </a:p>
          <a:p>
            <a:pPr>
              <a:spcBef>
                <a:spcPts val="600"/>
              </a:spcBef>
            </a:pPr>
            <a:r>
              <a:rPr lang="en-US" dirty="0"/>
              <a:t>Enables:</a:t>
            </a:r>
          </a:p>
          <a:p>
            <a:pPr>
              <a:spcBef>
                <a:spcPts val="600"/>
              </a:spcBef>
            </a:pPr>
            <a:r>
              <a:rPr lang="en-US" dirty="0"/>
              <a:t>	ETL processing</a:t>
            </a:r>
          </a:p>
          <a:p>
            <a:pPr>
              <a:spcBef>
                <a:spcPts val="600"/>
              </a:spcBef>
            </a:pPr>
            <a:r>
              <a:rPr lang="en-US" dirty="0"/>
              <a:t>	Machine Learning workflows</a:t>
            </a:r>
          </a:p>
          <a:p>
            <a:pPr>
              <a:spcBef>
                <a:spcPts val="600"/>
              </a:spcBef>
            </a:pPr>
            <a:r>
              <a:rPr lang="en-US" dirty="0"/>
              <a:t>	Storage for temp files &amp; artifacts</a:t>
            </a:r>
          </a:p>
          <a:p>
            <a:pPr>
              <a:spcBef>
                <a:spcPts val="600"/>
              </a:spcBef>
            </a:pPr>
            <a:r>
              <a:rPr lang="en-US" dirty="0"/>
              <a:t>	Notebook datasets and shared files</a:t>
            </a:r>
          </a:p>
        </p:txBody>
      </p:sp>
    </p:spTree>
    <p:extLst>
      <p:ext uri="{BB962C8B-B14F-4D97-AF65-F5344CB8AC3E}">
        <p14:creationId xmlns:p14="http://schemas.microsoft.com/office/powerpoint/2010/main" val="36558638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B4776F-A39D-9538-370A-468FF59D4DA7}"/>
              </a:ext>
            </a:extLst>
          </p:cNvPr>
          <p:cNvSpPr txBox="1"/>
          <p:nvPr/>
        </p:nvSpPr>
        <p:spPr>
          <a:xfrm>
            <a:off x="521552" y="276716"/>
            <a:ext cx="10679503" cy="5924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/>
              <a:t>Components:</a:t>
            </a:r>
          </a:p>
          <a:p>
            <a:pPr>
              <a:spcBef>
                <a:spcPts val="600"/>
              </a:spcBef>
            </a:pPr>
            <a:r>
              <a:rPr lang="en-US" dirty="0"/>
              <a:t>	DBFS Root → Managed by Databricks (temporary storage)</a:t>
            </a:r>
          </a:p>
          <a:p>
            <a:pPr>
              <a:spcBef>
                <a:spcPts val="600"/>
              </a:spcBef>
            </a:pPr>
            <a:r>
              <a:rPr lang="en-US" dirty="0"/>
              <a:t>	</a:t>
            </a:r>
            <a:r>
              <a:rPr lang="en-US" dirty="0" err="1"/>
              <a:t>FileStore</a:t>
            </a:r>
            <a:r>
              <a:rPr lang="en-US" dirty="0"/>
              <a:t> → UI uploads, images, dataset sharing</a:t>
            </a:r>
          </a:p>
          <a:p>
            <a:pPr>
              <a:spcBef>
                <a:spcPts val="600"/>
              </a:spcBef>
            </a:pPr>
            <a:r>
              <a:rPr lang="en-US" dirty="0"/>
              <a:t>	Mount Points → Mapped cloud storage (S3/ADLS/GCS)</a:t>
            </a:r>
          </a:p>
          <a:p>
            <a:pPr>
              <a:spcBef>
                <a:spcPts val="600"/>
              </a:spcBef>
            </a:pPr>
            <a:r>
              <a:rPr lang="en-US" dirty="0"/>
              <a:t>	Local driver path → /</a:t>
            </a:r>
            <a:r>
              <a:rPr lang="en-US" dirty="0" err="1"/>
              <a:t>dbfs</a:t>
            </a:r>
            <a:r>
              <a:rPr lang="en-US" dirty="0"/>
              <a:t>/... for local file access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r>
              <a:rPr lang="en-US" b="1" dirty="0"/>
              <a:t>DBFS Mount Points</a:t>
            </a:r>
          </a:p>
          <a:p>
            <a:r>
              <a:rPr lang="en-US" dirty="0"/>
              <a:t>	Mount external storage for easy access:</a:t>
            </a:r>
          </a:p>
          <a:p>
            <a:pPr>
              <a:spcBef>
                <a:spcPts val="600"/>
              </a:spcBef>
            </a:pPr>
            <a:r>
              <a:rPr lang="en-US" dirty="0"/>
              <a:t>Example	</a:t>
            </a:r>
          </a:p>
          <a:p>
            <a:pPr>
              <a:spcBef>
                <a:spcPts val="600"/>
              </a:spcBef>
            </a:pPr>
            <a:r>
              <a:rPr lang="en-US" dirty="0"/>
              <a:t>	</a:t>
            </a:r>
            <a:r>
              <a:rPr lang="en-US" dirty="0" err="1"/>
              <a:t>dbfs</a:t>
            </a:r>
            <a:r>
              <a:rPr lang="en-US" dirty="0"/>
              <a:t>:/</a:t>
            </a:r>
            <a:r>
              <a:rPr lang="en-US" dirty="0" err="1"/>
              <a:t>mnt</a:t>
            </a:r>
            <a:r>
              <a:rPr lang="en-US" dirty="0"/>
              <a:t>/raw-data</a:t>
            </a:r>
          </a:p>
          <a:p>
            <a:pPr>
              <a:spcBef>
                <a:spcPts val="600"/>
              </a:spcBef>
            </a:pPr>
            <a:r>
              <a:rPr lang="en-US" dirty="0"/>
              <a:t>	</a:t>
            </a:r>
            <a:r>
              <a:rPr lang="en-US" dirty="0" err="1"/>
              <a:t>dbfs</a:t>
            </a:r>
            <a:r>
              <a:rPr lang="en-US" dirty="0"/>
              <a:t>:/</a:t>
            </a:r>
            <a:r>
              <a:rPr lang="en-US" dirty="0" err="1"/>
              <a:t>mnt</a:t>
            </a:r>
            <a:r>
              <a:rPr lang="en-US" dirty="0"/>
              <a:t>/delta/sales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r>
              <a:rPr lang="en-US" dirty="0"/>
              <a:t>Benefits:</a:t>
            </a:r>
          </a:p>
          <a:p>
            <a:pPr lvl="1"/>
            <a:r>
              <a:rPr lang="en-US" dirty="0"/>
              <a:t>Simplifies file operations</a:t>
            </a:r>
          </a:p>
          <a:p>
            <a:r>
              <a:rPr lang="en-US" dirty="0"/>
              <a:t>	Centralized data access</a:t>
            </a:r>
          </a:p>
          <a:p>
            <a:r>
              <a:rPr lang="en-US"/>
              <a:t>	Works </a:t>
            </a:r>
            <a:r>
              <a:rPr lang="en-US" dirty="0"/>
              <a:t>with Spark &amp; ML workflows seamlessly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38709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393192"/>
            <a:ext cx="1182319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What is a Workspace (</a:t>
            </a:r>
            <a:r>
              <a:rPr lang="en-IN" dirty="0" err="1"/>
              <a:t>WorkSpark</a:t>
            </a:r>
            <a:r>
              <a:rPr lang="en-IN" dirty="0"/>
              <a:t>) in Databricks?</a:t>
            </a:r>
          </a:p>
          <a:p>
            <a:endParaRPr lang="en-IN" dirty="0"/>
          </a:p>
          <a:p>
            <a:r>
              <a:rPr lang="en-IN" dirty="0"/>
              <a:t>In Databricks, the Workspace is the main user interface where 	you develop, manage, and collaborate on data engineering, data  science, machine learning, and analytics tasks.</a:t>
            </a:r>
          </a:p>
          <a:p>
            <a:endParaRPr lang="en-IN" dirty="0"/>
          </a:p>
          <a:p>
            <a:r>
              <a:rPr lang="en-IN" dirty="0"/>
              <a:t>Think of it like a virtual office where all tools, notebooks, datasets, clusters, jobs, dashboards, and users come together.</a:t>
            </a:r>
          </a:p>
          <a:p>
            <a:endParaRPr lang="en-IN" dirty="0"/>
          </a:p>
          <a:p>
            <a:r>
              <a:rPr lang="en-IN" dirty="0"/>
              <a:t>What Does the Databricks Workspace Contain?</a:t>
            </a:r>
          </a:p>
          <a:p>
            <a:r>
              <a:rPr lang="en-IN" dirty="0"/>
              <a:t>The workspace consists of the following major components:</a:t>
            </a:r>
          </a:p>
          <a:p>
            <a:endParaRPr lang="en-IN" dirty="0"/>
          </a:p>
          <a:p>
            <a:r>
              <a:rPr lang="en-IN" b="1" dirty="0"/>
              <a:t>Notebooks</a:t>
            </a:r>
          </a:p>
          <a:p>
            <a:r>
              <a:rPr lang="en-IN" dirty="0"/>
              <a:t>	Interactive environment to write Python, SQL, Scala, R, or Markdown.</a:t>
            </a:r>
          </a:p>
          <a:p>
            <a:r>
              <a:rPr lang="en-IN" dirty="0"/>
              <a:t>	Used for ETL pipelines, data analysis, ML </a:t>
            </a:r>
            <a:r>
              <a:rPr lang="en-IN" dirty="0" err="1"/>
              <a:t>modeling</a:t>
            </a:r>
            <a:r>
              <a:rPr lang="en-IN" dirty="0"/>
              <a:t>.</a:t>
            </a:r>
          </a:p>
          <a:p>
            <a:r>
              <a:rPr lang="en-IN" dirty="0"/>
              <a:t>	Supports visualizations, widgets, commands, charts.</a:t>
            </a:r>
          </a:p>
          <a:p>
            <a:endParaRPr lang="en-IN" dirty="0"/>
          </a:p>
          <a:p>
            <a:r>
              <a:rPr lang="en-IN" b="1" dirty="0"/>
              <a:t>Repos (Git Integration)</a:t>
            </a:r>
          </a:p>
          <a:p>
            <a:r>
              <a:rPr lang="en-IN" dirty="0"/>
              <a:t>	Connects workspace with GitHub, GitLab, Azure DevOps, Bitbucket.</a:t>
            </a:r>
          </a:p>
          <a:p>
            <a:r>
              <a:rPr lang="en-IN" dirty="0"/>
              <a:t>	Helps version control your notebooks and code.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09984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393192"/>
            <a:ext cx="1182319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Clusters</a:t>
            </a:r>
          </a:p>
          <a:p>
            <a:r>
              <a:rPr lang="en-IN" dirty="0"/>
              <a:t>	Compute engines where Spark code runs.</a:t>
            </a:r>
          </a:p>
          <a:p>
            <a:r>
              <a:rPr lang="en-IN" dirty="0"/>
              <a:t>	Types:</a:t>
            </a:r>
          </a:p>
          <a:p>
            <a:r>
              <a:rPr lang="en-IN" dirty="0"/>
              <a:t>		Interactive clusters (for notebooks)</a:t>
            </a:r>
          </a:p>
          <a:p>
            <a:r>
              <a:rPr lang="en-IN" dirty="0"/>
              <a:t>		Job clusters (for scheduled workflows)</a:t>
            </a:r>
          </a:p>
          <a:p>
            <a:r>
              <a:rPr lang="en-IN" dirty="0"/>
              <a:t>		High-concurrency clusters</a:t>
            </a:r>
          </a:p>
          <a:p>
            <a:r>
              <a:rPr lang="en-IN" b="1" dirty="0"/>
              <a:t>Jobs</a:t>
            </a:r>
          </a:p>
          <a:p>
            <a:r>
              <a:rPr lang="en-IN" dirty="0"/>
              <a:t>	Workflows to schedule notebooks, JARs, Python scripts.</a:t>
            </a:r>
          </a:p>
          <a:p>
            <a:r>
              <a:rPr lang="en-IN" dirty="0"/>
              <a:t>	Supports:</a:t>
            </a:r>
          </a:p>
          <a:p>
            <a:r>
              <a:rPr lang="en-IN" dirty="0"/>
              <a:t>		Multi-task workflows</a:t>
            </a:r>
          </a:p>
          <a:p>
            <a:r>
              <a:rPr lang="en-IN" dirty="0"/>
              <a:t>		Notifications</a:t>
            </a:r>
          </a:p>
          <a:p>
            <a:r>
              <a:rPr lang="en-IN" dirty="0"/>
              <a:t>		Retry policies</a:t>
            </a:r>
          </a:p>
          <a:p>
            <a:endParaRPr lang="en-IN" dirty="0"/>
          </a:p>
          <a:p>
            <a:r>
              <a:rPr lang="en-US" b="1" dirty="0"/>
              <a:t>DBFS (Databricks File System)</a:t>
            </a:r>
          </a:p>
          <a:p>
            <a:r>
              <a:rPr lang="en-US" dirty="0"/>
              <a:t>	Distributed file storage built on top of cloud storage.</a:t>
            </a:r>
          </a:p>
          <a:p>
            <a:r>
              <a:rPr lang="en-US" dirty="0"/>
              <a:t>	Used to store:</a:t>
            </a:r>
          </a:p>
          <a:p>
            <a:r>
              <a:rPr lang="en-US" dirty="0"/>
              <a:t>		Data files</a:t>
            </a:r>
          </a:p>
          <a:p>
            <a:r>
              <a:rPr lang="en-US" dirty="0"/>
              <a:t>		Delta tables</a:t>
            </a:r>
          </a:p>
          <a:p>
            <a:r>
              <a:rPr lang="en-US" dirty="0"/>
              <a:t>		Libraries</a:t>
            </a:r>
          </a:p>
          <a:p>
            <a:r>
              <a:rPr lang="en-US" dirty="0"/>
              <a:t>		Model files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14637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393192"/>
            <a:ext cx="11823192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Unity </a:t>
            </a:r>
            <a:r>
              <a:rPr lang="en-IN" dirty="0" err="1"/>
              <a:t>Catalog</a:t>
            </a:r>
            <a:r>
              <a:rPr lang="en-IN" dirty="0"/>
              <a:t> (If enabled)</a:t>
            </a:r>
          </a:p>
          <a:p>
            <a:r>
              <a:rPr lang="en-IN" dirty="0"/>
              <a:t>	Central governance layer.</a:t>
            </a:r>
          </a:p>
          <a:p>
            <a:r>
              <a:rPr lang="en-IN" dirty="0"/>
              <a:t>	Manages:</a:t>
            </a:r>
          </a:p>
          <a:p>
            <a:r>
              <a:rPr lang="en-IN" dirty="0"/>
              <a:t>		Users</a:t>
            </a:r>
          </a:p>
          <a:p>
            <a:r>
              <a:rPr lang="en-IN" dirty="0"/>
              <a:t>		Permissions</a:t>
            </a:r>
          </a:p>
          <a:p>
            <a:r>
              <a:rPr lang="en-IN" dirty="0"/>
              <a:t>		Data lineage</a:t>
            </a:r>
          </a:p>
          <a:p>
            <a:r>
              <a:rPr lang="en-IN" dirty="0"/>
              <a:t>		Tables, schemas, volumes</a:t>
            </a:r>
          </a:p>
          <a:p>
            <a:r>
              <a:rPr lang="en-IN" dirty="0"/>
              <a:t>		External storage locations</a:t>
            </a:r>
          </a:p>
          <a:p>
            <a:endParaRPr lang="en-IN" dirty="0"/>
          </a:p>
          <a:p>
            <a:r>
              <a:rPr lang="en-IN" dirty="0" err="1"/>
              <a:t>MLflow</a:t>
            </a:r>
            <a:endParaRPr lang="en-IN" dirty="0"/>
          </a:p>
          <a:p>
            <a:r>
              <a:rPr lang="en-IN" dirty="0"/>
              <a:t>	Used for:</a:t>
            </a:r>
          </a:p>
          <a:p>
            <a:r>
              <a:rPr lang="en-IN" dirty="0"/>
              <a:t>		Experiment tracking</a:t>
            </a:r>
          </a:p>
          <a:p>
            <a:r>
              <a:rPr lang="en-IN" dirty="0"/>
              <a:t>		Model versioning</a:t>
            </a:r>
          </a:p>
          <a:p>
            <a:r>
              <a:rPr lang="en-IN" dirty="0"/>
              <a:t>		Model registry</a:t>
            </a:r>
          </a:p>
          <a:p>
            <a:r>
              <a:rPr lang="en-IN" dirty="0"/>
              <a:t>		Deploying ML models</a:t>
            </a:r>
          </a:p>
          <a:p>
            <a:endParaRPr lang="en-IN" dirty="0"/>
          </a:p>
          <a:p>
            <a:r>
              <a:rPr lang="en-IN" dirty="0"/>
              <a:t>Libraries</a:t>
            </a:r>
          </a:p>
          <a:p>
            <a:r>
              <a:rPr lang="en-IN" dirty="0"/>
              <a:t>	External packages for clusters:</a:t>
            </a:r>
          </a:p>
          <a:p>
            <a:r>
              <a:rPr lang="en-IN" dirty="0"/>
              <a:t>	Python wheels</a:t>
            </a:r>
          </a:p>
          <a:p>
            <a:r>
              <a:rPr lang="en-IN" dirty="0"/>
              <a:t>	JAR files</a:t>
            </a:r>
          </a:p>
          <a:p>
            <a:r>
              <a:rPr lang="en-IN" dirty="0"/>
              <a:t>	Maven libraries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89393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393192"/>
            <a:ext cx="1182319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Dashboards (Databricks SQL)</a:t>
            </a:r>
          </a:p>
          <a:p>
            <a:r>
              <a:rPr lang="en-IN" dirty="0"/>
              <a:t>	Visual analytics layer.</a:t>
            </a:r>
          </a:p>
          <a:p>
            <a:r>
              <a:rPr lang="en-IN" dirty="0"/>
              <a:t>	Create dashboards using SQL queries.</a:t>
            </a:r>
          </a:p>
          <a:p>
            <a:r>
              <a:rPr lang="en-IN" dirty="0"/>
              <a:t>	Connects to:</a:t>
            </a:r>
          </a:p>
          <a:p>
            <a:r>
              <a:rPr lang="en-IN" dirty="0"/>
              <a:t>		Lakehouse tables</a:t>
            </a:r>
          </a:p>
          <a:p>
            <a:r>
              <a:rPr lang="en-IN" dirty="0"/>
              <a:t>		Delta tables</a:t>
            </a:r>
          </a:p>
          <a:p>
            <a:r>
              <a:rPr lang="en-IN" dirty="0"/>
              <a:t>		External data sources</a:t>
            </a:r>
          </a:p>
          <a:p>
            <a:endParaRPr lang="en-IN" dirty="0"/>
          </a:p>
          <a:p>
            <a:r>
              <a:rPr lang="en-IN" b="1" dirty="0"/>
              <a:t>Data Explorer</a:t>
            </a:r>
          </a:p>
          <a:p>
            <a:r>
              <a:rPr lang="en-IN" dirty="0"/>
              <a:t>	Browser for:</a:t>
            </a:r>
          </a:p>
          <a:p>
            <a:r>
              <a:rPr lang="en-IN" dirty="0"/>
              <a:t>		</a:t>
            </a:r>
            <a:r>
              <a:rPr lang="en-IN" dirty="0" err="1"/>
              <a:t>Catalogs</a:t>
            </a:r>
            <a:endParaRPr lang="en-IN" dirty="0"/>
          </a:p>
          <a:p>
            <a:r>
              <a:rPr lang="en-IN" dirty="0"/>
              <a:t>		Schemas</a:t>
            </a:r>
          </a:p>
          <a:p>
            <a:r>
              <a:rPr lang="en-IN" dirty="0"/>
              <a:t>		Tables</a:t>
            </a:r>
          </a:p>
          <a:p>
            <a:r>
              <a:rPr lang="en-IN" dirty="0"/>
              <a:t>		Views</a:t>
            </a:r>
          </a:p>
          <a:p>
            <a:r>
              <a:rPr lang="en-IN" dirty="0"/>
              <a:t>		Table details (schema, history, permissions)</a:t>
            </a:r>
          </a:p>
          <a:p>
            <a:endParaRPr lang="en-IN" dirty="0"/>
          </a:p>
          <a:p>
            <a:r>
              <a:rPr lang="en-IN" b="1" dirty="0"/>
              <a:t> SQL Warehouses</a:t>
            </a:r>
          </a:p>
          <a:p>
            <a:r>
              <a:rPr lang="en-IN" dirty="0"/>
              <a:t>	Dedicated SQL compute for BI workloads.</a:t>
            </a:r>
          </a:p>
          <a:p>
            <a:r>
              <a:rPr lang="en-IN" dirty="0"/>
              <a:t>	Used in Databricks SQL workspace.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3407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393192"/>
            <a:ext cx="1182319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What is a </a:t>
            </a:r>
            <a:r>
              <a:rPr lang="en-IN" b="1" dirty="0" err="1"/>
              <a:t>Catalog</a:t>
            </a:r>
            <a:r>
              <a:rPr lang="en-IN" b="1" dirty="0"/>
              <a:t> in Databricks?</a:t>
            </a:r>
          </a:p>
          <a:p>
            <a:endParaRPr lang="en-IN" dirty="0"/>
          </a:p>
          <a:p>
            <a:r>
              <a:rPr lang="en-IN" dirty="0"/>
              <a:t>A </a:t>
            </a:r>
            <a:r>
              <a:rPr lang="en-IN" dirty="0" err="1"/>
              <a:t>Catalog</a:t>
            </a:r>
            <a:r>
              <a:rPr lang="en-IN" dirty="0"/>
              <a:t> in Databricks is the top-level container for organizing data in the Databricks Lakehouse.</a:t>
            </a:r>
          </a:p>
          <a:p>
            <a:endParaRPr lang="en-IN" dirty="0"/>
          </a:p>
          <a:p>
            <a:r>
              <a:rPr lang="en-IN" dirty="0"/>
              <a:t>Think of a </a:t>
            </a:r>
            <a:r>
              <a:rPr lang="en-IN" dirty="0" err="1"/>
              <a:t>Catalog</a:t>
            </a:r>
            <a:r>
              <a:rPr lang="en-IN" dirty="0"/>
              <a:t> like a drive in a computer (e.g., C:, D:)</a:t>
            </a:r>
          </a:p>
          <a:p>
            <a:r>
              <a:rPr lang="en-IN" dirty="0"/>
              <a:t>Inside a </a:t>
            </a:r>
            <a:r>
              <a:rPr lang="en-IN" dirty="0" err="1"/>
              <a:t>catalog</a:t>
            </a:r>
            <a:r>
              <a:rPr lang="en-IN" dirty="0"/>
              <a:t>, you have Schemas, and inside schemas you have Tables / Views / Volumes.</a:t>
            </a:r>
          </a:p>
          <a:p>
            <a:endParaRPr lang="en-IN" dirty="0"/>
          </a:p>
          <a:p>
            <a:r>
              <a:rPr lang="en-IN" dirty="0"/>
              <a:t>So the hierarchy is:</a:t>
            </a:r>
          </a:p>
          <a:p>
            <a:r>
              <a:rPr lang="en-IN" dirty="0" err="1"/>
              <a:t>Catalog</a:t>
            </a:r>
            <a:r>
              <a:rPr lang="en-IN" dirty="0"/>
              <a:t> </a:t>
            </a:r>
          </a:p>
          <a:p>
            <a:r>
              <a:rPr lang="en-IN" dirty="0"/>
              <a:t>   └── Schema (Database)</a:t>
            </a:r>
          </a:p>
          <a:p>
            <a:r>
              <a:rPr lang="en-IN" dirty="0"/>
              <a:t>         └── Tables / Views / Functions / Volumes</a:t>
            </a:r>
          </a:p>
          <a:p>
            <a:endParaRPr lang="en-IN" dirty="0"/>
          </a:p>
          <a:p>
            <a:r>
              <a:rPr lang="en-US" b="1" dirty="0"/>
              <a:t>Why does Databricks use catalogs?</a:t>
            </a:r>
          </a:p>
          <a:p>
            <a:r>
              <a:rPr lang="en-US" dirty="0"/>
              <a:t>To provide:</a:t>
            </a:r>
          </a:p>
          <a:p>
            <a:r>
              <a:rPr lang="en-US" dirty="0"/>
              <a:t>	Central management of all data</a:t>
            </a:r>
          </a:p>
          <a:p>
            <a:r>
              <a:rPr lang="en-US" dirty="0"/>
              <a:t>	Governance (permissions, data access control)</a:t>
            </a:r>
          </a:p>
          <a:p>
            <a:r>
              <a:rPr lang="en-US" dirty="0"/>
              <a:t>	Data lineage (tracking)</a:t>
            </a:r>
          </a:p>
          <a:p>
            <a:endParaRPr lang="en-US" dirty="0"/>
          </a:p>
          <a:p>
            <a:r>
              <a:rPr lang="en-US" dirty="0"/>
              <a:t>A single place to manage tables across teams and projects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08652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393192"/>
            <a:ext cx="1182319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Types of </a:t>
            </a:r>
            <a:r>
              <a:rPr lang="en-IN" b="1" dirty="0" err="1"/>
              <a:t>Catalogs</a:t>
            </a:r>
            <a:endParaRPr lang="en-IN" b="1" dirty="0"/>
          </a:p>
          <a:p>
            <a:r>
              <a:rPr lang="en-IN" dirty="0"/>
              <a:t>Databricks provides two types of </a:t>
            </a:r>
            <a:r>
              <a:rPr lang="en-IN" dirty="0" err="1"/>
              <a:t>catalogs</a:t>
            </a:r>
            <a:r>
              <a:rPr lang="en-IN" dirty="0"/>
              <a:t>:</a:t>
            </a:r>
          </a:p>
          <a:p>
            <a:r>
              <a:rPr lang="en-IN" dirty="0"/>
              <a:t>	Unity </a:t>
            </a:r>
            <a:r>
              <a:rPr lang="en-IN" dirty="0" err="1"/>
              <a:t>Catalog</a:t>
            </a:r>
            <a:r>
              <a:rPr lang="en-IN" dirty="0"/>
              <a:t> (UC) </a:t>
            </a:r>
            <a:r>
              <a:rPr lang="en-IN" dirty="0" err="1"/>
              <a:t>catalogs</a:t>
            </a:r>
            <a:endParaRPr lang="en-IN" dirty="0"/>
          </a:p>
          <a:p>
            <a:r>
              <a:rPr lang="en-IN" dirty="0"/>
              <a:t>	These are </a:t>
            </a:r>
            <a:r>
              <a:rPr lang="en-IN" dirty="0" err="1"/>
              <a:t>catalogs</a:t>
            </a:r>
            <a:r>
              <a:rPr lang="en-IN" dirty="0"/>
              <a:t> created and governed by Unity </a:t>
            </a:r>
            <a:r>
              <a:rPr lang="en-IN" dirty="0" err="1"/>
              <a:t>Catalog</a:t>
            </a:r>
            <a:r>
              <a:rPr lang="en-IN" dirty="0"/>
              <a:t>.</a:t>
            </a:r>
          </a:p>
          <a:p>
            <a:endParaRPr lang="en-IN" dirty="0"/>
          </a:p>
          <a:p>
            <a:r>
              <a:rPr lang="en-IN" b="1" dirty="0"/>
              <a:t>Examples:</a:t>
            </a:r>
          </a:p>
          <a:p>
            <a:r>
              <a:rPr lang="en-IN" dirty="0"/>
              <a:t>	main</a:t>
            </a:r>
          </a:p>
          <a:p>
            <a:r>
              <a:rPr lang="en-IN" dirty="0"/>
              <a:t>	sandbox</a:t>
            </a:r>
          </a:p>
          <a:p>
            <a:r>
              <a:rPr lang="en-IN" dirty="0"/>
              <a:t>	</a:t>
            </a:r>
            <a:r>
              <a:rPr lang="en-IN" dirty="0" err="1"/>
              <a:t>finance_catalog</a:t>
            </a:r>
            <a:endParaRPr lang="en-IN" dirty="0"/>
          </a:p>
          <a:p>
            <a:r>
              <a:rPr lang="en-IN" dirty="0"/>
              <a:t>	</a:t>
            </a:r>
            <a:r>
              <a:rPr lang="en-IN" dirty="0" err="1"/>
              <a:t>Marketing_catalog</a:t>
            </a:r>
            <a:endParaRPr lang="en-IN" dirty="0"/>
          </a:p>
          <a:p>
            <a:endParaRPr lang="en-IN" dirty="0"/>
          </a:p>
          <a:p>
            <a:r>
              <a:rPr lang="en-IN" b="1" dirty="0"/>
              <a:t>These </a:t>
            </a:r>
            <a:r>
              <a:rPr lang="en-IN" b="1" dirty="0" err="1"/>
              <a:t>catalogs</a:t>
            </a:r>
            <a:r>
              <a:rPr lang="en-IN" b="1" dirty="0"/>
              <a:t> support:</a:t>
            </a:r>
          </a:p>
          <a:p>
            <a:r>
              <a:rPr lang="en-IN" dirty="0"/>
              <a:t>	Row/column-level access control</a:t>
            </a:r>
          </a:p>
          <a:p>
            <a:r>
              <a:rPr lang="en-IN" dirty="0"/>
              <a:t>	Audit logs</a:t>
            </a:r>
          </a:p>
          <a:p>
            <a:r>
              <a:rPr lang="en-IN" dirty="0"/>
              <a:t>	Lineage tracking</a:t>
            </a:r>
          </a:p>
          <a:p>
            <a:r>
              <a:rPr lang="en-IN" dirty="0"/>
              <a:t>	External locations</a:t>
            </a:r>
          </a:p>
          <a:p>
            <a:r>
              <a:rPr lang="en-IN" dirty="0"/>
              <a:t>	Volumes</a:t>
            </a:r>
          </a:p>
          <a:p>
            <a:r>
              <a:rPr lang="en-IN" dirty="0"/>
              <a:t>	Managed &amp; external tables</a:t>
            </a:r>
          </a:p>
          <a:p>
            <a:endParaRPr lang="en-IN" dirty="0"/>
          </a:p>
          <a:p>
            <a:r>
              <a:rPr lang="en-IN" dirty="0"/>
              <a:t>This is the recommended modern </a:t>
            </a:r>
            <a:r>
              <a:rPr lang="en-IN" dirty="0" err="1"/>
              <a:t>catalog</a:t>
            </a:r>
            <a:r>
              <a:rPr lang="en-IN" dirty="0"/>
              <a:t> type.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84081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393192"/>
            <a:ext cx="11823192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Hive </a:t>
            </a:r>
            <a:r>
              <a:rPr lang="en-IN" b="1" dirty="0" err="1"/>
              <a:t>Metastore</a:t>
            </a:r>
            <a:r>
              <a:rPr lang="en-IN" b="1" dirty="0"/>
              <a:t> </a:t>
            </a:r>
            <a:r>
              <a:rPr lang="en-IN" b="1" dirty="0" err="1"/>
              <a:t>catalog</a:t>
            </a:r>
            <a:r>
              <a:rPr lang="en-IN" b="1" dirty="0"/>
              <a:t> (</a:t>
            </a:r>
            <a:r>
              <a:rPr lang="en-IN" b="1" dirty="0" err="1"/>
              <a:t>hive_metastore</a:t>
            </a:r>
            <a:r>
              <a:rPr lang="en-IN" b="1" dirty="0"/>
              <a:t>)</a:t>
            </a:r>
          </a:p>
          <a:p>
            <a:r>
              <a:rPr lang="en-IN" dirty="0"/>
              <a:t>	This is the old (legacy) storage </a:t>
            </a:r>
            <a:r>
              <a:rPr lang="en-IN" dirty="0" err="1"/>
              <a:t>metastore</a:t>
            </a:r>
            <a:r>
              <a:rPr lang="en-IN" dirty="0"/>
              <a:t>.</a:t>
            </a:r>
          </a:p>
          <a:p>
            <a:r>
              <a:rPr lang="en-IN" dirty="0"/>
              <a:t>	</a:t>
            </a:r>
          </a:p>
          <a:p>
            <a:r>
              <a:rPr lang="en-IN" b="1" dirty="0" err="1"/>
              <a:t>hive_metastore</a:t>
            </a:r>
            <a:endParaRPr lang="en-IN" b="1" dirty="0"/>
          </a:p>
          <a:p>
            <a:r>
              <a:rPr lang="en-IN" b="1" dirty="0"/>
              <a:t>Limitations:</a:t>
            </a:r>
          </a:p>
          <a:p>
            <a:r>
              <a:rPr lang="en-IN" dirty="0"/>
              <a:t>	No fine-grained access control</a:t>
            </a:r>
          </a:p>
          <a:p>
            <a:r>
              <a:rPr lang="en-IN" dirty="0"/>
              <a:t>	No lineage</a:t>
            </a:r>
          </a:p>
          <a:p>
            <a:r>
              <a:rPr lang="en-IN" dirty="0"/>
              <a:t>	No external volumes</a:t>
            </a:r>
          </a:p>
          <a:p>
            <a:r>
              <a:rPr lang="en-IN" dirty="0"/>
              <a:t>	Weaker governance</a:t>
            </a:r>
          </a:p>
          <a:p>
            <a:r>
              <a:rPr lang="en-IN" dirty="0"/>
              <a:t>	Not allowed in many enterprises</a:t>
            </a:r>
          </a:p>
          <a:p>
            <a:r>
              <a:rPr lang="en-IN" dirty="0"/>
              <a:t>	Unity </a:t>
            </a:r>
            <a:r>
              <a:rPr lang="en-IN" dirty="0" err="1"/>
              <a:t>Catalog</a:t>
            </a:r>
            <a:r>
              <a:rPr lang="en-IN" dirty="0"/>
              <a:t> replaces this in modern setups.</a:t>
            </a:r>
          </a:p>
          <a:p>
            <a:endParaRPr lang="en-IN" dirty="0"/>
          </a:p>
          <a:p>
            <a:r>
              <a:rPr lang="en-IN" b="1" dirty="0" err="1"/>
              <a:t>Catalog</a:t>
            </a:r>
            <a:r>
              <a:rPr lang="en-IN" b="1" dirty="0"/>
              <a:t> Structure Example</a:t>
            </a:r>
          </a:p>
          <a:p>
            <a:r>
              <a:rPr lang="en-IN" dirty="0"/>
              <a:t>main                            ← </a:t>
            </a:r>
            <a:r>
              <a:rPr lang="en-IN" dirty="0" err="1"/>
              <a:t>catalog</a:t>
            </a:r>
            <a:endParaRPr lang="en-IN" dirty="0"/>
          </a:p>
          <a:p>
            <a:r>
              <a:rPr lang="en-IN" dirty="0"/>
              <a:t> └── default                    ← schema</a:t>
            </a:r>
          </a:p>
          <a:p>
            <a:r>
              <a:rPr lang="en-IN" dirty="0"/>
              <a:t>      └── customers             ← table</a:t>
            </a:r>
          </a:p>
          <a:p>
            <a:r>
              <a:rPr lang="en-IN" dirty="0"/>
              <a:t>      └── orders                ← table</a:t>
            </a:r>
          </a:p>
          <a:p>
            <a:r>
              <a:rPr lang="en-IN" dirty="0"/>
              <a:t>      └── sales                 ← table</a:t>
            </a:r>
          </a:p>
          <a:p>
            <a:r>
              <a:rPr lang="en-IN" dirty="0"/>
              <a:t> └── bronze                     ← schema</a:t>
            </a:r>
          </a:p>
          <a:p>
            <a:r>
              <a:rPr lang="en-IN" dirty="0"/>
              <a:t> └── silver                     ← schema</a:t>
            </a:r>
          </a:p>
          <a:p>
            <a:r>
              <a:rPr lang="en-IN" dirty="0"/>
              <a:t> └── gold                       ← schema</a:t>
            </a: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6368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393192"/>
            <a:ext cx="11823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 CATALOG vs WORKSPACE in DATABRICKS</a:t>
            </a:r>
          </a:p>
          <a:p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2CBA35-5A44-7FB8-AAC3-B12105981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59021"/>
              </p:ext>
            </p:extLst>
          </p:nvPr>
        </p:nvGraphicFramePr>
        <p:xfrm>
          <a:off x="469578" y="1039523"/>
          <a:ext cx="11280462" cy="3686428"/>
        </p:xfrm>
        <a:graphic>
          <a:graphicData uri="http://schemas.openxmlformats.org/drawingml/2006/table">
            <a:tbl>
              <a:tblPr/>
              <a:tblGrid>
                <a:gridCol w="1854109">
                  <a:extLst>
                    <a:ext uri="{9D8B030D-6E8A-4147-A177-3AD203B41FA5}">
                      <a16:colId xmlns:a16="http://schemas.microsoft.com/office/drawing/2014/main" val="3055789375"/>
                    </a:ext>
                  </a:extLst>
                </a:gridCol>
                <a:gridCol w="4836065">
                  <a:extLst>
                    <a:ext uri="{9D8B030D-6E8A-4147-A177-3AD203B41FA5}">
                      <a16:colId xmlns:a16="http://schemas.microsoft.com/office/drawing/2014/main" val="1867429723"/>
                    </a:ext>
                  </a:extLst>
                </a:gridCol>
                <a:gridCol w="4590288">
                  <a:extLst>
                    <a:ext uri="{9D8B030D-6E8A-4147-A177-3AD203B41FA5}">
                      <a16:colId xmlns:a16="http://schemas.microsoft.com/office/drawing/2014/main" val="4226386651"/>
                    </a:ext>
                  </a:extLst>
                </a:gridCol>
              </a:tblGrid>
              <a:tr h="235462">
                <a:tc>
                  <a:txBody>
                    <a:bodyPr/>
                    <a:lstStyle/>
                    <a:p>
                      <a:r>
                        <a:rPr lang="en-IN" sz="1400" b="1"/>
                        <a:t>Feature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/>
                        <a:t>Catalog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/>
                        <a:t>Workspace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4185609"/>
                  </a:ext>
                </a:extLst>
              </a:tr>
              <a:tr h="765252">
                <a:tc>
                  <a:txBody>
                    <a:bodyPr/>
                    <a:lstStyle/>
                    <a:p>
                      <a:r>
                        <a:rPr lang="en-IN" sz="1400" b="1"/>
                        <a:t>Definition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A data container that stores and organizes tables, schemas, views, and files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The user interface environment where you develop notebooks, run jobs, manage clusters, and collaborate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711398"/>
                  </a:ext>
                </a:extLst>
              </a:tr>
              <a:tr h="412059">
                <a:tc>
                  <a:txBody>
                    <a:bodyPr/>
                    <a:lstStyle/>
                    <a:p>
                      <a:r>
                        <a:rPr lang="en-IN" sz="1400" b="1"/>
                        <a:t>Purpose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/>
                        <a:t>Manage data governance (tables, schemas, permissions)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Manage development, compute, users, notebooks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5749362"/>
                  </a:ext>
                </a:extLst>
              </a:tr>
              <a:tr h="588655">
                <a:tc>
                  <a:txBody>
                    <a:bodyPr/>
                    <a:lstStyle/>
                    <a:p>
                      <a:r>
                        <a:rPr lang="en-IN" sz="1400" b="1"/>
                        <a:t>What it contains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/>
                        <a:t>Catalog → Schemas → Tables/Views/Volumes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Notebooks, clusters, jobs, dashboards, repos, Delta tables, </a:t>
                      </a:r>
                      <a:r>
                        <a:rPr lang="en-US" sz="1400" b="1" dirty="0" err="1"/>
                        <a:t>MLflow</a:t>
                      </a:r>
                      <a:endParaRPr lang="en-US" sz="1400" b="1" dirty="0"/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5454016"/>
                  </a:ext>
                </a:extLst>
              </a:tr>
              <a:tr h="412059">
                <a:tc>
                  <a:txBody>
                    <a:bodyPr/>
                    <a:lstStyle/>
                    <a:p>
                      <a:r>
                        <a:rPr lang="en-IN" sz="1400" b="1"/>
                        <a:t>Security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Fine-grained access control (Unity Catalog)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User/workspace-level permissions (folders, notebooks)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8225425"/>
                  </a:ext>
                </a:extLst>
              </a:tr>
              <a:tr h="412059">
                <a:tc>
                  <a:txBody>
                    <a:bodyPr/>
                    <a:lstStyle/>
                    <a:p>
                      <a:r>
                        <a:rPr lang="en-IN" sz="1400" b="1"/>
                        <a:t>Scope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/>
                        <a:t>Controls data access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/>
                        <a:t>Controls compute and development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6841500"/>
                  </a:ext>
                </a:extLst>
              </a:tr>
              <a:tr h="412059">
                <a:tc>
                  <a:txBody>
                    <a:bodyPr/>
                    <a:lstStyle/>
                    <a:p>
                      <a:r>
                        <a:rPr lang="en-IN" sz="1400" b="1"/>
                        <a:t>Example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main, hive_metastore, catalog1, sales_data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/>
                        <a:t>Workspace folders, notebooks, clusters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8565072"/>
                  </a:ext>
                </a:extLst>
              </a:tr>
              <a:tr h="412059">
                <a:tc>
                  <a:txBody>
                    <a:bodyPr/>
                    <a:lstStyle/>
                    <a:p>
                      <a:r>
                        <a:rPr lang="en-IN" sz="1400" b="1"/>
                        <a:t>Managed by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b="1"/>
                        <a:t>Unity Catalog (data governance layer)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Databricks workspace UI and admin settings</a:t>
                      </a:r>
                    </a:p>
                  </a:txBody>
                  <a:tcPr marL="58866" marR="58866" marT="29433" marB="294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25257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65415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512064"/>
            <a:ext cx="11823192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Schema Enforcement (Also called </a:t>
            </a:r>
            <a:r>
              <a:rPr lang="en-IN" b="1" i="1" dirty="0"/>
              <a:t>Schema Validation</a:t>
            </a:r>
            <a:r>
              <a:rPr lang="en-IN" b="1" dirty="0"/>
              <a:t>)</a:t>
            </a:r>
          </a:p>
          <a:p>
            <a:pPr>
              <a:spcBef>
                <a:spcPts val="600"/>
              </a:spcBef>
            </a:pPr>
            <a:r>
              <a:rPr lang="en-IN" dirty="0"/>
              <a:t>Schema Enforcement ensures that </a:t>
            </a:r>
            <a:r>
              <a:rPr lang="en-IN" b="1" dirty="0"/>
              <a:t>incoming data must follow the table schema</a:t>
            </a:r>
            <a:r>
              <a:rPr lang="en-IN" dirty="0"/>
              <a:t>.</a:t>
            </a:r>
            <a:br>
              <a:rPr lang="en-IN" dirty="0"/>
            </a:br>
            <a:r>
              <a:rPr lang="en-IN" dirty="0"/>
              <a:t>If new data has:</a:t>
            </a:r>
          </a:p>
          <a:p>
            <a:pPr>
              <a:spcBef>
                <a:spcPts val="600"/>
              </a:spcBef>
            </a:pPr>
            <a:r>
              <a:rPr lang="en-IN" dirty="0"/>
              <a:t>	Missing columns</a:t>
            </a:r>
            <a:br>
              <a:rPr lang="en-IN" dirty="0"/>
            </a:br>
            <a:r>
              <a:rPr lang="en-IN" dirty="0"/>
              <a:t>	Extra columns</a:t>
            </a:r>
            <a:br>
              <a:rPr lang="en-IN" dirty="0"/>
            </a:br>
            <a:r>
              <a:rPr lang="en-IN" dirty="0"/>
              <a:t>	Wrong data types</a:t>
            </a:r>
          </a:p>
          <a:p>
            <a:pPr>
              <a:spcBef>
                <a:spcPts val="600"/>
              </a:spcBef>
            </a:pPr>
            <a:r>
              <a:rPr lang="en-IN" dirty="0"/>
              <a:t>Delta Lake </a:t>
            </a:r>
            <a:r>
              <a:rPr lang="en-IN" b="1" dirty="0"/>
              <a:t>rejects the write operation</a:t>
            </a:r>
            <a:r>
              <a:rPr lang="en-IN" dirty="0"/>
              <a:t> to prevent corrupt or inconsistent data.</a:t>
            </a:r>
          </a:p>
          <a:p>
            <a:pPr>
              <a:spcBef>
                <a:spcPts val="600"/>
              </a:spcBef>
            </a:pPr>
            <a:r>
              <a:rPr lang="en-US" dirty="0"/>
              <a:t>Example</a:t>
            </a:r>
          </a:p>
          <a:p>
            <a:pPr>
              <a:spcBef>
                <a:spcPts val="600"/>
              </a:spcBef>
            </a:pPr>
            <a:r>
              <a:rPr lang="en-US" dirty="0"/>
              <a:t>If your Delta table has:</a:t>
            </a:r>
          </a:p>
          <a:p>
            <a:pPr>
              <a:spcBef>
                <a:spcPts val="600"/>
              </a:spcBef>
            </a:pPr>
            <a:r>
              <a:rPr lang="en-US" dirty="0"/>
              <a:t>	id INT, name STRING, salary DOUBLE</a:t>
            </a:r>
          </a:p>
          <a:p>
            <a:pPr>
              <a:spcBef>
                <a:spcPts val="600"/>
              </a:spcBef>
            </a:pPr>
            <a:r>
              <a:rPr lang="en-US" dirty="0"/>
              <a:t>and you try to append:</a:t>
            </a:r>
          </a:p>
          <a:p>
            <a:pPr>
              <a:spcBef>
                <a:spcPts val="600"/>
              </a:spcBef>
            </a:pPr>
            <a:r>
              <a:rPr lang="en-US" dirty="0"/>
              <a:t>	{id: "</a:t>
            </a:r>
            <a:r>
              <a:rPr lang="en-US" dirty="0" err="1"/>
              <a:t>abc</a:t>
            </a:r>
            <a:r>
              <a:rPr lang="en-US" dirty="0"/>
              <a:t>", name: "Ravi", salary: 50000}</a:t>
            </a:r>
          </a:p>
          <a:p>
            <a:pPr>
              <a:spcBef>
                <a:spcPts val="600"/>
              </a:spcBef>
            </a:pPr>
            <a:r>
              <a:rPr lang="en-US" dirty="0"/>
              <a:t>The write fails because id must be INT.</a:t>
            </a:r>
          </a:p>
          <a:p>
            <a:pPr>
              <a:spcBef>
                <a:spcPts val="600"/>
              </a:spcBef>
            </a:pPr>
            <a:r>
              <a:rPr lang="en-US" b="1" dirty="0"/>
              <a:t>Purpose</a:t>
            </a:r>
          </a:p>
          <a:p>
            <a:pPr>
              <a:spcBef>
                <a:spcPts val="600"/>
              </a:spcBef>
            </a:pPr>
            <a:r>
              <a:rPr lang="en-US" dirty="0"/>
              <a:t>	Prevents bad data from entering the table</a:t>
            </a:r>
          </a:p>
          <a:p>
            <a:pPr>
              <a:spcBef>
                <a:spcPts val="600"/>
              </a:spcBef>
            </a:pPr>
            <a:r>
              <a:rPr lang="en-US" dirty="0"/>
              <a:t>	Maintains schema consistency</a:t>
            </a:r>
          </a:p>
          <a:p>
            <a:pPr>
              <a:spcBef>
                <a:spcPts val="600"/>
              </a:spcBef>
            </a:pPr>
            <a:r>
              <a:rPr lang="en-US" dirty="0"/>
              <a:t>	Ensures reliable analytics</a:t>
            </a:r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6667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512064"/>
            <a:ext cx="11823192" cy="4970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Schema Evolution</a:t>
            </a:r>
            <a:endParaRPr lang="en-US" b="1" dirty="0"/>
          </a:p>
          <a:p>
            <a:pPr>
              <a:spcBef>
                <a:spcPts val="600"/>
              </a:spcBef>
            </a:pPr>
            <a:r>
              <a:rPr lang="en-US" dirty="0"/>
              <a:t>Schema Evolution allows changing the table schema automatically when new data arrives — typically during:</a:t>
            </a:r>
          </a:p>
          <a:p>
            <a:pPr>
              <a:spcBef>
                <a:spcPts val="600"/>
              </a:spcBef>
            </a:pPr>
            <a:r>
              <a:rPr lang="en-US" dirty="0"/>
              <a:t>	MERGE operations</a:t>
            </a:r>
          </a:p>
          <a:p>
            <a:pPr>
              <a:spcBef>
                <a:spcPts val="600"/>
              </a:spcBef>
            </a:pPr>
            <a:r>
              <a:rPr lang="en-US" dirty="0"/>
              <a:t>	</a:t>
            </a:r>
            <a:r>
              <a:rPr lang="en-US" dirty="0" err="1"/>
              <a:t>AutoLoader</a:t>
            </a:r>
            <a:r>
              <a:rPr lang="en-US" dirty="0"/>
              <a:t> (cloud ingestion)</a:t>
            </a:r>
          </a:p>
          <a:p>
            <a:pPr>
              <a:spcBef>
                <a:spcPts val="600"/>
              </a:spcBef>
            </a:pPr>
            <a:r>
              <a:rPr lang="en-US" dirty="0"/>
              <a:t>	Streaming ingestion</a:t>
            </a:r>
          </a:p>
          <a:p>
            <a:pPr>
              <a:spcBef>
                <a:spcPts val="600"/>
              </a:spcBef>
            </a:pPr>
            <a:r>
              <a:rPr lang="en-US" dirty="0"/>
              <a:t>	Overwrite operations</a:t>
            </a:r>
          </a:p>
          <a:p>
            <a:pPr>
              <a:spcBef>
                <a:spcPts val="600"/>
              </a:spcBef>
            </a:pPr>
            <a:r>
              <a:rPr lang="en-US" dirty="0"/>
              <a:t>	Append with </a:t>
            </a:r>
            <a:r>
              <a:rPr lang="en-US" dirty="0" err="1"/>
              <a:t>mergeSchema</a:t>
            </a:r>
            <a:r>
              <a:rPr lang="en-US" dirty="0"/>
              <a:t> or </a:t>
            </a:r>
            <a:r>
              <a:rPr lang="en-US" dirty="0" err="1"/>
              <a:t>autoMerge</a:t>
            </a:r>
            <a:r>
              <a:rPr lang="en-US" dirty="0"/>
              <a:t> settings</a:t>
            </a:r>
          </a:p>
          <a:p>
            <a:pPr>
              <a:spcBef>
                <a:spcPts val="600"/>
              </a:spcBef>
            </a:pPr>
            <a:r>
              <a:rPr lang="en-US" b="1" dirty="0"/>
              <a:t>What Evolutions Are Allowed</a:t>
            </a:r>
          </a:p>
          <a:p>
            <a:pPr>
              <a:spcBef>
                <a:spcPts val="600"/>
              </a:spcBef>
            </a:pPr>
            <a:r>
              <a:rPr lang="en-US" dirty="0"/>
              <a:t>You can add new columns automatically:</a:t>
            </a:r>
          </a:p>
          <a:p>
            <a:pPr>
              <a:spcBef>
                <a:spcPts val="600"/>
              </a:spcBef>
            </a:pPr>
            <a:r>
              <a:rPr lang="en-US" b="1" dirty="0"/>
              <a:t>Example: Adding a new column</a:t>
            </a:r>
          </a:p>
          <a:p>
            <a:pPr>
              <a:spcBef>
                <a:spcPts val="600"/>
              </a:spcBef>
            </a:pPr>
            <a:r>
              <a:rPr lang="en-US" dirty="0"/>
              <a:t>	Incoming data:{id: 1, name: "Ravi", salary: 50000, dept: "IT"}</a:t>
            </a:r>
          </a:p>
          <a:p>
            <a:pPr>
              <a:spcBef>
                <a:spcPts val="600"/>
              </a:spcBef>
            </a:pPr>
            <a:r>
              <a:rPr lang="en-US" dirty="0"/>
              <a:t>Your table does not have dept column.</a:t>
            </a:r>
          </a:p>
          <a:p>
            <a:pPr>
              <a:spcBef>
                <a:spcPts val="600"/>
              </a:spcBef>
            </a:pPr>
            <a:r>
              <a:rPr lang="en-US" dirty="0"/>
              <a:t>With auto-merge enabled, Delta will add the dept column Automatically</a:t>
            </a: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820905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512064"/>
            <a:ext cx="11823192" cy="4878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What is Partitioning in Delta Lake?</a:t>
            </a:r>
          </a:p>
          <a:p>
            <a:r>
              <a:rPr lang="en-US" b="1" dirty="0"/>
              <a:t>Partitioning</a:t>
            </a:r>
            <a:r>
              <a:rPr lang="en-US" dirty="0"/>
              <a:t> is the technique of organizing data into </a:t>
            </a:r>
            <a:r>
              <a:rPr lang="en-US" b="1" dirty="0"/>
              <a:t>subfolders</a:t>
            </a:r>
            <a:r>
              <a:rPr lang="en-US" dirty="0"/>
              <a:t> based on the value of one or more columns.</a:t>
            </a:r>
          </a:p>
          <a:p>
            <a:r>
              <a:rPr lang="en-US" b="1" dirty="0"/>
              <a:t>Why?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Faster queries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Faster reads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Reduced data scanning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Lower compute cost</a:t>
            </a:r>
          </a:p>
          <a:p>
            <a:endParaRPr lang="en-US" dirty="0"/>
          </a:p>
          <a:p>
            <a:r>
              <a:rPr lang="en-US" b="1" dirty="0"/>
              <a:t>When to Use Partitioning?</a:t>
            </a:r>
          </a:p>
          <a:p>
            <a:r>
              <a:rPr lang="en-US" dirty="0"/>
              <a:t>Partition </a:t>
            </a:r>
            <a:r>
              <a:rPr lang="en-US" b="1" dirty="0"/>
              <a:t>only when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✔ Queries frequently filter by this column</a:t>
            </a:r>
            <a:br>
              <a:rPr lang="en-US" dirty="0"/>
            </a:br>
            <a:r>
              <a:rPr lang="en-US" dirty="0"/>
              <a:t>✔ Column has </a:t>
            </a:r>
            <a:r>
              <a:rPr lang="en-US" b="1" dirty="0"/>
              <a:t>low or medium cardinality</a:t>
            </a:r>
            <a:br>
              <a:rPr lang="en-US" dirty="0"/>
            </a:br>
            <a:r>
              <a:rPr lang="en-US" dirty="0"/>
              <a:t>✔ Column is in WHERE clause, GROUP BY, or JOIN</a:t>
            </a:r>
          </a:p>
          <a:p>
            <a:endParaRPr lang="en-US" dirty="0"/>
          </a:p>
          <a:p>
            <a:r>
              <a:rPr lang="en-US" dirty="0"/>
              <a:t>Types of partitions</a:t>
            </a:r>
          </a:p>
          <a:p>
            <a:pPr lvl="1"/>
            <a:endParaRPr lang="en-US" dirty="0"/>
          </a:p>
          <a:p>
            <a:pPr>
              <a:spcBef>
                <a:spcPts val="600"/>
              </a:spcBef>
            </a:pPr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ED3DA7C-0327-7BFB-9589-CAEE9A861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76263"/>
              </p:ext>
            </p:extLst>
          </p:nvPr>
        </p:nvGraphicFramePr>
        <p:xfrm>
          <a:off x="384048" y="4882896"/>
          <a:ext cx="10131426" cy="1463040"/>
        </p:xfrm>
        <a:graphic>
          <a:graphicData uri="http://schemas.openxmlformats.org/drawingml/2006/table">
            <a:tbl>
              <a:tblPr/>
              <a:tblGrid>
                <a:gridCol w="3377142">
                  <a:extLst>
                    <a:ext uri="{9D8B030D-6E8A-4147-A177-3AD203B41FA5}">
                      <a16:colId xmlns:a16="http://schemas.microsoft.com/office/drawing/2014/main" val="2115775725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1338283828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428867474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50967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Single Column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Partition by one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PARTITIONED BY (country)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3343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Multi Column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Hierarchical partitions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PARTITIONED BY (year, month)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8395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Time-based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Partition by year/month/day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year(</a:t>
                      </a:r>
                      <a:r>
                        <a:rPr lang="en-IN" sz="1800" dirty="0" err="1"/>
                        <a:t>order_date</a:t>
                      </a:r>
                      <a:r>
                        <a:rPr lang="en-IN" sz="180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3331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24837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F5B2EE-D7D7-92D9-2AA9-0B113314E4C4}"/>
              </a:ext>
            </a:extLst>
          </p:cNvPr>
          <p:cNvSpPr txBox="1"/>
          <p:nvPr/>
        </p:nvSpPr>
        <p:spPr>
          <a:xfrm>
            <a:off x="265176" y="512064"/>
            <a:ext cx="11823192" cy="6432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Consolas" panose="020B0609020204030204" pitchFamily="49" charset="0"/>
              </a:rPr>
              <a:t>What is Z-Ordering in Databricks?</a:t>
            </a:r>
          </a:p>
          <a:p>
            <a:endParaRPr lang="en-US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800" dirty="0">
                <a:effectLst/>
                <a:latin typeface="Consolas" panose="020B0609020204030204" pitchFamily="49" charset="0"/>
              </a:rPr>
              <a:t>Z-Ordering (also written as ZORDER BY) is an optimization technique used in Delta Lake to improve data skipping for tables that are frequently filtered on certain columns.</a:t>
            </a:r>
            <a:endParaRPr lang="en-US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800" dirty="0">
                <a:effectLst/>
                <a:latin typeface="Consolas" panose="020B0609020204030204" pitchFamily="49" charset="0"/>
              </a:rPr>
              <a:t>It works by co-locating related data in the same data files using a multi-dimensional clustering algorithm (Z-Curve).</a:t>
            </a:r>
            <a:endParaRPr lang="en-US" sz="1800" dirty="0">
              <a:effectLst/>
              <a:latin typeface="Arial" panose="020B0604020202020204" pitchFamily="34" charset="0"/>
            </a:endParaRPr>
          </a:p>
          <a:p>
            <a:endParaRPr lang="en-US" sz="1800" dirty="0">
              <a:effectLst/>
              <a:latin typeface="Consolas" panose="020B0609020204030204" pitchFamily="49" charset="0"/>
            </a:endParaRPr>
          </a:p>
          <a:p>
            <a:pPr>
              <a:spcBef>
                <a:spcPts val="600"/>
              </a:spcBef>
            </a:pPr>
            <a:r>
              <a:rPr lang="en-US" sz="1800" dirty="0">
                <a:effectLst/>
                <a:latin typeface="Consolas" panose="020B0609020204030204" pitchFamily="49" charset="0"/>
              </a:rPr>
              <a:t>Why it is needed?</a:t>
            </a:r>
            <a:endParaRPr lang="en-US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800" dirty="0">
                <a:effectLst/>
                <a:latin typeface="Consolas" panose="020B0609020204030204" pitchFamily="49" charset="0"/>
              </a:rPr>
              <a:t>When you run a query like:</a:t>
            </a:r>
            <a:endParaRPr lang="en-US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800" dirty="0">
                <a:effectLst/>
                <a:latin typeface="Consolas" panose="020B0609020204030204" pitchFamily="49" charset="0"/>
              </a:rPr>
              <a:t>	SELECT * FROM sales WHERE </a:t>
            </a:r>
            <a:r>
              <a:rPr lang="en-US" sz="1800" dirty="0" err="1">
                <a:effectLst/>
                <a:latin typeface="Consolas" panose="020B0609020204030204" pitchFamily="49" charset="0"/>
              </a:rPr>
              <a:t>customer_id</a:t>
            </a:r>
            <a:r>
              <a:rPr lang="en-US" sz="1800" dirty="0">
                <a:effectLst/>
                <a:latin typeface="Consolas" panose="020B0609020204030204" pitchFamily="49" charset="0"/>
              </a:rPr>
              <a:t> = 1005;</a:t>
            </a:r>
            <a:endParaRPr lang="en-US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endParaRPr lang="en-US" sz="1800" dirty="0">
              <a:effectLst/>
              <a:latin typeface="Consolas" panose="020B0609020204030204" pitchFamily="49" charset="0"/>
            </a:endParaRPr>
          </a:p>
          <a:p>
            <a:pPr>
              <a:spcBef>
                <a:spcPts val="600"/>
              </a:spcBef>
            </a:pPr>
            <a:r>
              <a:rPr lang="en-US" sz="1800" dirty="0">
                <a:effectLst/>
                <a:latin typeface="Consolas" panose="020B0609020204030204" pitchFamily="49" charset="0"/>
              </a:rPr>
              <a:t>Without Z-Ordering:</a:t>
            </a:r>
            <a:endParaRPr lang="en-US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800" dirty="0">
                <a:effectLst/>
                <a:latin typeface="Consolas" panose="020B0609020204030204" pitchFamily="49" charset="0"/>
              </a:rPr>
              <a:t>	Data may be randomly distributed across many files.</a:t>
            </a:r>
            <a:endParaRPr lang="en-US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800" dirty="0">
                <a:effectLst/>
                <a:latin typeface="Consolas" panose="020B0609020204030204" pitchFamily="49" charset="0"/>
              </a:rPr>
              <a:t>	Spark needs to scan many files </a:t>
            </a:r>
            <a:r>
              <a:rPr lang="en-US" sz="1800" dirty="0">
                <a:effectLst/>
                <a:latin typeface="Segoe UI Symbol" panose="020B0502040204020203" pitchFamily="34" charset="0"/>
              </a:rPr>
              <a:t>➝</a:t>
            </a:r>
            <a:r>
              <a:rPr lang="en-US" sz="1800" dirty="0">
                <a:effectLst/>
                <a:latin typeface="Consolas" panose="020B0609020204030204" pitchFamily="49" charset="0"/>
              </a:rPr>
              <a:t> slow.	</a:t>
            </a:r>
          </a:p>
          <a:p>
            <a:pPr>
              <a:spcBef>
                <a:spcPts val="600"/>
              </a:spcBef>
            </a:pPr>
            <a:endParaRPr lang="en-US" dirty="0">
              <a:latin typeface="Consolas" panose="020B0609020204030204" pitchFamily="49" charset="0"/>
            </a:endParaRPr>
          </a:p>
          <a:p>
            <a:pPr>
              <a:spcBef>
                <a:spcPts val="600"/>
              </a:spcBef>
            </a:pPr>
            <a:r>
              <a:rPr lang="en-US" sz="1800" dirty="0">
                <a:effectLst/>
                <a:latin typeface="Consolas" panose="020B0609020204030204" pitchFamily="49" charset="0"/>
              </a:rPr>
              <a:t>With Z-Ordering:</a:t>
            </a:r>
            <a:endParaRPr lang="en-US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800" dirty="0">
                <a:effectLst/>
                <a:latin typeface="Consolas" panose="020B0609020204030204" pitchFamily="49" charset="0"/>
              </a:rPr>
              <a:t>	Rows with similar </a:t>
            </a:r>
            <a:r>
              <a:rPr lang="en-US" sz="1800" dirty="0" err="1">
                <a:effectLst/>
                <a:latin typeface="Consolas" panose="020B0609020204030204" pitchFamily="49" charset="0"/>
              </a:rPr>
              <a:t>customer_id</a:t>
            </a:r>
            <a:r>
              <a:rPr lang="en-US" sz="1800" dirty="0">
                <a:effectLst/>
                <a:latin typeface="Consolas" panose="020B0609020204030204" pitchFamily="49" charset="0"/>
              </a:rPr>
              <a:t> are stored together in fewer files.</a:t>
            </a:r>
            <a:endParaRPr lang="en-US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800" dirty="0">
                <a:effectLst/>
                <a:latin typeface="Consolas" panose="020B0609020204030204" pitchFamily="49" charset="0"/>
              </a:rPr>
              <a:t>	Spark skips unnecessary files </a:t>
            </a:r>
            <a:r>
              <a:rPr lang="en-US" sz="1800" dirty="0">
                <a:effectLst/>
                <a:latin typeface="Segoe UI Symbol" panose="020B0502040204020203" pitchFamily="34" charset="0"/>
              </a:rPr>
              <a:t>➝</a:t>
            </a:r>
            <a:r>
              <a:rPr lang="en-US" sz="1800" dirty="0">
                <a:effectLst/>
                <a:latin typeface="Consolas" panose="020B0609020204030204" pitchFamily="49" charset="0"/>
              </a:rPr>
              <a:t> much faster.</a:t>
            </a:r>
            <a:endParaRPr lang="en-US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59727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878509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dirty="0">
                <a:effectLst/>
                <a:latin typeface="Consolas" panose="020B0609020204030204" pitchFamily="49" charset="0"/>
              </a:rPr>
              <a:t>When to use Z-Ordering</a:t>
            </a:r>
            <a:endParaRPr lang="en-IN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IN" sz="1800" dirty="0">
                <a:effectLst/>
                <a:latin typeface="Consolas" panose="020B0609020204030204" pitchFamily="49" charset="0"/>
              </a:rPr>
              <a:t>Use Z-ORDER on:</a:t>
            </a:r>
            <a:endParaRPr lang="en-IN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IN" sz="1800" dirty="0">
                <a:effectLst/>
                <a:latin typeface="Consolas" panose="020B0609020204030204" pitchFamily="49" charset="0"/>
              </a:rPr>
              <a:t>	High-cardinality columns (</a:t>
            </a:r>
            <a:r>
              <a:rPr lang="en-IN" sz="1800" dirty="0" err="1">
                <a:effectLst/>
                <a:latin typeface="Consolas" panose="020B0609020204030204" pitchFamily="49" charset="0"/>
              </a:rPr>
              <a:t>customer_id</a:t>
            </a:r>
            <a:r>
              <a:rPr lang="en-IN" sz="1800" dirty="0">
                <a:effectLst/>
                <a:latin typeface="Consolas" panose="020B0609020204030204" pitchFamily="49" charset="0"/>
              </a:rPr>
              <a:t>, </a:t>
            </a:r>
            <a:r>
              <a:rPr lang="en-IN" sz="1800" dirty="0" err="1">
                <a:effectLst/>
                <a:latin typeface="Consolas" panose="020B0609020204030204" pitchFamily="49" charset="0"/>
              </a:rPr>
              <a:t>order_id</a:t>
            </a:r>
            <a:r>
              <a:rPr lang="en-IN" sz="1800" dirty="0">
                <a:effectLst/>
                <a:latin typeface="Consolas" panose="020B0609020204030204" pitchFamily="49" charset="0"/>
              </a:rPr>
              <a:t>, </a:t>
            </a:r>
            <a:r>
              <a:rPr lang="en-IN" sz="1800" dirty="0" err="1">
                <a:effectLst/>
                <a:latin typeface="Consolas" panose="020B0609020204030204" pitchFamily="49" charset="0"/>
              </a:rPr>
              <a:t>invoice_no</a:t>
            </a:r>
            <a:r>
              <a:rPr lang="en-IN" sz="1800" dirty="0">
                <a:effectLst/>
                <a:latin typeface="Consolas" panose="020B0609020204030204" pitchFamily="49" charset="0"/>
              </a:rPr>
              <a:t>)</a:t>
            </a:r>
            <a:endParaRPr lang="en-IN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IN" sz="1800" dirty="0">
                <a:effectLst/>
                <a:latin typeface="Consolas" panose="020B0609020204030204" pitchFamily="49" charset="0"/>
              </a:rPr>
              <a:t>	Frequently filtered columns</a:t>
            </a:r>
            <a:endParaRPr lang="en-IN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IN" sz="1800" dirty="0">
                <a:effectLst/>
                <a:latin typeface="Consolas" panose="020B0609020204030204" pitchFamily="49" charset="0"/>
              </a:rPr>
              <a:t>	Join keys</a:t>
            </a:r>
            <a:endParaRPr lang="en-IN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IN" sz="1800" dirty="0">
                <a:effectLst/>
                <a:latin typeface="Consolas" panose="020B0609020204030204" pitchFamily="49" charset="0"/>
              </a:rPr>
              <a:t>Avoid Z-ORDER on:</a:t>
            </a:r>
            <a:endParaRPr lang="en-IN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IN" sz="1800" dirty="0">
                <a:effectLst/>
                <a:latin typeface="Consolas" panose="020B0609020204030204" pitchFamily="49" charset="0"/>
              </a:rPr>
              <a:t>	Low-cardinality columns (gender, status)</a:t>
            </a:r>
            <a:endParaRPr lang="en-IN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IN" sz="1800" dirty="0">
                <a:effectLst/>
                <a:latin typeface="Consolas" panose="020B0609020204030204" pitchFamily="49" charset="0"/>
              </a:rPr>
              <a:t>	Constantly changing columns</a:t>
            </a:r>
            <a:endParaRPr lang="en-IN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IN" sz="1800" dirty="0">
                <a:effectLst/>
                <a:latin typeface="Consolas" panose="020B0609020204030204" pitchFamily="49" charset="0"/>
              </a:rPr>
              <a:t>Basic Syntax of Z-Ordering</a:t>
            </a:r>
            <a:endParaRPr lang="en-IN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IN" sz="1800" dirty="0">
                <a:effectLst/>
                <a:latin typeface="Consolas" panose="020B0609020204030204" pitchFamily="49" charset="0"/>
              </a:rPr>
              <a:t>	OPTIMIZE </a:t>
            </a:r>
            <a:r>
              <a:rPr lang="en-IN" sz="1800" dirty="0" err="1">
                <a:effectLst/>
                <a:latin typeface="Consolas" panose="020B0609020204030204" pitchFamily="49" charset="0"/>
              </a:rPr>
              <a:t>table_name</a:t>
            </a:r>
            <a:endParaRPr lang="en-IN" sz="1800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IN" sz="1800" dirty="0">
                <a:effectLst/>
                <a:latin typeface="Consolas" panose="020B0609020204030204" pitchFamily="49" charset="0"/>
              </a:rPr>
              <a:t>	ZORDER BY (column1, column2);</a:t>
            </a:r>
            <a:endParaRPr lang="en-IN" sz="1800" dirty="0">
              <a:effectLst/>
              <a:latin typeface="Arial" panose="020B0604020202020204" pitchFamily="34" charset="0"/>
            </a:endParaRPr>
          </a:p>
          <a:p>
            <a:endParaRPr lang="en-US" sz="800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94728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87850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Difference Between Partitioning and Z-Ordering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7C8962A-7CF6-78AA-074C-3E860FE7E6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9222778"/>
              </p:ext>
            </p:extLst>
          </p:nvPr>
        </p:nvGraphicFramePr>
        <p:xfrm>
          <a:off x="429768" y="967137"/>
          <a:ext cx="10131426" cy="2103120"/>
        </p:xfrm>
        <a:graphic>
          <a:graphicData uri="http://schemas.openxmlformats.org/drawingml/2006/table">
            <a:tbl>
              <a:tblPr/>
              <a:tblGrid>
                <a:gridCol w="3377142">
                  <a:extLst>
                    <a:ext uri="{9D8B030D-6E8A-4147-A177-3AD203B41FA5}">
                      <a16:colId xmlns:a16="http://schemas.microsoft.com/office/drawing/2014/main" val="3649837191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1118604979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393488987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Partitioning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Z-Ordering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257902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Heavy physical re-organization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Light 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446091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Low-cardinality columns (year, month)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High-cardinality columns (customer_id, product_id)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370639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Removes data?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Yes (prunes partitions)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Yes (skips files)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0558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When to avoid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High-cardinality columns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Rarely used columns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9753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78220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10991088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What is Auto Loader in Databricks?</a:t>
            </a:r>
          </a:p>
          <a:p>
            <a:pPr>
              <a:spcBef>
                <a:spcPts val="600"/>
              </a:spcBef>
            </a:pPr>
            <a:r>
              <a:rPr lang="en-US" b="1" dirty="0"/>
              <a:t>Auto Loader</a:t>
            </a:r>
            <a:r>
              <a:rPr lang="en-US" dirty="0"/>
              <a:t> is a Databricks feature used to </a:t>
            </a:r>
            <a:r>
              <a:rPr lang="en-US" b="1" dirty="0"/>
              <a:t>automatically ingest new files</a:t>
            </a:r>
            <a:r>
              <a:rPr lang="en-US" dirty="0"/>
              <a:t> from cloud storage (ADLS, S3, GCS) </a:t>
            </a:r>
            <a:r>
              <a:rPr lang="en-US" b="1" dirty="0"/>
              <a:t>incrementally and efficiently</a:t>
            </a:r>
            <a:r>
              <a:rPr lang="en-US" dirty="0"/>
              <a:t> into Delta tables using </a:t>
            </a:r>
            <a:r>
              <a:rPr lang="en-US" b="1" dirty="0"/>
              <a:t>Structured Streaming</a:t>
            </a:r>
            <a:r>
              <a:rPr lang="en-US" dirty="0"/>
              <a:t>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40D4E7-EE9E-ED8D-FFE6-CB4E8AD8AF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7630546"/>
              </p:ext>
            </p:extLst>
          </p:nvPr>
        </p:nvGraphicFramePr>
        <p:xfrm>
          <a:off x="429768" y="1662081"/>
          <a:ext cx="10131424" cy="2743200"/>
        </p:xfrm>
        <a:graphic>
          <a:graphicData uri="http://schemas.openxmlformats.org/drawingml/2006/table">
            <a:tbl>
              <a:tblPr/>
              <a:tblGrid>
                <a:gridCol w="5065712">
                  <a:extLst>
                    <a:ext uri="{9D8B030D-6E8A-4147-A177-3AD203B41FA5}">
                      <a16:colId xmlns:a16="http://schemas.microsoft.com/office/drawing/2014/main" val="2058508466"/>
                    </a:ext>
                  </a:extLst>
                </a:gridCol>
                <a:gridCol w="5065712">
                  <a:extLst>
                    <a:ext uri="{9D8B030D-6E8A-4147-A177-3AD203B41FA5}">
                      <a16:colId xmlns:a16="http://schemas.microsoft.com/office/drawing/2014/main" val="28902268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Explanation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89797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Incremental Processing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Reads only </a:t>
                      </a:r>
                      <a:r>
                        <a:rPr lang="en-US" sz="1800" b="1"/>
                        <a:t>new</a:t>
                      </a:r>
                      <a:r>
                        <a:rPr lang="en-US" sz="1800"/>
                        <a:t> files arriving in a folder.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51863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Schema Evolution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Automatically detects new columns.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638927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 b="1"/>
                        <a:t>High Performance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Uses file notification or directory listing for efficiency.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718982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 b="1" dirty="0"/>
                        <a:t>Exactly-Once Processing</a:t>
                      </a:r>
                      <a:endParaRPr lang="en-IN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Uses checkpoints &amp; metadata to avoid duplicate processing.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22929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800" b="1"/>
                        <a:t>Supports CSV, JSON, Parquet, Avro</a:t>
                      </a:r>
                      <a:endParaRPr lang="fr-FR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Multiple file formats.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07502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1340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10991088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What is Auto Loader in Databricks?</a:t>
            </a:r>
          </a:p>
          <a:p>
            <a:pPr>
              <a:spcBef>
                <a:spcPts val="600"/>
              </a:spcBef>
            </a:pPr>
            <a:r>
              <a:rPr lang="en-US" b="1" dirty="0"/>
              <a:t>Auto Loader</a:t>
            </a:r>
            <a:r>
              <a:rPr lang="en-US" dirty="0"/>
              <a:t> is a Databricks feature used to </a:t>
            </a:r>
            <a:r>
              <a:rPr lang="en-US" b="1" dirty="0"/>
              <a:t>automatically ingest new files</a:t>
            </a:r>
            <a:r>
              <a:rPr lang="en-US" dirty="0"/>
              <a:t> from cloud storage (ADLS, S3, GCS) </a:t>
            </a:r>
            <a:r>
              <a:rPr lang="en-US" b="1" dirty="0"/>
              <a:t>incrementally and efficiently</a:t>
            </a:r>
            <a:r>
              <a:rPr lang="en-US" dirty="0"/>
              <a:t> into Delta tables using </a:t>
            </a:r>
            <a:r>
              <a:rPr lang="en-US" b="1" dirty="0"/>
              <a:t>Structured Streaming</a:t>
            </a:r>
            <a:r>
              <a:rPr lang="en-US" dirty="0"/>
              <a:t>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40D4E7-EE9E-ED8D-FFE6-CB4E8AD8AF4F}"/>
              </a:ext>
            </a:extLst>
          </p:cNvPr>
          <p:cNvGraphicFramePr>
            <a:graphicFrameLocks noGrp="1"/>
          </p:cNvGraphicFramePr>
          <p:nvPr/>
        </p:nvGraphicFramePr>
        <p:xfrm>
          <a:off x="429768" y="1662081"/>
          <a:ext cx="10131424" cy="2743200"/>
        </p:xfrm>
        <a:graphic>
          <a:graphicData uri="http://schemas.openxmlformats.org/drawingml/2006/table">
            <a:tbl>
              <a:tblPr/>
              <a:tblGrid>
                <a:gridCol w="5065712">
                  <a:extLst>
                    <a:ext uri="{9D8B030D-6E8A-4147-A177-3AD203B41FA5}">
                      <a16:colId xmlns:a16="http://schemas.microsoft.com/office/drawing/2014/main" val="2058508466"/>
                    </a:ext>
                  </a:extLst>
                </a:gridCol>
                <a:gridCol w="5065712">
                  <a:extLst>
                    <a:ext uri="{9D8B030D-6E8A-4147-A177-3AD203B41FA5}">
                      <a16:colId xmlns:a16="http://schemas.microsoft.com/office/drawing/2014/main" val="28902268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Explanation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89797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Incremental Processing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Reads only </a:t>
                      </a:r>
                      <a:r>
                        <a:rPr lang="en-US" sz="1800" b="1"/>
                        <a:t>new</a:t>
                      </a:r>
                      <a:r>
                        <a:rPr lang="en-US" sz="1800"/>
                        <a:t> files arriving in a folder.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51863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Schema Evolution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Automatically detects new columns.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638927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 b="1"/>
                        <a:t>High Performance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Uses file notification or directory listing for efficiency.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718982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 b="1" dirty="0"/>
                        <a:t>Exactly-Once Processing</a:t>
                      </a:r>
                      <a:endParaRPr lang="en-IN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Uses checkpoints &amp; metadata to avoid duplicate processing.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22929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800" b="1"/>
                        <a:t>Supports CSV, JSON, Parquet, Avro</a:t>
                      </a:r>
                      <a:endParaRPr lang="fr-FR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Multiple file formats.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07502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9293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FD73BB9-E958-D203-99C5-2AF4DEDDF1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9985940"/>
              </p:ext>
            </p:extLst>
          </p:nvPr>
        </p:nvGraphicFramePr>
        <p:xfrm>
          <a:off x="493776" y="509937"/>
          <a:ext cx="8110728" cy="2194560"/>
        </p:xfrm>
        <a:graphic>
          <a:graphicData uri="http://schemas.openxmlformats.org/drawingml/2006/table">
            <a:tbl>
              <a:tblPr/>
              <a:tblGrid>
                <a:gridCol w="4055364">
                  <a:extLst>
                    <a:ext uri="{9D8B030D-6E8A-4147-A177-3AD203B41FA5}">
                      <a16:colId xmlns:a16="http://schemas.microsoft.com/office/drawing/2014/main" val="1920724042"/>
                    </a:ext>
                  </a:extLst>
                </a:gridCol>
                <a:gridCol w="4055364">
                  <a:extLst>
                    <a:ext uri="{9D8B030D-6E8A-4147-A177-3AD203B41FA5}">
                      <a16:colId xmlns:a16="http://schemas.microsoft.com/office/drawing/2014/main" val="285510517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Use Case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Recommended?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75653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/>
                        <a:t>Lots of new files arriving 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75577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Continuous ingestion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71484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Schema changing over 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8424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Large CSV/JSON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638414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Only one-time ingestion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❌ Not needed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58332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847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878509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What is the Delta Table Transaction Log?</a:t>
            </a:r>
          </a:p>
          <a:p>
            <a:r>
              <a:rPr lang="en-US" dirty="0"/>
              <a:t>	Every Delta table has a special folder called:</a:t>
            </a:r>
          </a:p>
          <a:p>
            <a:endParaRPr lang="en-US" sz="800" dirty="0"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8ABD56-F2C2-5B57-3D6E-F07326D899FC}"/>
              </a:ext>
            </a:extLst>
          </p:cNvPr>
          <p:cNvSpPr txBox="1"/>
          <p:nvPr/>
        </p:nvSpPr>
        <p:spPr>
          <a:xfrm>
            <a:off x="770382" y="90481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&lt;</a:t>
            </a:r>
            <a:r>
              <a:rPr lang="en-IN" dirty="0" err="1"/>
              <a:t>table_path</a:t>
            </a:r>
            <a:r>
              <a:rPr lang="en-IN" dirty="0"/>
              <a:t>&gt;/_</a:t>
            </a:r>
            <a:r>
              <a:rPr lang="en-IN" dirty="0" err="1"/>
              <a:t>delta_log</a:t>
            </a:r>
            <a:r>
              <a:rPr lang="en-IN" dirty="0"/>
              <a:t>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4E51B8-17E2-87E1-DAFA-C32D679C0898}"/>
              </a:ext>
            </a:extLst>
          </p:cNvPr>
          <p:cNvSpPr txBox="1"/>
          <p:nvPr/>
        </p:nvSpPr>
        <p:spPr>
          <a:xfrm>
            <a:off x="450342" y="1572090"/>
            <a:ext cx="787069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This folder stores </a:t>
            </a:r>
            <a:r>
              <a:rPr lang="en-IN" b="1" dirty="0"/>
              <a:t>transaction metadata</a:t>
            </a:r>
            <a:r>
              <a:rPr lang="en-IN" dirty="0"/>
              <a:t> so that Delta Lake can guarantee:</a:t>
            </a:r>
          </a:p>
          <a:p>
            <a:pPr lvl="1"/>
            <a:r>
              <a:rPr lang="en-IN" dirty="0"/>
              <a:t>✔ ACID transactions</a:t>
            </a:r>
            <a:br>
              <a:rPr lang="en-IN" dirty="0"/>
            </a:br>
            <a:r>
              <a:rPr lang="en-IN" dirty="0"/>
              <a:t>✔ Time travel</a:t>
            </a:r>
            <a:br>
              <a:rPr lang="en-IN" dirty="0"/>
            </a:br>
            <a:r>
              <a:rPr lang="en-IN" dirty="0"/>
              <a:t>✔ Schema enforcement</a:t>
            </a:r>
            <a:br>
              <a:rPr lang="en-IN" dirty="0"/>
            </a:br>
            <a:r>
              <a:rPr lang="en-IN" dirty="0"/>
              <a:t>✔ Concurrency control</a:t>
            </a:r>
            <a:br>
              <a:rPr lang="en-IN" dirty="0"/>
            </a:br>
            <a:r>
              <a:rPr lang="en-IN" dirty="0"/>
              <a:t>✔ File-based versioning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05CE62-15F5-CF98-3C5B-963C2EA1FEBC}"/>
              </a:ext>
            </a:extLst>
          </p:cNvPr>
          <p:cNvSpPr txBox="1"/>
          <p:nvPr/>
        </p:nvSpPr>
        <p:spPr>
          <a:xfrm>
            <a:off x="770382" y="3531585"/>
            <a:ext cx="609447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_</a:t>
            </a:r>
            <a:r>
              <a:rPr lang="en-IN" dirty="0" err="1"/>
              <a:t>delta_log</a:t>
            </a:r>
            <a:r>
              <a:rPr lang="en-IN" dirty="0"/>
              <a:t>/</a:t>
            </a:r>
          </a:p>
          <a:p>
            <a:r>
              <a:rPr lang="en-IN" dirty="0"/>
              <a:t>    00000000000000000000.json</a:t>
            </a:r>
          </a:p>
          <a:p>
            <a:r>
              <a:rPr lang="en-IN" dirty="0"/>
              <a:t>    00000000000000000001.json</a:t>
            </a:r>
          </a:p>
          <a:p>
            <a:r>
              <a:rPr lang="en-IN" dirty="0"/>
              <a:t>    00000000000000000002.json</a:t>
            </a:r>
          </a:p>
          <a:p>
            <a:r>
              <a:rPr lang="en-IN" dirty="0"/>
              <a:t>    ...</a:t>
            </a:r>
          </a:p>
          <a:p>
            <a:r>
              <a:rPr lang="en-IN" dirty="0"/>
              <a:t>    00000000000000000100.checkpoint.parquet</a:t>
            </a:r>
          </a:p>
          <a:p>
            <a:r>
              <a:rPr lang="en-IN" dirty="0"/>
              <a:t>    00000000000000000100.json</a:t>
            </a:r>
          </a:p>
          <a:p>
            <a:r>
              <a:rPr lang="en-IN" dirty="0"/>
              <a:t>    00000000000000000101.json</a:t>
            </a:r>
          </a:p>
          <a:p>
            <a:r>
              <a:rPr lang="en-IN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3464779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1CB1308-46EB-E8BD-A145-35735BD29DCF}"/>
              </a:ext>
            </a:extLst>
          </p:cNvPr>
          <p:cNvSpPr txBox="1"/>
          <p:nvPr/>
        </p:nvSpPr>
        <p:spPr>
          <a:xfrm>
            <a:off x="148590" y="293269"/>
            <a:ext cx="60944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How Delta Reads the Log</a:t>
            </a:r>
          </a:p>
          <a:p>
            <a:r>
              <a:rPr lang="en-IN" dirty="0"/>
              <a:t>When a query runs:	</a:t>
            </a:r>
          </a:p>
          <a:p>
            <a:r>
              <a:rPr lang="en-IN" dirty="0"/>
              <a:t>	Delta looks at _</a:t>
            </a:r>
            <a:r>
              <a:rPr lang="en-IN" dirty="0" err="1"/>
              <a:t>last_checkpoint</a:t>
            </a:r>
            <a:endParaRPr lang="en-IN" dirty="0"/>
          </a:p>
          <a:p>
            <a:r>
              <a:rPr lang="en-IN" dirty="0"/>
              <a:t>	Loads the latest checkpoint parquet</a:t>
            </a:r>
          </a:p>
          <a:p>
            <a:r>
              <a:rPr lang="en-IN" dirty="0"/>
              <a:t>	Applies JSON commits after that checkpoint</a:t>
            </a:r>
          </a:p>
          <a:p>
            <a:r>
              <a:rPr lang="en-IN" dirty="0"/>
              <a:t>	Gets the final table state → used for reading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413F327-E9BA-2A91-0A45-496D24F8C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876771"/>
              </p:ext>
            </p:extLst>
          </p:nvPr>
        </p:nvGraphicFramePr>
        <p:xfrm>
          <a:off x="228600" y="2320449"/>
          <a:ext cx="10131426" cy="3566160"/>
        </p:xfrm>
        <a:graphic>
          <a:graphicData uri="http://schemas.openxmlformats.org/drawingml/2006/table">
            <a:tbl>
              <a:tblPr/>
              <a:tblGrid>
                <a:gridCol w="3377142">
                  <a:extLst>
                    <a:ext uri="{9D8B030D-6E8A-4147-A177-3AD203B41FA5}">
                      <a16:colId xmlns:a16="http://schemas.microsoft.com/office/drawing/2014/main" val="2763631170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917340620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290239119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File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Contents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8064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*.json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Incremental commit logs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add, remove, schema, protocol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517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*.checkpoint.parquet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Full table snapshot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Active files, schema, metadata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991333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_last_checkpoint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Pointer to latest checkpoint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Checkpoint 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150719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add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Add new data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statistics + metadata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44389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remove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Remove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marks deletion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4050428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/>
                        <a:t>metaData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Table schema &amp; properties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schemaString, partition, properties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18033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protocol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Writer/reader compatibility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min versions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14042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txn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Prevent duplicates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streaming idempotency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2876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29214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8785098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Delta Log Components</a:t>
            </a:r>
          </a:p>
          <a:p>
            <a:endParaRPr lang="en-US" b="1" dirty="0"/>
          </a:p>
          <a:p>
            <a:r>
              <a:rPr lang="en-US" b="1" dirty="0"/>
              <a:t>JSON Commit Files</a:t>
            </a:r>
          </a:p>
          <a:p>
            <a:r>
              <a:rPr lang="en-US" dirty="0"/>
              <a:t>	Each transaction creates one </a:t>
            </a:r>
            <a:r>
              <a:rPr lang="en-US" b="1" dirty="0"/>
              <a:t>atomic JSON file</a:t>
            </a:r>
            <a:r>
              <a:rPr lang="en-US" dirty="0"/>
              <a:t>.</a:t>
            </a:r>
          </a:p>
          <a:p>
            <a:endParaRPr lang="en-IN" dirty="0"/>
          </a:p>
          <a:p>
            <a:r>
              <a:rPr lang="en-IN" dirty="0"/>
              <a:t>Each file contains </a:t>
            </a:r>
            <a:r>
              <a:rPr lang="en-IN" b="1" dirty="0"/>
              <a:t>actions</a:t>
            </a:r>
            <a:r>
              <a:rPr lang="en-IN" dirty="0"/>
              <a:t> describing table changes:</a:t>
            </a:r>
          </a:p>
          <a:p>
            <a:endParaRPr lang="en-US" dirty="0"/>
          </a:p>
          <a:p>
            <a:endParaRPr lang="en-US" sz="800" dirty="0"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D531CFB-E652-1B4D-D680-1125BD49A9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349289"/>
              </p:ext>
            </p:extLst>
          </p:nvPr>
        </p:nvGraphicFramePr>
        <p:xfrm>
          <a:off x="356616" y="2238153"/>
          <a:ext cx="10954512" cy="2834640"/>
        </p:xfrm>
        <a:graphic>
          <a:graphicData uri="http://schemas.openxmlformats.org/drawingml/2006/table">
            <a:tbl>
              <a:tblPr/>
              <a:tblGrid>
                <a:gridCol w="5477256">
                  <a:extLst>
                    <a:ext uri="{9D8B030D-6E8A-4147-A177-3AD203B41FA5}">
                      <a16:colId xmlns:a16="http://schemas.microsoft.com/office/drawing/2014/main" val="1947067919"/>
                    </a:ext>
                  </a:extLst>
                </a:gridCol>
                <a:gridCol w="5477256">
                  <a:extLst>
                    <a:ext uri="{9D8B030D-6E8A-4147-A177-3AD203B41FA5}">
                      <a16:colId xmlns:a16="http://schemas.microsoft.com/office/drawing/2014/main" val="156542504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55704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add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New data files added to the table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57421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 b="1"/>
                        <a:t>remove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Data files removed (due to update/delete/merge/compaction)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135227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metaData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Table schema, partitioning, properties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34128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protocol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Delta protocol 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072511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txn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Transaction info (used for idempotency)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768951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b="1"/>
                        <a:t>checksum</a:t>
                      </a:r>
                      <a:endParaRPr lang="en-IN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Integrity verification (in latest versions)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571832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A2A4C6D-FF24-2768-B3C7-ADC55F9344F6}"/>
              </a:ext>
            </a:extLst>
          </p:cNvPr>
          <p:cNvSpPr txBox="1"/>
          <p:nvPr/>
        </p:nvSpPr>
        <p:spPr>
          <a:xfrm>
            <a:off x="356616" y="5251996"/>
            <a:ext cx="609447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add → new data files added  </a:t>
            </a:r>
          </a:p>
          <a:p>
            <a:r>
              <a:rPr lang="en-IN" dirty="0"/>
              <a:t>remove → old files removed  </a:t>
            </a:r>
          </a:p>
          <a:p>
            <a:r>
              <a:rPr lang="en-IN" dirty="0" err="1"/>
              <a:t>metaData</a:t>
            </a:r>
            <a:r>
              <a:rPr lang="en-IN" dirty="0"/>
              <a:t> → updated schema or partition  </a:t>
            </a:r>
          </a:p>
          <a:p>
            <a:r>
              <a:rPr lang="en-IN" dirty="0"/>
              <a:t>protocol → updated delta version  </a:t>
            </a:r>
          </a:p>
        </p:txBody>
      </p:sp>
    </p:spTree>
    <p:extLst>
      <p:ext uri="{BB962C8B-B14F-4D97-AF65-F5344CB8AC3E}">
        <p14:creationId xmlns:p14="http://schemas.microsoft.com/office/powerpoint/2010/main" val="5920563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87850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JSON Commit Files</a:t>
            </a:r>
          </a:p>
          <a:p>
            <a:r>
              <a:rPr lang="en-US" dirty="0"/>
              <a:t>	</a:t>
            </a:r>
            <a:endParaRPr lang="en-US" sz="800" dirty="0"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58EF1D-3F85-DA16-AB8A-0AD56F4EAD48}"/>
              </a:ext>
            </a:extLst>
          </p:cNvPr>
          <p:cNvSpPr txBox="1"/>
          <p:nvPr/>
        </p:nvSpPr>
        <p:spPr>
          <a:xfrm>
            <a:off x="1017270" y="966372"/>
            <a:ext cx="8199882" cy="5755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dirty="0"/>
              <a:t>{</a:t>
            </a:r>
          </a:p>
          <a:p>
            <a:r>
              <a:rPr lang="en-IN" sz="1600" dirty="0"/>
              <a:t>  "add": {</a:t>
            </a:r>
          </a:p>
          <a:p>
            <a:r>
              <a:rPr lang="en-IN" sz="1600" dirty="0"/>
              <a:t>    "path": "part-0000.snappy.parquet",</a:t>
            </a:r>
          </a:p>
          <a:p>
            <a:r>
              <a:rPr lang="en-IN" sz="1600" dirty="0"/>
              <a:t>    "size": 2048,</a:t>
            </a:r>
          </a:p>
          <a:p>
            <a:r>
              <a:rPr lang="en-IN" sz="1600" dirty="0"/>
              <a:t>    "</a:t>
            </a:r>
            <a:r>
              <a:rPr lang="en-IN" sz="1600" dirty="0" err="1"/>
              <a:t>modificationTime</a:t>
            </a:r>
            <a:r>
              <a:rPr lang="en-IN" sz="1600" dirty="0"/>
              <a:t>": 1733792800,</a:t>
            </a:r>
          </a:p>
          <a:p>
            <a:r>
              <a:rPr lang="en-IN" sz="1600" dirty="0"/>
              <a:t>    "</a:t>
            </a:r>
            <a:r>
              <a:rPr lang="en-IN" sz="1600" dirty="0" err="1"/>
              <a:t>dataChange</a:t>
            </a:r>
            <a:r>
              <a:rPr lang="en-IN" sz="1600" dirty="0"/>
              <a:t>": true</a:t>
            </a:r>
          </a:p>
          <a:p>
            <a:r>
              <a:rPr lang="en-IN" sz="1600" dirty="0"/>
              <a:t>  }</a:t>
            </a:r>
          </a:p>
          <a:p>
            <a:r>
              <a:rPr lang="en-IN" sz="1600" dirty="0"/>
              <a:t>}</a:t>
            </a:r>
          </a:p>
          <a:p>
            <a:r>
              <a:rPr lang="en-IN" sz="1600" dirty="0"/>
              <a:t>{</a:t>
            </a:r>
          </a:p>
          <a:p>
            <a:r>
              <a:rPr lang="en-IN" sz="1600" dirty="0"/>
              <a:t>  "</a:t>
            </a:r>
            <a:r>
              <a:rPr lang="en-IN" sz="1600" dirty="0" err="1"/>
              <a:t>metaData</a:t>
            </a:r>
            <a:r>
              <a:rPr lang="en-IN" sz="1600" dirty="0"/>
              <a:t>": {</a:t>
            </a:r>
          </a:p>
          <a:p>
            <a:r>
              <a:rPr lang="en-IN" sz="1600" dirty="0"/>
              <a:t>    "id": "1234-abcd-5678",</a:t>
            </a:r>
          </a:p>
          <a:p>
            <a:r>
              <a:rPr lang="en-IN" sz="1600" dirty="0"/>
              <a:t>    "format": {"provider": "parquet"},</a:t>
            </a:r>
          </a:p>
          <a:p>
            <a:r>
              <a:rPr lang="en-IN" sz="1600" dirty="0"/>
              <a:t>    "</a:t>
            </a:r>
            <a:r>
              <a:rPr lang="en-IN" sz="1600" dirty="0" err="1"/>
              <a:t>schemaString</a:t>
            </a:r>
            <a:r>
              <a:rPr lang="en-IN" sz="1600" dirty="0"/>
              <a:t>": "{\"type\":\"struct\",\"fields\":[{\"name\":\"id\",\"type\":\"integer\"}]}",</a:t>
            </a:r>
          </a:p>
          <a:p>
            <a:r>
              <a:rPr lang="en-IN" sz="1600" dirty="0"/>
              <a:t>    "</a:t>
            </a:r>
            <a:r>
              <a:rPr lang="en-IN" sz="1600" dirty="0" err="1"/>
              <a:t>partitionColumns</a:t>
            </a:r>
            <a:r>
              <a:rPr lang="en-IN" sz="1600" dirty="0"/>
              <a:t>": [],</a:t>
            </a:r>
          </a:p>
          <a:p>
            <a:r>
              <a:rPr lang="en-IN" sz="1600" dirty="0"/>
              <a:t>    "configuration": {"</a:t>
            </a:r>
            <a:r>
              <a:rPr lang="en-IN" sz="1600" dirty="0" err="1"/>
              <a:t>delta.appendOnly</a:t>
            </a:r>
            <a:r>
              <a:rPr lang="en-IN" sz="1600" dirty="0"/>
              <a:t>": "true"}</a:t>
            </a:r>
          </a:p>
          <a:p>
            <a:r>
              <a:rPr lang="en-IN" sz="1600" dirty="0"/>
              <a:t>  }</a:t>
            </a:r>
          </a:p>
          <a:p>
            <a:r>
              <a:rPr lang="en-IN" sz="1600" dirty="0"/>
              <a:t>}</a:t>
            </a:r>
          </a:p>
          <a:p>
            <a:r>
              <a:rPr lang="en-IN" sz="1600" dirty="0"/>
              <a:t>{</a:t>
            </a:r>
          </a:p>
          <a:p>
            <a:r>
              <a:rPr lang="en-IN" sz="1600" dirty="0"/>
              <a:t>  "protocol": {</a:t>
            </a:r>
          </a:p>
          <a:p>
            <a:r>
              <a:rPr lang="en-IN" sz="1600" dirty="0"/>
              <a:t>    "</a:t>
            </a:r>
            <a:r>
              <a:rPr lang="en-IN" sz="1600" dirty="0" err="1"/>
              <a:t>minReaderVersion</a:t>
            </a:r>
            <a:r>
              <a:rPr lang="en-IN" sz="1600" dirty="0"/>
              <a:t>": 1,</a:t>
            </a:r>
          </a:p>
          <a:p>
            <a:r>
              <a:rPr lang="en-IN" sz="1600" dirty="0"/>
              <a:t>    "</a:t>
            </a:r>
            <a:r>
              <a:rPr lang="en-IN" sz="1600" dirty="0" err="1"/>
              <a:t>minWriterVersion</a:t>
            </a:r>
            <a:r>
              <a:rPr lang="en-IN" sz="1600" dirty="0"/>
              <a:t>": 2</a:t>
            </a:r>
          </a:p>
          <a:p>
            <a:r>
              <a:rPr lang="en-IN" sz="1600" dirty="0"/>
              <a:t>  }</a:t>
            </a:r>
          </a:p>
          <a:p>
            <a:r>
              <a:rPr lang="en-IN" sz="16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84287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8785098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/>
              <a:t>Checkpoints file</a:t>
            </a:r>
          </a:p>
          <a:p>
            <a:pPr>
              <a:spcBef>
                <a:spcPts val="600"/>
              </a:spcBef>
            </a:pPr>
            <a:r>
              <a:rPr lang="en-US" b="1" dirty="0"/>
              <a:t>✔ Purpose: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dirty="0"/>
              <a:t>snapshot</a:t>
            </a:r>
            <a:r>
              <a:rPr lang="en-US" dirty="0"/>
              <a:t> of the table state at a point in time.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Created every </a:t>
            </a:r>
            <a:r>
              <a:rPr lang="en-US" b="1" dirty="0"/>
              <a:t>10 commits</a:t>
            </a:r>
            <a:r>
              <a:rPr lang="en-US" dirty="0"/>
              <a:t> by default.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Speeds up reading (instead of applying all JSON files one by one).</a:t>
            </a:r>
          </a:p>
          <a:p>
            <a:pPr>
              <a:spcBef>
                <a:spcPts val="600"/>
              </a:spcBef>
            </a:pPr>
            <a:r>
              <a:rPr lang="en-US" b="1" dirty="0"/>
              <a:t>✔ Contains: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Full list of </a:t>
            </a:r>
            <a:r>
              <a:rPr lang="en-US" b="1" dirty="0"/>
              <a:t>active data files</a:t>
            </a:r>
            <a:endParaRPr lang="en-US" dirty="0"/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Current </a:t>
            </a:r>
            <a:r>
              <a:rPr lang="en-US" b="1" dirty="0"/>
              <a:t>schema</a:t>
            </a:r>
            <a:endParaRPr lang="en-US" dirty="0"/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Table </a:t>
            </a:r>
            <a:r>
              <a:rPr lang="en-US" b="1" dirty="0"/>
              <a:t>version</a:t>
            </a:r>
            <a:endParaRPr lang="en-US" dirty="0"/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Partition info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Table </a:t>
            </a:r>
            <a:r>
              <a:rPr lang="en-US" b="1" dirty="0"/>
              <a:t>properties</a:t>
            </a:r>
            <a:endParaRPr lang="en-US" dirty="0"/>
          </a:p>
          <a:p>
            <a:pPr>
              <a:spcBef>
                <a:spcPts val="600"/>
              </a:spcBef>
            </a:pPr>
            <a:r>
              <a:rPr lang="en-US" b="1" dirty="0"/>
              <a:t>✔ Why Needed?</a:t>
            </a:r>
          </a:p>
          <a:p>
            <a:pPr>
              <a:spcBef>
                <a:spcPts val="600"/>
              </a:spcBef>
            </a:pPr>
            <a:r>
              <a:rPr lang="en-US" dirty="0"/>
              <a:t>Without checkpoints, Delta would need to process thousands of JSON logs → slow.</a:t>
            </a:r>
          </a:p>
          <a:p>
            <a:pPr>
              <a:spcBef>
                <a:spcPts val="600"/>
              </a:spcBef>
            </a:pPr>
            <a:r>
              <a:rPr lang="en-US" dirty="0"/>
              <a:t>Checkpoint = complete state → fast time travel, fast queries.</a:t>
            </a:r>
          </a:p>
          <a:p>
            <a:pPr>
              <a:spcBef>
                <a:spcPts val="600"/>
              </a:spcBef>
            </a:pPr>
            <a:r>
              <a:rPr lang="en-US" dirty="0"/>
              <a:t>actions up to that version.	</a:t>
            </a:r>
            <a:endParaRPr lang="en-US" sz="800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96814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878509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_</a:t>
            </a:r>
            <a:r>
              <a:rPr lang="en-IN" dirty="0" err="1"/>
              <a:t>last_checkpoint</a:t>
            </a:r>
            <a:r>
              <a:rPr lang="en-IN" dirty="0"/>
              <a:t> File</a:t>
            </a:r>
          </a:p>
          <a:p>
            <a:endParaRPr lang="en-IN" dirty="0"/>
          </a:p>
          <a:p>
            <a:r>
              <a:rPr lang="en-US" b="1" dirty="0"/>
              <a:t>✔ Purpose:</a:t>
            </a:r>
          </a:p>
          <a:p>
            <a:r>
              <a:rPr lang="en-US" dirty="0"/>
              <a:t>	Points to the </a:t>
            </a:r>
            <a:r>
              <a:rPr lang="en-US" b="1" dirty="0"/>
              <a:t>latest checkpoint file</a:t>
            </a:r>
            <a:r>
              <a:rPr lang="en-US" dirty="0"/>
              <a:t>.</a:t>
            </a:r>
          </a:p>
          <a:p>
            <a:endParaRPr lang="en-IN" dirty="0"/>
          </a:p>
          <a:p>
            <a:endParaRPr lang="en-IN" dirty="0">
              <a:effectLst/>
              <a:latin typeface="Arial" panose="020B0604020202020204" pitchFamily="34" charset="0"/>
            </a:endParaRPr>
          </a:p>
          <a:p>
            <a:r>
              <a:rPr lang="en-US" dirty="0">
                <a:effectLst/>
                <a:latin typeface="Arial" panose="020B0604020202020204" pitchFamily="34" charset="0"/>
              </a:rPr>
              <a:t>_</a:t>
            </a:r>
            <a:r>
              <a:rPr lang="en-US" dirty="0" err="1">
                <a:effectLst/>
                <a:latin typeface="Arial" panose="020B0604020202020204" pitchFamily="34" charset="0"/>
              </a:rPr>
              <a:t>last_checkpoint</a:t>
            </a:r>
            <a:endParaRPr lang="en-US" dirty="0">
              <a:effectLst/>
              <a:latin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</a:endParaRPr>
          </a:p>
          <a:p>
            <a:r>
              <a:rPr lang="en-IN" dirty="0"/>
              <a:t>Contains:</a:t>
            </a:r>
            <a:endParaRPr lang="en-US" dirty="0">
              <a:latin typeface="Arial" panose="020B0604020202020204" pitchFamily="34" charset="0"/>
            </a:endParaRPr>
          </a:p>
          <a:p>
            <a:endParaRPr lang="en-US" dirty="0">
              <a:effectLst/>
              <a:latin typeface="Arial" panose="020B0604020202020204" pitchFamily="34" charset="0"/>
            </a:endParaRPr>
          </a:p>
          <a:p>
            <a:r>
              <a:rPr lang="en-US" dirty="0">
                <a:effectLst/>
                <a:latin typeface="Arial" panose="020B0604020202020204" pitchFamily="34" charset="0"/>
              </a:rPr>
              <a:t>{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  "version": 20,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  "size": 3,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  "parts": 1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}</a:t>
            </a:r>
          </a:p>
          <a:p>
            <a:endParaRPr lang="en-US" dirty="0">
              <a:effectLst/>
              <a:latin typeface="Arial" panose="020B0604020202020204" pitchFamily="34" charset="0"/>
            </a:endParaRPr>
          </a:p>
          <a:p>
            <a:endParaRPr lang="en-US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74998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8785098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effectLst/>
                <a:latin typeface="Arial" panose="020B0604020202020204" pitchFamily="34" charset="0"/>
              </a:rPr>
              <a:t>What is Medallion (Bronze–Silver–Gold) Architecture?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In Databricks / Delta Lake, Medallion architecture is a way to structure your data in layers:</a:t>
            </a:r>
          </a:p>
          <a:p>
            <a:endParaRPr lang="en-US" dirty="0">
              <a:effectLst/>
              <a:latin typeface="Arial" panose="020B0604020202020204" pitchFamily="34" charset="0"/>
            </a:endParaRPr>
          </a:p>
          <a:p>
            <a:r>
              <a:rPr lang="en-US" dirty="0">
                <a:effectLst/>
                <a:latin typeface="Arial" panose="020B0604020202020204" pitchFamily="34" charset="0"/>
              </a:rPr>
              <a:t>Bronze (Raw)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	What: Raw ingested data, almost as-is from source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	Goal: Ingest everything reliably &amp; cheaply (append-only)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	Typical format: Delta, “one row = one event/record”</a:t>
            </a:r>
          </a:p>
          <a:p>
            <a:endParaRPr lang="en-US" dirty="0">
              <a:effectLst/>
              <a:latin typeface="Arial" panose="020B0604020202020204" pitchFamily="34" charset="0"/>
            </a:endParaRPr>
          </a:p>
          <a:p>
            <a:r>
              <a:rPr lang="en-US" dirty="0">
                <a:effectLst/>
                <a:latin typeface="Arial" panose="020B0604020202020204" pitchFamily="34" charset="0"/>
              </a:rPr>
              <a:t>Silver (Refined / Conformed)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	What: Cleaned, de-duplicated, standardized data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	Goal: Business-ready, joinable tables (e.g., orders, customers, products)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	Ops: Data quality checks, type casting, deduplication, CDC merges, etc.</a:t>
            </a:r>
          </a:p>
          <a:p>
            <a:endParaRPr lang="en-US" dirty="0">
              <a:effectLst/>
              <a:latin typeface="Arial" panose="020B0604020202020204" pitchFamily="34" charset="0"/>
            </a:endParaRPr>
          </a:p>
          <a:p>
            <a:r>
              <a:rPr lang="en-US" dirty="0">
                <a:effectLst/>
                <a:latin typeface="Arial" panose="020B0604020202020204" pitchFamily="34" charset="0"/>
              </a:rPr>
              <a:t>Gold (Business / Analytics)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	What: Aggregated, curated datasets for reports, dashboards, ML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	Goal: Directly usable by BI tools / business teams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	Ops: Aggregations by date, region, category, customer 360, etc.</a:t>
            </a:r>
          </a:p>
          <a:p>
            <a:endParaRPr lang="en-US" dirty="0">
              <a:effectLst/>
              <a:latin typeface="Arial" panose="020B0604020202020204" pitchFamily="34" charset="0"/>
            </a:endParaRPr>
          </a:p>
          <a:p>
            <a:r>
              <a:rPr lang="en-US" dirty="0">
                <a:effectLst/>
                <a:latin typeface="Arial" panose="020B0604020202020204" pitchFamily="34" charset="0"/>
              </a:rPr>
              <a:t>Think of it as:</a:t>
            </a:r>
          </a:p>
          <a:p>
            <a:r>
              <a:rPr lang="en-US" dirty="0">
                <a:effectLst/>
                <a:latin typeface="Arial" panose="020B0604020202020204" pitchFamily="34" charset="0"/>
              </a:rPr>
              <a:t>	Source Systems → Bronze (raw) → Silver (clean) → Gold (aggregated)</a:t>
            </a:r>
          </a:p>
          <a:p>
            <a:endParaRPr lang="en-US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2671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11356848" cy="453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VACUUM</a:t>
            </a:r>
            <a:r>
              <a:rPr lang="en-US" dirty="0"/>
              <a:t> is a Delta Lake command used to </a:t>
            </a:r>
            <a:r>
              <a:rPr lang="en-US" b="1" dirty="0"/>
              <a:t>remove old data files</a:t>
            </a:r>
            <a:r>
              <a:rPr lang="en-US" dirty="0"/>
              <a:t> that are </a:t>
            </a:r>
            <a:r>
              <a:rPr lang="en-US" b="1" dirty="0"/>
              <a:t>no longer needed</a:t>
            </a:r>
            <a:r>
              <a:rPr lang="en-US" dirty="0"/>
              <a:t> by the Delta table.</a:t>
            </a:r>
          </a:p>
          <a:p>
            <a:pPr>
              <a:spcBef>
                <a:spcPts val="600"/>
              </a:spcBef>
            </a:pPr>
            <a:r>
              <a:rPr lang="en-US" dirty="0"/>
              <a:t>Delta tables keep version history for: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Time Travel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Rollbacks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Streaming reads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MERGE operations</a:t>
            </a:r>
          </a:p>
          <a:p>
            <a:pPr>
              <a:spcBef>
                <a:spcPts val="600"/>
              </a:spcBef>
            </a:pPr>
            <a:r>
              <a:rPr lang="en-US" dirty="0"/>
              <a:t>When data is updated or deleted, </a:t>
            </a:r>
            <a:r>
              <a:rPr lang="en-US" b="1" dirty="0"/>
              <a:t>Delta Lake does NOT remove old files immediately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VACUUM cleans unnecessary files and frees storage.</a:t>
            </a:r>
          </a:p>
          <a:p>
            <a:pPr>
              <a:spcBef>
                <a:spcPts val="600"/>
              </a:spcBef>
            </a:pPr>
            <a:r>
              <a:rPr lang="en-US" b="1" dirty="0"/>
              <a:t>Why VACUUM is Required?</a:t>
            </a:r>
          </a:p>
          <a:p>
            <a:pPr>
              <a:spcBef>
                <a:spcPts val="600"/>
              </a:spcBef>
            </a:pPr>
            <a:r>
              <a:rPr lang="en-US" b="1" dirty="0"/>
              <a:t>	✔ Reduces storage cost</a:t>
            </a:r>
          </a:p>
          <a:p>
            <a:pPr>
              <a:spcBef>
                <a:spcPts val="600"/>
              </a:spcBef>
            </a:pPr>
            <a:r>
              <a:rPr lang="en-US" b="1" dirty="0"/>
              <a:t>	✔ Improves read performance</a:t>
            </a:r>
          </a:p>
          <a:p>
            <a:pPr>
              <a:spcBef>
                <a:spcPts val="600"/>
              </a:spcBef>
            </a:pPr>
            <a:r>
              <a:rPr lang="en-US" b="1" dirty="0"/>
              <a:t>	✔ Avoids old snapshot accumulation</a:t>
            </a:r>
          </a:p>
          <a:p>
            <a:pPr>
              <a:spcBef>
                <a:spcPts val="600"/>
              </a:spcBef>
            </a:pPr>
            <a:r>
              <a:rPr lang="en-US" b="1" dirty="0"/>
              <a:t>	✔ Keeps table storage clean</a:t>
            </a:r>
          </a:p>
        </p:txBody>
      </p:sp>
    </p:spTree>
    <p:extLst>
      <p:ext uri="{BB962C8B-B14F-4D97-AF65-F5344CB8AC3E}">
        <p14:creationId xmlns:p14="http://schemas.microsoft.com/office/powerpoint/2010/main" val="25744709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11356848" cy="5955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Delta Lake stores:</a:t>
            </a: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	1. Data files (Parquet) Actual table data.</a:t>
            </a: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	2. Transaction logs Located in _</a:t>
            </a:r>
            <a:r>
              <a:rPr lang="en-US" dirty="0" err="1">
                <a:effectLst/>
                <a:latin typeface="Arial" panose="020B0604020202020204" pitchFamily="34" charset="0"/>
              </a:rPr>
              <a:t>delta_log</a:t>
            </a:r>
            <a:r>
              <a:rPr lang="en-US" dirty="0">
                <a:effectLst/>
                <a:latin typeface="Arial" panose="020B0604020202020204" pitchFamily="34" charset="0"/>
              </a:rPr>
              <a:t>/</a:t>
            </a:r>
          </a:p>
          <a:p>
            <a:pPr>
              <a:spcBef>
                <a:spcPts val="600"/>
              </a:spcBef>
            </a:pPr>
            <a:endParaRPr lang="en-US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VACUUM only affects unused data files, NOT the transaction logs.</a:t>
            </a:r>
          </a:p>
          <a:p>
            <a:endParaRPr lang="en-US" b="1" dirty="0"/>
          </a:p>
          <a:p>
            <a:pPr>
              <a:spcBef>
                <a:spcPts val="600"/>
              </a:spcBef>
            </a:pPr>
            <a:r>
              <a:rPr lang="en-US" b="1" dirty="0"/>
              <a:t>Default Retention Period</a:t>
            </a:r>
          </a:p>
          <a:p>
            <a:pPr>
              <a:spcBef>
                <a:spcPts val="600"/>
              </a:spcBef>
            </a:pPr>
            <a:r>
              <a:rPr lang="en-US" dirty="0"/>
              <a:t>	Delta Lake </a:t>
            </a:r>
            <a:r>
              <a:rPr lang="en-US" b="1" dirty="0"/>
              <a:t>keeps 7 days</a:t>
            </a:r>
            <a:r>
              <a:rPr lang="en-US" dirty="0"/>
              <a:t> of history by default.</a:t>
            </a:r>
          </a:p>
          <a:p>
            <a:pPr>
              <a:spcBef>
                <a:spcPts val="600"/>
              </a:spcBef>
            </a:pPr>
            <a:r>
              <a:rPr lang="en-US" dirty="0"/>
              <a:t>	VACUUM only deletes files </a:t>
            </a:r>
            <a:r>
              <a:rPr lang="en-US" b="1" dirty="0"/>
              <a:t>older than 7 days</a:t>
            </a:r>
            <a:r>
              <a:rPr lang="en-US" dirty="0"/>
              <a:t> unless explicitly overridden.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r>
              <a:rPr lang="en-US" dirty="0"/>
              <a:t>How Delta Lake Stores Files (Important)</a:t>
            </a:r>
          </a:p>
          <a:p>
            <a:pPr>
              <a:spcBef>
                <a:spcPts val="600"/>
              </a:spcBef>
            </a:pPr>
            <a:r>
              <a:rPr lang="en-US" dirty="0"/>
              <a:t>Basic VACUUM Command</a:t>
            </a:r>
          </a:p>
          <a:p>
            <a:pPr>
              <a:spcBef>
                <a:spcPts val="600"/>
              </a:spcBef>
            </a:pPr>
            <a:r>
              <a:rPr lang="en-US" dirty="0"/>
              <a:t>VACUUM delta.`/</a:t>
            </a:r>
            <a:r>
              <a:rPr lang="en-US" dirty="0" err="1"/>
              <a:t>mnt</a:t>
            </a:r>
            <a:r>
              <a:rPr lang="en-US" dirty="0"/>
              <a:t>/silver/sales` ;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r>
              <a:rPr lang="en-US" dirty="0"/>
              <a:t>or using a Delta table name:</a:t>
            </a:r>
          </a:p>
          <a:p>
            <a:pPr>
              <a:spcBef>
                <a:spcPts val="600"/>
              </a:spcBef>
            </a:pPr>
            <a:r>
              <a:rPr lang="en-US" dirty="0"/>
              <a:t>VACUUM </a:t>
            </a:r>
            <a:r>
              <a:rPr lang="en-US" dirty="0" err="1"/>
              <a:t>silver.sales</a:t>
            </a:r>
            <a:r>
              <a:rPr lang="en-US" dirty="0"/>
              <a:t>;</a:t>
            </a:r>
          </a:p>
          <a:p>
            <a:pPr>
              <a:spcBef>
                <a:spcPts val="600"/>
              </a:spcBef>
            </a:pPr>
            <a:endParaRPr lang="en-US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93335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11356848" cy="6032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>
                <a:effectLst/>
                <a:latin typeface="Arial" panose="020B0604020202020204" pitchFamily="34" charset="0"/>
              </a:rPr>
              <a:t>VACUUM With Retention Period</a:t>
            </a: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Delete files older than 30 days</a:t>
            </a: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	VACUUM </a:t>
            </a:r>
            <a:r>
              <a:rPr lang="en-US" dirty="0" err="1">
                <a:effectLst/>
                <a:latin typeface="Arial" panose="020B0604020202020204" pitchFamily="34" charset="0"/>
              </a:rPr>
              <a:t>silver.sales</a:t>
            </a:r>
            <a:r>
              <a:rPr lang="en-US" dirty="0">
                <a:effectLst/>
                <a:latin typeface="Arial" panose="020B0604020202020204" pitchFamily="34" charset="0"/>
              </a:rPr>
              <a:t> RETAIN 720 HOURS;  --(30 days × 24 = 720)</a:t>
            </a:r>
          </a:p>
          <a:p>
            <a:pPr>
              <a:spcBef>
                <a:spcPts val="600"/>
              </a:spcBef>
            </a:pPr>
            <a:endParaRPr lang="en-US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Delete files older than 1 hour (very risky)</a:t>
            </a: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	VACUUM </a:t>
            </a:r>
            <a:r>
              <a:rPr lang="en-US" dirty="0" err="1">
                <a:effectLst/>
                <a:latin typeface="Arial" panose="020B0604020202020204" pitchFamily="34" charset="0"/>
              </a:rPr>
              <a:t>silver.sales</a:t>
            </a:r>
            <a:r>
              <a:rPr lang="en-US" dirty="0">
                <a:effectLst/>
                <a:latin typeface="Arial" panose="020B0604020202020204" pitchFamily="34" charset="0"/>
              </a:rPr>
              <a:t> RETAIN 1 HOURS;</a:t>
            </a:r>
          </a:p>
          <a:p>
            <a:pPr>
              <a:spcBef>
                <a:spcPts val="600"/>
              </a:spcBef>
            </a:pPr>
            <a:endParaRPr lang="en-US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b="1" dirty="0">
                <a:effectLst/>
                <a:latin typeface="Arial" panose="020B0604020202020204" pitchFamily="34" charset="0"/>
              </a:rPr>
              <a:t>⚠ VERY IMPORTANT</a:t>
            </a:r>
          </a:p>
          <a:p>
            <a:pPr>
              <a:spcBef>
                <a:spcPts val="600"/>
              </a:spcBef>
            </a:pPr>
            <a:endParaRPr lang="en-US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Delta Lake will NOT allow retention &lt; 168 hours (7 days)  unless you disable retention check.</a:t>
            </a:r>
          </a:p>
          <a:p>
            <a:pPr>
              <a:spcBef>
                <a:spcPts val="600"/>
              </a:spcBef>
            </a:pPr>
            <a:endParaRPr lang="en-US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Force VACUUM with &lt;7 days retention (Advanced)</a:t>
            </a: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Step 1 — Disable retention check:</a:t>
            </a: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	SET </a:t>
            </a:r>
            <a:r>
              <a:rPr lang="en-US" dirty="0" err="1">
                <a:effectLst/>
                <a:latin typeface="Arial" panose="020B0604020202020204" pitchFamily="34" charset="0"/>
              </a:rPr>
              <a:t>spark.databricks.delta.retentionDurationCheck.enabled</a:t>
            </a:r>
            <a:r>
              <a:rPr lang="en-US" dirty="0">
                <a:effectLst/>
                <a:latin typeface="Arial" panose="020B0604020202020204" pitchFamily="34" charset="0"/>
              </a:rPr>
              <a:t> = false;</a:t>
            </a:r>
          </a:p>
          <a:p>
            <a:pPr>
              <a:spcBef>
                <a:spcPts val="600"/>
              </a:spcBef>
            </a:pPr>
            <a:endParaRPr lang="en-US" dirty="0">
              <a:effectLst/>
              <a:latin typeface="Arial" panose="020B0604020202020204" pitchFamily="34" charset="0"/>
            </a:endParaRP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Step 2 — Run VACUUM:</a:t>
            </a: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	VACUUM </a:t>
            </a:r>
            <a:r>
              <a:rPr lang="en-US" dirty="0" err="1">
                <a:effectLst/>
                <a:latin typeface="Arial" panose="020B0604020202020204" pitchFamily="34" charset="0"/>
              </a:rPr>
              <a:t>silver.sales</a:t>
            </a:r>
            <a:r>
              <a:rPr lang="en-US" dirty="0">
                <a:effectLst/>
                <a:latin typeface="Arial" panose="020B0604020202020204" pitchFamily="34" charset="0"/>
              </a:rPr>
              <a:t> RETAIN 1 HOURS;</a:t>
            </a:r>
          </a:p>
        </p:txBody>
      </p:sp>
    </p:spTree>
    <p:extLst>
      <p:ext uri="{BB962C8B-B14F-4D97-AF65-F5344CB8AC3E}">
        <p14:creationId xmlns:p14="http://schemas.microsoft.com/office/powerpoint/2010/main" val="27050498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11356848" cy="4262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>
                <a:effectLst/>
                <a:latin typeface="Arial" panose="020B0604020202020204" pitchFamily="34" charset="0"/>
              </a:rPr>
              <a:t>Check How Many Files Can Be Vacuumed</a:t>
            </a:r>
          </a:p>
          <a:p>
            <a:pPr>
              <a:spcBef>
                <a:spcPts val="600"/>
              </a:spcBef>
            </a:pPr>
            <a:r>
              <a:rPr lang="en-US" dirty="0">
                <a:effectLst/>
                <a:latin typeface="Arial" panose="020B0604020202020204" pitchFamily="34" charset="0"/>
              </a:rPr>
              <a:t>	VACUUM </a:t>
            </a:r>
            <a:r>
              <a:rPr lang="en-US" dirty="0" err="1">
                <a:effectLst/>
                <a:latin typeface="Arial" panose="020B0604020202020204" pitchFamily="34" charset="0"/>
              </a:rPr>
              <a:t>silver.sales</a:t>
            </a:r>
            <a:r>
              <a:rPr lang="en-US" dirty="0">
                <a:effectLst/>
                <a:latin typeface="Arial" panose="020B0604020202020204" pitchFamily="34" charset="0"/>
              </a:rPr>
              <a:t> DRY RUN;</a:t>
            </a:r>
          </a:p>
          <a:p>
            <a:pPr>
              <a:spcBef>
                <a:spcPts val="600"/>
              </a:spcBef>
            </a:pPr>
            <a:r>
              <a:rPr lang="en-US" dirty="0"/>
              <a:t>This shows which files </a:t>
            </a:r>
            <a:r>
              <a:rPr lang="en-US" b="1" dirty="0"/>
              <a:t>would</a:t>
            </a:r>
            <a:r>
              <a:rPr lang="en-US" dirty="0"/>
              <a:t> be deleted, but does NOT delete them.</a:t>
            </a:r>
          </a:p>
          <a:p>
            <a:pPr>
              <a:spcBef>
                <a:spcPts val="600"/>
              </a:spcBef>
            </a:pPr>
            <a:endParaRPr lang="en-US" b="1" dirty="0"/>
          </a:p>
          <a:p>
            <a:pPr>
              <a:spcBef>
                <a:spcPts val="600"/>
              </a:spcBef>
            </a:pPr>
            <a:r>
              <a:rPr lang="en-US" b="1" dirty="0"/>
              <a:t>When to Run VACUUM?</a:t>
            </a:r>
          </a:p>
          <a:p>
            <a:pPr lvl="1">
              <a:spcBef>
                <a:spcPts val="600"/>
              </a:spcBef>
            </a:pPr>
            <a:r>
              <a:rPr lang="en-US" b="1" dirty="0"/>
              <a:t>After large delete or update</a:t>
            </a:r>
          </a:p>
          <a:p>
            <a:pPr lvl="1">
              <a:spcBef>
                <a:spcPts val="600"/>
              </a:spcBef>
            </a:pPr>
            <a:r>
              <a:rPr lang="en-US" b="1" dirty="0"/>
              <a:t>After MERGE operations</a:t>
            </a:r>
          </a:p>
          <a:p>
            <a:pPr lvl="1">
              <a:spcBef>
                <a:spcPts val="600"/>
              </a:spcBef>
            </a:pPr>
            <a:r>
              <a:rPr lang="en-US" b="1" dirty="0"/>
              <a:t>When storage cost increases</a:t>
            </a:r>
          </a:p>
          <a:p>
            <a:pPr lvl="1">
              <a:spcBef>
                <a:spcPts val="600"/>
              </a:spcBef>
            </a:pPr>
            <a:r>
              <a:rPr lang="en-US" b="1" dirty="0"/>
              <a:t>After archiving old partitions</a:t>
            </a:r>
          </a:p>
          <a:p>
            <a:pPr lvl="1">
              <a:spcBef>
                <a:spcPts val="600"/>
              </a:spcBef>
            </a:pPr>
            <a:r>
              <a:rPr lang="en-US" b="1" dirty="0"/>
              <a:t>Regular cleanup (nightly or weekly)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endParaRPr lang="en-US" dirty="0"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9499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113568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VACUUM Limitations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CEB2E9-A499-3F2C-A7FB-E6226ED2DA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629097"/>
              </p:ext>
            </p:extLst>
          </p:nvPr>
        </p:nvGraphicFramePr>
        <p:xfrm>
          <a:off x="356616" y="1234440"/>
          <a:ext cx="10131424" cy="2194560"/>
        </p:xfrm>
        <a:graphic>
          <a:graphicData uri="http://schemas.openxmlformats.org/drawingml/2006/table">
            <a:tbl>
              <a:tblPr/>
              <a:tblGrid>
                <a:gridCol w="5065712">
                  <a:extLst>
                    <a:ext uri="{9D8B030D-6E8A-4147-A177-3AD203B41FA5}">
                      <a16:colId xmlns:a16="http://schemas.microsoft.com/office/drawing/2014/main" val="2520754574"/>
                    </a:ext>
                  </a:extLst>
                </a:gridCol>
                <a:gridCol w="5065712">
                  <a:extLst>
                    <a:ext uri="{9D8B030D-6E8A-4147-A177-3AD203B41FA5}">
                      <a16:colId xmlns:a16="http://schemas.microsoft.com/office/drawing/2014/main" val="208057499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Supported?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87195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Deletes unused Parquet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  <a:r>
                        <a:rPr lang="en-IN" sz="1800" dirty="0"/>
                        <a:t>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3453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Deletes delta logs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 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418651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Works with streaming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Yes</a:t>
                      </a:r>
                      <a:endParaRPr lang="en-IN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267811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/>
                        <a:t>Force vacuum smaller than 7 days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Yes (unsafe mode)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253418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Needed for Auto Loader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421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29422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11356848" cy="4001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Liquid Clustering</a:t>
            </a:r>
          </a:p>
          <a:p>
            <a:pPr>
              <a:spcBef>
                <a:spcPts val="600"/>
              </a:spcBef>
            </a:pPr>
            <a:r>
              <a:rPr lang="en-US" b="1" dirty="0"/>
              <a:t>Liquid Clustering</a:t>
            </a:r>
            <a:r>
              <a:rPr lang="en-US" dirty="0"/>
              <a:t> is an </a:t>
            </a:r>
            <a:r>
              <a:rPr lang="en-US" b="1" dirty="0"/>
              <a:t>advanced data layout feature</a:t>
            </a:r>
            <a:r>
              <a:rPr lang="en-US" dirty="0"/>
              <a:t> in Delta Lake on Databricks that automatically organizes your table data to improve </a:t>
            </a:r>
            <a:r>
              <a:rPr lang="en-US" b="1" dirty="0"/>
              <a:t>query performance</a:t>
            </a:r>
            <a:r>
              <a:rPr lang="en-US" dirty="0"/>
              <a:t> — without requiring fixed partitions.</a:t>
            </a:r>
          </a:p>
          <a:p>
            <a:r>
              <a:rPr lang="en-US" b="1" dirty="0"/>
              <a:t>Automatic, flexible, smart partitioning.”</a:t>
            </a:r>
            <a:endParaRPr lang="en-US" dirty="0"/>
          </a:p>
          <a:p>
            <a:endParaRPr lang="en-US" dirty="0"/>
          </a:p>
          <a:p>
            <a:r>
              <a:rPr lang="en-US" dirty="0"/>
              <a:t>But </a:t>
            </a:r>
            <a:r>
              <a:rPr lang="en-US" b="1" dirty="0"/>
              <a:t>better than traditional partitioning</a:t>
            </a:r>
            <a:r>
              <a:rPr lang="en-US" dirty="0"/>
              <a:t> because:</a:t>
            </a:r>
          </a:p>
          <a:p>
            <a:pPr lvl="1"/>
            <a:r>
              <a:rPr lang="en-US" b="1" dirty="0"/>
              <a:t>No need to choose partitions</a:t>
            </a:r>
          </a:p>
          <a:p>
            <a:pPr lvl="1"/>
            <a:r>
              <a:rPr lang="en-US" b="1" dirty="0"/>
              <a:t>No need to manage too many small partitions</a:t>
            </a:r>
          </a:p>
          <a:p>
            <a:pPr lvl="1"/>
            <a:r>
              <a:rPr lang="en-US" b="1" dirty="0"/>
              <a:t>Automatically adapts when data distribution changes</a:t>
            </a:r>
          </a:p>
          <a:p>
            <a:pPr lvl="1"/>
            <a:r>
              <a:rPr lang="en-US" b="1" dirty="0"/>
              <a:t>Great for large tables (billions of rows)</a:t>
            </a:r>
          </a:p>
          <a:p>
            <a:pPr>
              <a:spcBef>
                <a:spcPts val="600"/>
              </a:spcBef>
            </a:pPr>
            <a:endParaRPr lang="en-US" b="1" dirty="0"/>
          </a:p>
          <a:p>
            <a:pPr>
              <a:spcBef>
                <a:spcPts val="600"/>
              </a:spcBef>
            </a:pPr>
            <a:r>
              <a:rPr lang="en-US" b="1" dirty="0"/>
              <a:t> Why Liquid Clustering Was Introduced?</a:t>
            </a:r>
          </a:p>
          <a:p>
            <a:pPr>
              <a:spcBef>
                <a:spcPts val="600"/>
              </a:spcBef>
            </a:pPr>
            <a:endParaRPr lang="en-IN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D5BB7D7-8C3E-C68B-CDDB-B9B4F1D8F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8483521"/>
              </p:ext>
            </p:extLst>
          </p:nvPr>
        </p:nvGraphicFramePr>
        <p:xfrm>
          <a:off x="478536" y="4140105"/>
          <a:ext cx="10131424" cy="2103120"/>
        </p:xfrm>
        <a:graphic>
          <a:graphicData uri="http://schemas.openxmlformats.org/drawingml/2006/table">
            <a:tbl>
              <a:tblPr/>
              <a:tblGrid>
                <a:gridCol w="5065712">
                  <a:extLst>
                    <a:ext uri="{9D8B030D-6E8A-4147-A177-3AD203B41FA5}">
                      <a16:colId xmlns:a16="http://schemas.microsoft.com/office/drawing/2014/main" val="3780119721"/>
                    </a:ext>
                  </a:extLst>
                </a:gridCol>
                <a:gridCol w="5065712">
                  <a:extLst>
                    <a:ext uri="{9D8B030D-6E8A-4147-A177-3AD203B41FA5}">
                      <a16:colId xmlns:a16="http://schemas.microsoft.com/office/drawing/2014/main" val="92362142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Problem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5621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Choosing wrong partition key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Partition on country → imbalanced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044281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Too many partitions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High metadata overhead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199354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Partition skew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90% of data in 1 partition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28988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/>
                        <a:t>Poor performance when querying multiple partitions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Long scans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769266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8BA4E17-4EA8-A064-41D5-6FE88041AC8D}"/>
              </a:ext>
            </a:extLst>
          </p:cNvPr>
          <p:cNvSpPr txBox="1"/>
          <p:nvPr/>
        </p:nvSpPr>
        <p:spPr>
          <a:xfrm>
            <a:off x="356616" y="6417302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Liquid clustering fixes all of these.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78316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68CF13B-5414-1797-004B-E6905F821476}"/>
              </a:ext>
            </a:extLst>
          </p:cNvPr>
          <p:cNvSpPr txBox="1"/>
          <p:nvPr/>
        </p:nvSpPr>
        <p:spPr>
          <a:xfrm>
            <a:off x="356616" y="320041"/>
            <a:ext cx="11356848" cy="63863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How Liquid Clustering Works</a:t>
            </a: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Instead of large fixed partitions, Databricks:</a:t>
            </a:r>
          </a:p>
          <a:p>
            <a:pPr lvl="1">
              <a:spcBef>
                <a:spcPts val="600"/>
              </a:spcBef>
            </a:pPr>
            <a:r>
              <a:rPr lang="en-IN" b="1" dirty="0"/>
              <a:t>Breaks data into liquid clusters</a:t>
            </a:r>
          </a:p>
          <a:p>
            <a:pPr lvl="1">
              <a:spcBef>
                <a:spcPts val="600"/>
              </a:spcBef>
            </a:pPr>
            <a:r>
              <a:rPr lang="en-IN" b="1" dirty="0"/>
              <a:t>Uses clustering keys (e.g., date, </a:t>
            </a:r>
            <a:r>
              <a:rPr lang="en-IN" b="1" dirty="0" err="1"/>
              <a:t>customer_id</a:t>
            </a:r>
            <a:r>
              <a:rPr lang="en-IN" b="1" dirty="0"/>
              <a:t>)</a:t>
            </a:r>
          </a:p>
          <a:p>
            <a:pPr lvl="1">
              <a:spcBef>
                <a:spcPts val="600"/>
              </a:spcBef>
            </a:pPr>
            <a:r>
              <a:rPr lang="en-IN" b="1" dirty="0"/>
              <a:t>Moves data around to group similar values</a:t>
            </a:r>
          </a:p>
          <a:p>
            <a:pPr lvl="1">
              <a:spcBef>
                <a:spcPts val="600"/>
              </a:spcBef>
            </a:pPr>
            <a:r>
              <a:rPr lang="en-IN" b="1" dirty="0"/>
              <a:t>Continuously maintains cluster quality</a:t>
            </a:r>
          </a:p>
          <a:p>
            <a:pPr lvl="1">
              <a:spcBef>
                <a:spcPts val="600"/>
              </a:spcBef>
            </a:pPr>
            <a:r>
              <a:rPr lang="en-IN" b="1" dirty="0"/>
              <a:t>Uses OPTIMIZE to reorganize data</a:t>
            </a:r>
          </a:p>
          <a:p>
            <a:pPr>
              <a:spcBef>
                <a:spcPts val="600"/>
              </a:spcBef>
            </a:pPr>
            <a:r>
              <a:rPr lang="en-IN" dirty="0"/>
              <a:t>A cluster is </a:t>
            </a:r>
            <a:r>
              <a:rPr lang="en-IN" b="1" dirty="0"/>
              <a:t>NOT a partition</a:t>
            </a:r>
            <a:r>
              <a:rPr lang="en-IN" dirty="0"/>
              <a:t>; it's an internal optimization unit.</a:t>
            </a:r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r>
              <a:rPr lang="en-IN" b="1" dirty="0"/>
              <a:t>When to Use Liquid Clustering?</a:t>
            </a:r>
          </a:p>
          <a:p>
            <a:pPr>
              <a:spcBef>
                <a:spcPts val="600"/>
              </a:spcBef>
            </a:pPr>
            <a:r>
              <a:rPr lang="en-IN" b="1" dirty="0"/>
              <a:t>Use Liquid Clustering when:</a:t>
            </a:r>
          </a:p>
          <a:p>
            <a:pPr lvl="1">
              <a:spcBef>
                <a:spcPts val="600"/>
              </a:spcBef>
            </a:pPr>
            <a:r>
              <a:rPr lang="en-IN" b="1" dirty="0"/>
              <a:t> Frequent updates/merges</a:t>
            </a:r>
          </a:p>
          <a:p>
            <a:pPr lvl="1">
              <a:spcBef>
                <a:spcPts val="600"/>
              </a:spcBef>
            </a:pPr>
            <a:r>
              <a:rPr lang="en-IN" b="1" dirty="0"/>
              <a:t> Very large Delta tables</a:t>
            </a:r>
          </a:p>
          <a:p>
            <a:pPr lvl="1">
              <a:spcBef>
                <a:spcPts val="600"/>
              </a:spcBef>
            </a:pPr>
            <a:r>
              <a:rPr lang="en-IN" b="1" dirty="0"/>
              <a:t> Skewed data</a:t>
            </a:r>
          </a:p>
          <a:p>
            <a:pPr lvl="1">
              <a:spcBef>
                <a:spcPts val="600"/>
              </a:spcBef>
            </a:pPr>
            <a:r>
              <a:rPr lang="en-IN" b="1" dirty="0"/>
              <a:t> Multi-column filter queries</a:t>
            </a:r>
          </a:p>
          <a:p>
            <a:pPr lvl="1">
              <a:spcBef>
                <a:spcPts val="600"/>
              </a:spcBef>
            </a:pPr>
            <a:r>
              <a:rPr lang="en-IN" b="1" dirty="0"/>
              <a:t> You want ZORDER-like optimization but automated</a:t>
            </a:r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8891877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D54F1F2-29BE-C130-D077-5799ACA74E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386898"/>
              </p:ext>
            </p:extLst>
          </p:nvPr>
        </p:nvGraphicFramePr>
        <p:xfrm>
          <a:off x="566928" y="866553"/>
          <a:ext cx="10661904" cy="2834640"/>
        </p:xfrm>
        <a:graphic>
          <a:graphicData uri="http://schemas.openxmlformats.org/drawingml/2006/table">
            <a:tbl>
              <a:tblPr/>
              <a:tblGrid>
                <a:gridCol w="3553968">
                  <a:extLst>
                    <a:ext uri="{9D8B030D-6E8A-4147-A177-3AD203B41FA5}">
                      <a16:colId xmlns:a16="http://schemas.microsoft.com/office/drawing/2014/main" val="778880292"/>
                    </a:ext>
                  </a:extLst>
                </a:gridCol>
                <a:gridCol w="3553968">
                  <a:extLst>
                    <a:ext uri="{9D8B030D-6E8A-4147-A177-3AD203B41FA5}">
                      <a16:colId xmlns:a16="http://schemas.microsoft.com/office/drawing/2014/main" val="812290264"/>
                    </a:ext>
                  </a:extLst>
                </a:gridCol>
                <a:gridCol w="3553968">
                  <a:extLst>
                    <a:ext uri="{9D8B030D-6E8A-4147-A177-3AD203B41FA5}">
                      <a16:colId xmlns:a16="http://schemas.microsoft.com/office/drawing/2014/main" val="101776811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Partitioning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Liquid 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054573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Fixed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126496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Auto adapts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10891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Skew resistant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89714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Multi-column 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Limited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532431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Write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0512897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IN" sz="1800"/>
                        <a:t>Query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Good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Excellent (especially for selective queries)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13453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477279F-78D2-6E55-86AA-3860397B3E77}"/>
              </a:ext>
            </a:extLst>
          </p:cNvPr>
          <p:cNvSpPr txBox="1"/>
          <p:nvPr/>
        </p:nvSpPr>
        <p:spPr>
          <a:xfrm>
            <a:off x="477774" y="354830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Liquid Clustering vs Partitioning</a:t>
            </a:r>
          </a:p>
        </p:txBody>
      </p:sp>
    </p:spTree>
    <p:extLst>
      <p:ext uri="{BB962C8B-B14F-4D97-AF65-F5344CB8AC3E}">
        <p14:creationId xmlns:p14="http://schemas.microsoft.com/office/powerpoint/2010/main" val="5837247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477279F-78D2-6E55-86AA-3860397B3E77}"/>
              </a:ext>
            </a:extLst>
          </p:cNvPr>
          <p:cNvSpPr txBox="1"/>
          <p:nvPr/>
        </p:nvSpPr>
        <p:spPr>
          <a:xfrm>
            <a:off x="477774" y="354830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Liquid Clustering vs </a:t>
            </a:r>
            <a:r>
              <a:rPr lang="en-IN" b="1" dirty="0" err="1"/>
              <a:t>Zorder</a:t>
            </a:r>
            <a:endParaRPr lang="en-IN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CE5F240-67AB-14CE-AF14-AFBCC24065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291920"/>
              </p:ext>
            </p:extLst>
          </p:nvPr>
        </p:nvGraphicFramePr>
        <p:xfrm>
          <a:off x="594360" y="939705"/>
          <a:ext cx="10131426" cy="2194560"/>
        </p:xfrm>
        <a:graphic>
          <a:graphicData uri="http://schemas.openxmlformats.org/drawingml/2006/table">
            <a:tbl>
              <a:tblPr/>
              <a:tblGrid>
                <a:gridCol w="3377142">
                  <a:extLst>
                    <a:ext uri="{9D8B030D-6E8A-4147-A177-3AD203B41FA5}">
                      <a16:colId xmlns:a16="http://schemas.microsoft.com/office/drawing/2014/main" val="1660958915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694617810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91690625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ZORDER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Liquid 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975409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One-time optimization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❌ (continuous)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29071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Automatic maintenance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668161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Multi-column 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Limited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Strong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310962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Read-heavy workloads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Read + write workloads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865786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Rebuild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Manual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Automatic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451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2249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477279F-78D2-6E55-86AA-3860397B3E77}"/>
              </a:ext>
            </a:extLst>
          </p:cNvPr>
          <p:cNvSpPr txBox="1"/>
          <p:nvPr/>
        </p:nvSpPr>
        <p:spPr>
          <a:xfrm>
            <a:off x="477774" y="354830"/>
            <a:ext cx="10988802" cy="67095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Medallion Architecture (Bronze–Silver–Gold Model)</a:t>
            </a:r>
          </a:p>
          <a:p>
            <a:endParaRPr lang="en-IN" b="1" dirty="0"/>
          </a:p>
          <a:p>
            <a:r>
              <a:rPr lang="en-IN" b="1" dirty="0"/>
              <a:t>The Medallion Model is a layered data architecture used in modern data platforms (especially Databricks Lakehouse) to systematically organize data as it moves from raw ingestion to business-ready analytics.</a:t>
            </a:r>
          </a:p>
          <a:p>
            <a:r>
              <a:rPr lang="en-IN" b="1" dirty="0"/>
              <a:t>It improves data quality, governance, performance, and scalability.</a:t>
            </a:r>
          </a:p>
          <a:p>
            <a:endParaRPr lang="en-IN" b="1" dirty="0"/>
          </a:p>
          <a:p>
            <a:pPr>
              <a:spcBef>
                <a:spcPts val="600"/>
              </a:spcBef>
            </a:pPr>
            <a:r>
              <a:rPr lang="en-IN" b="1" dirty="0"/>
              <a:t>Architecture Layers</a:t>
            </a:r>
          </a:p>
          <a:p>
            <a:pPr>
              <a:spcBef>
                <a:spcPts val="600"/>
              </a:spcBef>
            </a:pPr>
            <a:r>
              <a:rPr lang="en-IN" b="1" dirty="0"/>
              <a:t> Bronze Layer – Raw Data</a:t>
            </a:r>
          </a:p>
          <a:p>
            <a:pPr>
              <a:spcBef>
                <a:spcPts val="600"/>
              </a:spcBef>
            </a:pPr>
            <a:r>
              <a:rPr lang="en-IN" b="1" dirty="0"/>
              <a:t>	Stores raw, ingested data exactly as received</a:t>
            </a:r>
          </a:p>
          <a:p>
            <a:pPr>
              <a:spcBef>
                <a:spcPts val="600"/>
              </a:spcBef>
            </a:pPr>
            <a:r>
              <a:rPr lang="en-IN" b="1" dirty="0"/>
              <a:t>	Source formats: CSV, JSON, Parquet, logs, IoT streams, etc.</a:t>
            </a:r>
          </a:p>
          <a:p>
            <a:pPr>
              <a:spcBef>
                <a:spcPts val="600"/>
              </a:spcBef>
            </a:pPr>
            <a:r>
              <a:rPr lang="en-IN" b="1" dirty="0"/>
              <a:t>	Minimal transformations (only ingestion metadata like load time)</a:t>
            </a:r>
          </a:p>
          <a:p>
            <a:pPr>
              <a:spcBef>
                <a:spcPts val="600"/>
              </a:spcBef>
            </a:pPr>
            <a:endParaRPr lang="en-IN" b="1" dirty="0"/>
          </a:p>
          <a:p>
            <a:pPr>
              <a:spcBef>
                <a:spcPts val="600"/>
              </a:spcBef>
            </a:pPr>
            <a:r>
              <a:rPr lang="en-IN" b="1" dirty="0"/>
              <a:t>Purpose:</a:t>
            </a:r>
          </a:p>
          <a:p>
            <a:pPr>
              <a:spcBef>
                <a:spcPts val="600"/>
              </a:spcBef>
            </a:pPr>
            <a:r>
              <a:rPr lang="en-IN" b="1" dirty="0"/>
              <a:t>	Data traceability &amp; audit</a:t>
            </a:r>
          </a:p>
          <a:p>
            <a:pPr>
              <a:spcBef>
                <a:spcPts val="600"/>
              </a:spcBef>
            </a:pPr>
            <a:r>
              <a:rPr lang="en-IN" b="1" dirty="0"/>
              <a:t>	Reprocessing capability</a:t>
            </a:r>
          </a:p>
          <a:p>
            <a:pPr>
              <a:spcBef>
                <a:spcPts val="600"/>
              </a:spcBef>
            </a:pPr>
            <a:r>
              <a:rPr lang="en-IN" b="1" dirty="0"/>
              <a:t>Example:</a:t>
            </a:r>
          </a:p>
          <a:p>
            <a:pPr>
              <a:spcBef>
                <a:spcPts val="600"/>
              </a:spcBef>
            </a:pPr>
            <a:r>
              <a:rPr lang="en-IN" b="1" dirty="0"/>
              <a:t>	Raw sales transactions</a:t>
            </a:r>
          </a:p>
          <a:p>
            <a:pPr>
              <a:spcBef>
                <a:spcPts val="600"/>
              </a:spcBef>
            </a:pPr>
            <a:r>
              <a:rPr lang="en-IN" b="1" dirty="0"/>
              <a:t>	Source system dumps</a:t>
            </a:r>
          </a:p>
          <a:p>
            <a:pPr>
              <a:spcBef>
                <a:spcPts val="600"/>
              </a:spcBef>
            </a:pPr>
            <a:endParaRPr lang="en-IN" b="1" dirty="0"/>
          </a:p>
          <a:p>
            <a:pPr>
              <a:spcBef>
                <a:spcPts val="600"/>
              </a:spcBef>
            </a:pPr>
            <a:r>
              <a:rPr lang="en-IN" b="1" dirty="0"/>
              <a:t>🥈</a:t>
            </a:r>
          </a:p>
        </p:txBody>
      </p:sp>
    </p:spTree>
    <p:extLst>
      <p:ext uri="{BB962C8B-B14F-4D97-AF65-F5344CB8AC3E}">
        <p14:creationId xmlns:p14="http://schemas.microsoft.com/office/powerpoint/2010/main" val="32160052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477279F-78D2-6E55-86AA-3860397B3E77}"/>
              </a:ext>
            </a:extLst>
          </p:cNvPr>
          <p:cNvSpPr txBox="1"/>
          <p:nvPr/>
        </p:nvSpPr>
        <p:spPr>
          <a:xfrm>
            <a:off x="477774" y="354830"/>
            <a:ext cx="10988802" cy="4970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Silver Layer – Cleaned &amp; Enriched Data</a:t>
            </a:r>
          </a:p>
          <a:p>
            <a:pPr>
              <a:spcBef>
                <a:spcPts val="600"/>
              </a:spcBef>
            </a:pPr>
            <a:r>
              <a:rPr lang="en-US" b="1" dirty="0"/>
              <a:t>Data is cleaned, validated, and standardized</a:t>
            </a:r>
          </a:p>
          <a:p>
            <a:pPr>
              <a:spcBef>
                <a:spcPts val="600"/>
              </a:spcBef>
            </a:pPr>
            <a:r>
              <a:rPr lang="en-US" b="1" dirty="0"/>
              <a:t>	Business rules applied:</a:t>
            </a:r>
          </a:p>
          <a:p>
            <a:pPr>
              <a:spcBef>
                <a:spcPts val="600"/>
              </a:spcBef>
            </a:pPr>
            <a:r>
              <a:rPr lang="en-US" b="1" dirty="0"/>
              <a:t>	Remove duplicates</a:t>
            </a:r>
          </a:p>
          <a:p>
            <a:pPr>
              <a:spcBef>
                <a:spcPts val="600"/>
              </a:spcBef>
            </a:pPr>
            <a:r>
              <a:rPr lang="en-US" b="1" dirty="0"/>
              <a:t>	Handle nulls</a:t>
            </a:r>
          </a:p>
          <a:p>
            <a:pPr>
              <a:spcBef>
                <a:spcPts val="600"/>
              </a:spcBef>
            </a:pPr>
            <a:r>
              <a:rPr lang="en-US" b="1" dirty="0"/>
              <a:t>	Type casting</a:t>
            </a:r>
          </a:p>
          <a:p>
            <a:pPr>
              <a:spcBef>
                <a:spcPts val="600"/>
              </a:spcBef>
            </a:pPr>
            <a:r>
              <a:rPr lang="en-US" b="1" dirty="0"/>
              <a:t>	Referential integrity</a:t>
            </a:r>
          </a:p>
          <a:p>
            <a:pPr>
              <a:spcBef>
                <a:spcPts val="600"/>
              </a:spcBef>
            </a:pPr>
            <a:r>
              <a:rPr lang="en-US" b="1" dirty="0"/>
              <a:t>	Data from multiple Bronze sources may be joined</a:t>
            </a:r>
          </a:p>
          <a:p>
            <a:pPr>
              <a:spcBef>
                <a:spcPts val="600"/>
              </a:spcBef>
            </a:pPr>
            <a:r>
              <a:rPr lang="en-US" b="1" dirty="0"/>
              <a:t>Purpose:</a:t>
            </a:r>
          </a:p>
          <a:p>
            <a:pPr>
              <a:spcBef>
                <a:spcPts val="600"/>
              </a:spcBef>
            </a:pPr>
            <a:r>
              <a:rPr lang="en-US" b="1" dirty="0"/>
              <a:t>	Trusted, analytics-ready data</a:t>
            </a:r>
          </a:p>
          <a:p>
            <a:pPr>
              <a:spcBef>
                <a:spcPts val="600"/>
              </a:spcBef>
            </a:pPr>
            <a:r>
              <a:rPr lang="en-US" b="1" dirty="0"/>
              <a:t>	Reusable for multiple use cases</a:t>
            </a:r>
          </a:p>
          <a:p>
            <a:pPr>
              <a:spcBef>
                <a:spcPts val="600"/>
              </a:spcBef>
            </a:pPr>
            <a:r>
              <a:rPr lang="en-US" b="1" dirty="0"/>
              <a:t>Example:</a:t>
            </a:r>
          </a:p>
          <a:p>
            <a:pPr>
              <a:spcBef>
                <a:spcPts val="600"/>
              </a:spcBef>
            </a:pPr>
            <a:r>
              <a:rPr lang="en-US" b="1" dirty="0"/>
              <a:t>	Validated customer orders</a:t>
            </a:r>
          </a:p>
          <a:p>
            <a:pPr>
              <a:spcBef>
                <a:spcPts val="600"/>
              </a:spcBef>
            </a:pPr>
            <a:r>
              <a:rPr lang="en-US" b="1" dirty="0"/>
              <a:t>Enriched sales with product &amp; customer master data</a:t>
            </a:r>
          </a:p>
        </p:txBody>
      </p:sp>
    </p:spTree>
    <p:extLst>
      <p:ext uri="{BB962C8B-B14F-4D97-AF65-F5344CB8AC3E}">
        <p14:creationId xmlns:p14="http://schemas.microsoft.com/office/powerpoint/2010/main" val="2486069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477279F-78D2-6E55-86AA-3860397B3E77}"/>
              </a:ext>
            </a:extLst>
          </p:cNvPr>
          <p:cNvSpPr txBox="1"/>
          <p:nvPr/>
        </p:nvSpPr>
        <p:spPr>
          <a:xfrm>
            <a:off x="477774" y="354830"/>
            <a:ext cx="10988802" cy="6032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endParaRPr lang="en-US" b="1" dirty="0"/>
          </a:p>
          <a:p>
            <a:pPr>
              <a:spcBef>
                <a:spcPts val="600"/>
              </a:spcBef>
            </a:pPr>
            <a:r>
              <a:rPr lang="en-US" b="1" dirty="0"/>
              <a:t>Gold Layer – Business Aggregates</a:t>
            </a:r>
          </a:p>
          <a:p>
            <a:pPr>
              <a:spcBef>
                <a:spcPts val="600"/>
              </a:spcBef>
            </a:pPr>
            <a:endParaRPr lang="en-US" b="1" dirty="0"/>
          </a:p>
          <a:p>
            <a:pPr>
              <a:spcBef>
                <a:spcPts val="600"/>
              </a:spcBef>
            </a:pPr>
            <a:r>
              <a:rPr lang="en-US" b="1" dirty="0"/>
              <a:t>Data is aggregated and optimized for reporting &amp; BI</a:t>
            </a:r>
          </a:p>
          <a:p>
            <a:pPr>
              <a:spcBef>
                <a:spcPts val="600"/>
              </a:spcBef>
            </a:pPr>
            <a:r>
              <a:rPr lang="en-US" b="1" dirty="0"/>
              <a:t>Designed for:</a:t>
            </a:r>
          </a:p>
          <a:p>
            <a:pPr>
              <a:spcBef>
                <a:spcPts val="600"/>
              </a:spcBef>
            </a:pPr>
            <a:r>
              <a:rPr lang="en-US" b="1" dirty="0"/>
              <a:t>	Dashboards</a:t>
            </a:r>
          </a:p>
          <a:p>
            <a:pPr>
              <a:spcBef>
                <a:spcPts val="600"/>
              </a:spcBef>
            </a:pPr>
            <a:r>
              <a:rPr lang="en-US" b="1" dirty="0"/>
              <a:t>	KPIs</a:t>
            </a:r>
          </a:p>
          <a:p>
            <a:pPr>
              <a:spcBef>
                <a:spcPts val="600"/>
              </a:spcBef>
            </a:pPr>
            <a:r>
              <a:rPr lang="en-US" b="1" dirty="0"/>
              <a:t>	Highly curated and performance-tuned</a:t>
            </a:r>
          </a:p>
          <a:p>
            <a:pPr>
              <a:spcBef>
                <a:spcPts val="600"/>
              </a:spcBef>
            </a:pPr>
            <a:endParaRPr lang="en-US" b="1" dirty="0"/>
          </a:p>
          <a:p>
            <a:pPr>
              <a:spcBef>
                <a:spcPts val="600"/>
              </a:spcBef>
            </a:pPr>
            <a:r>
              <a:rPr lang="en-US" b="1" dirty="0"/>
              <a:t>Purpose:</a:t>
            </a:r>
          </a:p>
          <a:p>
            <a:pPr>
              <a:spcBef>
                <a:spcPts val="600"/>
              </a:spcBef>
            </a:pPr>
            <a:r>
              <a:rPr lang="en-US" b="1" dirty="0"/>
              <a:t>	Business decision-making</a:t>
            </a:r>
          </a:p>
          <a:p>
            <a:pPr>
              <a:spcBef>
                <a:spcPts val="600"/>
              </a:spcBef>
            </a:pPr>
            <a:r>
              <a:rPr lang="en-US" b="1" dirty="0"/>
              <a:t>Example:</a:t>
            </a:r>
          </a:p>
          <a:p>
            <a:pPr>
              <a:spcBef>
                <a:spcPts val="600"/>
              </a:spcBef>
            </a:pPr>
            <a:r>
              <a:rPr lang="en-US" b="1" dirty="0"/>
              <a:t>	Daily sales summary</a:t>
            </a:r>
          </a:p>
          <a:p>
            <a:pPr>
              <a:spcBef>
                <a:spcPts val="600"/>
              </a:spcBef>
            </a:pPr>
            <a:r>
              <a:rPr lang="en-US" b="1" dirty="0"/>
              <a:t>	Revenue by region / product</a:t>
            </a:r>
          </a:p>
          <a:p>
            <a:pPr>
              <a:spcBef>
                <a:spcPts val="600"/>
              </a:spcBef>
            </a:pPr>
            <a:r>
              <a:rPr lang="en-US" b="1" dirty="0"/>
              <a:t>	Customer lifetime value</a:t>
            </a:r>
            <a:endParaRPr lang="en-IN" b="1" dirty="0"/>
          </a:p>
          <a:p>
            <a:pPr>
              <a:spcBef>
                <a:spcPts val="600"/>
              </a:spcBef>
            </a:pPr>
            <a:endParaRPr lang="en-IN" b="1" dirty="0"/>
          </a:p>
          <a:p>
            <a:pPr>
              <a:spcBef>
                <a:spcPts val="600"/>
              </a:spcBef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795934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BD7DAE-60E2-0677-988F-378D7B441AD9}"/>
              </a:ext>
            </a:extLst>
          </p:cNvPr>
          <p:cNvSpPr txBox="1"/>
          <p:nvPr/>
        </p:nvSpPr>
        <p:spPr>
          <a:xfrm>
            <a:off x="201168" y="329185"/>
            <a:ext cx="10113264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dirty="0"/>
              <a:t>Databricks Workflows automate data engineering pipelines, ETL jobs, ML workflows, and production tasks using:</a:t>
            </a:r>
          </a:p>
          <a:p>
            <a:pPr>
              <a:spcBef>
                <a:spcPts val="600"/>
              </a:spcBef>
            </a:pPr>
            <a:r>
              <a:rPr lang="en-IN" dirty="0"/>
              <a:t>	Jobs</a:t>
            </a:r>
          </a:p>
          <a:p>
            <a:pPr>
              <a:spcBef>
                <a:spcPts val="600"/>
              </a:spcBef>
            </a:pPr>
            <a:r>
              <a:rPr lang="en-IN" dirty="0"/>
              <a:t>	Tasks</a:t>
            </a:r>
          </a:p>
          <a:p>
            <a:pPr>
              <a:spcBef>
                <a:spcPts val="600"/>
              </a:spcBef>
            </a:pPr>
            <a:r>
              <a:rPr lang="en-IN" dirty="0"/>
              <a:t>	Scheduling</a:t>
            </a:r>
          </a:p>
          <a:p>
            <a:pPr>
              <a:spcBef>
                <a:spcPts val="600"/>
              </a:spcBef>
            </a:pPr>
            <a:r>
              <a:rPr lang="en-IN" dirty="0"/>
              <a:t>	Triggers</a:t>
            </a:r>
          </a:p>
          <a:p>
            <a:pPr>
              <a:spcBef>
                <a:spcPts val="600"/>
              </a:spcBef>
            </a:pPr>
            <a:r>
              <a:rPr lang="en-IN" dirty="0"/>
              <a:t>	Alerts</a:t>
            </a:r>
          </a:p>
          <a:p>
            <a:pPr>
              <a:spcBef>
                <a:spcPts val="600"/>
              </a:spcBef>
            </a:pPr>
            <a:r>
              <a:rPr lang="en-IN" dirty="0"/>
              <a:t>	Cluster configuration</a:t>
            </a:r>
          </a:p>
          <a:p>
            <a:pPr>
              <a:spcBef>
                <a:spcPts val="600"/>
              </a:spcBef>
            </a:pPr>
            <a:r>
              <a:rPr lang="en-IN" dirty="0"/>
              <a:t>	Git integration</a:t>
            </a:r>
          </a:p>
          <a:p>
            <a:pPr>
              <a:spcBef>
                <a:spcPts val="600"/>
              </a:spcBef>
            </a:pPr>
            <a:r>
              <a:rPr lang="en-IN" dirty="0"/>
              <a:t>	Notebooks / Python Scripts / SQL</a:t>
            </a:r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r>
              <a:rPr lang="en-IN" dirty="0"/>
              <a:t>A workflow = a group of tasks executed in sequence or in parallel.</a:t>
            </a:r>
          </a:p>
        </p:txBody>
      </p:sp>
    </p:spTree>
    <p:extLst>
      <p:ext uri="{BB962C8B-B14F-4D97-AF65-F5344CB8AC3E}">
        <p14:creationId xmlns:p14="http://schemas.microsoft.com/office/powerpoint/2010/main" val="35787461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BD7DAE-60E2-0677-988F-378D7B441AD9}"/>
              </a:ext>
            </a:extLst>
          </p:cNvPr>
          <p:cNvSpPr txBox="1"/>
          <p:nvPr/>
        </p:nvSpPr>
        <p:spPr>
          <a:xfrm>
            <a:off x="201168" y="329185"/>
            <a:ext cx="1011326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dirty="0"/>
              <a:t>Use Cases</a:t>
            </a:r>
          </a:p>
          <a:p>
            <a:pPr>
              <a:spcBef>
                <a:spcPts val="600"/>
              </a:spcBef>
            </a:pPr>
            <a:r>
              <a:rPr lang="en-IN" dirty="0"/>
              <a:t>	Automatic ingestion pipelines (Bronze → Silver → Gold)</a:t>
            </a:r>
          </a:p>
          <a:p>
            <a:pPr>
              <a:spcBef>
                <a:spcPts val="600"/>
              </a:spcBef>
            </a:pPr>
            <a:r>
              <a:rPr lang="en-IN" dirty="0"/>
              <a:t>	Delta Live Tables processing</a:t>
            </a:r>
          </a:p>
          <a:p>
            <a:pPr>
              <a:spcBef>
                <a:spcPts val="600"/>
              </a:spcBef>
            </a:pPr>
            <a:r>
              <a:rPr lang="en-IN" dirty="0"/>
              <a:t>	Daily refresh of dimension &amp; fact tables</a:t>
            </a:r>
          </a:p>
          <a:p>
            <a:pPr>
              <a:spcBef>
                <a:spcPts val="600"/>
              </a:spcBef>
            </a:pPr>
            <a:r>
              <a:rPr lang="en-IN" dirty="0"/>
              <a:t>	ML model training &amp; prediction scoring pipeline</a:t>
            </a:r>
          </a:p>
          <a:p>
            <a:pPr>
              <a:spcBef>
                <a:spcPts val="600"/>
              </a:spcBef>
            </a:pPr>
            <a:r>
              <a:rPr lang="en-IN" dirty="0"/>
              <a:t>	Incremental batch jobs</a:t>
            </a:r>
          </a:p>
          <a:p>
            <a:pPr>
              <a:spcBef>
                <a:spcPts val="600"/>
              </a:spcBef>
            </a:pPr>
            <a:r>
              <a:rPr lang="en-IN" dirty="0"/>
              <a:t>	Streaming jobs with recovery</a:t>
            </a:r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r>
              <a:rPr lang="en-IN" b="1" dirty="0"/>
              <a:t>A typical architecture:</a:t>
            </a:r>
          </a:p>
          <a:p>
            <a:pPr>
              <a:spcBef>
                <a:spcPts val="600"/>
              </a:spcBef>
            </a:pPr>
            <a:r>
              <a:rPr lang="en-IN" dirty="0"/>
              <a:t>Task 1 — Ingest (Bronze) 	Auto Loader / COPY INTO</a:t>
            </a:r>
          </a:p>
          <a:p>
            <a:pPr>
              <a:spcBef>
                <a:spcPts val="600"/>
              </a:spcBef>
            </a:pPr>
            <a:r>
              <a:rPr lang="en-IN" dirty="0"/>
              <a:t>Task 2 — Clean &amp; Transform (Silver) 	Delta table </a:t>
            </a:r>
            <a:r>
              <a:rPr lang="en-IN" dirty="0" err="1"/>
              <a:t>upserts</a:t>
            </a:r>
            <a:r>
              <a:rPr lang="en-IN" dirty="0"/>
              <a:t>, schema enforcement</a:t>
            </a:r>
          </a:p>
          <a:p>
            <a:pPr>
              <a:spcBef>
                <a:spcPts val="600"/>
              </a:spcBef>
            </a:pPr>
            <a:r>
              <a:rPr lang="en-IN" dirty="0"/>
              <a:t>Task 3 — Aggregate (Gold)	Business metrics based tables</a:t>
            </a:r>
          </a:p>
          <a:p>
            <a:pPr>
              <a:spcBef>
                <a:spcPts val="600"/>
              </a:spcBef>
            </a:pPr>
            <a:r>
              <a:rPr lang="en-IN" dirty="0"/>
              <a:t>Task 4 — ML / Alerts / Sync</a:t>
            </a:r>
          </a:p>
          <a:p>
            <a:pPr>
              <a:spcBef>
                <a:spcPts val="600"/>
              </a:spcBef>
            </a:pPr>
            <a:r>
              <a:rPr lang="en-IN" dirty="0"/>
              <a:t>	Model scoring</a:t>
            </a:r>
          </a:p>
          <a:p>
            <a:pPr>
              <a:spcBef>
                <a:spcPts val="600"/>
              </a:spcBef>
            </a:pPr>
            <a:r>
              <a:rPr lang="en-IN" dirty="0"/>
              <a:t>	Send notifications</a:t>
            </a:r>
          </a:p>
          <a:p>
            <a:pPr>
              <a:spcBef>
                <a:spcPts val="600"/>
              </a:spcBef>
            </a:pPr>
            <a:r>
              <a:rPr lang="en-IN" dirty="0"/>
              <a:t>Task 5 — Export / Reports 	Push to SQL Warehouse, Power BI, ADLS</a:t>
            </a:r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endParaRPr lang="en-IN" dirty="0"/>
          </a:p>
          <a:p>
            <a:pPr>
              <a:spcBef>
                <a:spcPts val="600"/>
              </a:spcBef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80967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BD7DAE-60E2-0677-988F-378D7B441AD9}"/>
              </a:ext>
            </a:extLst>
          </p:cNvPr>
          <p:cNvSpPr txBox="1"/>
          <p:nvPr/>
        </p:nvSpPr>
        <p:spPr>
          <a:xfrm>
            <a:off x="201168" y="329185"/>
            <a:ext cx="1011326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/>
              <a:t>Volumes in Databricks?</a:t>
            </a:r>
          </a:p>
          <a:p>
            <a:pPr>
              <a:spcBef>
                <a:spcPts val="600"/>
              </a:spcBef>
            </a:pPr>
            <a:r>
              <a:rPr lang="en-US" dirty="0"/>
              <a:t>Volumes are managed, secure directories in Databricks used to store non-table files (CSV, JSON, images, PDFs, ML artifacts, checkpoints, etc.) under Unity Catalog governance.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r>
              <a:rPr lang="en-US" dirty="0"/>
              <a:t>Why Volumes are needed</a:t>
            </a:r>
          </a:p>
          <a:p>
            <a:pPr>
              <a:spcBef>
                <a:spcPts val="600"/>
              </a:spcBef>
            </a:pPr>
            <a:r>
              <a:rPr lang="en-US" dirty="0"/>
              <a:t>Before Volumes:</a:t>
            </a:r>
          </a:p>
          <a:p>
            <a:pPr>
              <a:spcBef>
                <a:spcPts val="600"/>
              </a:spcBef>
            </a:pPr>
            <a:r>
              <a:rPr lang="en-US" dirty="0"/>
              <a:t>	Files lived in DBFS or cloud paths (ADLS/S3)</a:t>
            </a:r>
          </a:p>
          <a:p>
            <a:pPr>
              <a:spcBef>
                <a:spcPts val="600"/>
              </a:spcBef>
            </a:pPr>
            <a:r>
              <a:rPr lang="en-US" dirty="0"/>
              <a:t>	Weak governance &amp; access control</a:t>
            </a:r>
          </a:p>
          <a:p>
            <a:pPr>
              <a:spcBef>
                <a:spcPts val="600"/>
              </a:spcBef>
            </a:pPr>
            <a:r>
              <a:rPr lang="en-US" dirty="0"/>
              <a:t>	Mixing tables and raw files was messy</a:t>
            </a:r>
          </a:p>
          <a:p>
            <a:pPr>
              <a:spcBef>
                <a:spcPts val="600"/>
              </a:spcBef>
            </a:pPr>
            <a:r>
              <a:rPr lang="en-US" dirty="0"/>
              <a:t>With Volumes:</a:t>
            </a:r>
          </a:p>
          <a:p>
            <a:pPr>
              <a:spcBef>
                <a:spcPts val="600"/>
              </a:spcBef>
            </a:pPr>
            <a:r>
              <a:rPr lang="en-US" dirty="0"/>
              <a:t>	Centralized file storage</a:t>
            </a:r>
          </a:p>
          <a:p>
            <a:pPr>
              <a:spcBef>
                <a:spcPts val="600"/>
              </a:spcBef>
            </a:pPr>
            <a:r>
              <a:rPr lang="en-US" dirty="0"/>
              <a:t>	Fine-grained access control (GRANT/REVOKE)</a:t>
            </a:r>
          </a:p>
          <a:p>
            <a:pPr>
              <a:spcBef>
                <a:spcPts val="600"/>
              </a:spcBef>
            </a:pPr>
            <a:r>
              <a:rPr lang="en-US" dirty="0"/>
              <a:t>	Clean separation between tables and files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51838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BD7DAE-60E2-0677-988F-378D7B441AD9}"/>
              </a:ext>
            </a:extLst>
          </p:cNvPr>
          <p:cNvSpPr txBox="1"/>
          <p:nvPr/>
        </p:nvSpPr>
        <p:spPr>
          <a:xfrm>
            <a:off x="201168" y="329185"/>
            <a:ext cx="10113264" cy="6309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/>
              <a:t>Volume Types</a:t>
            </a:r>
          </a:p>
          <a:p>
            <a:pPr>
              <a:spcBef>
                <a:spcPts val="600"/>
              </a:spcBef>
            </a:pPr>
            <a:r>
              <a:rPr lang="en-US" dirty="0"/>
              <a:t>Managed Volume</a:t>
            </a:r>
          </a:p>
          <a:p>
            <a:pPr>
              <a:spcBef>
                <a:spcPts val="600"/>
              </a:spcBef>
            </a:pPr>
            <a:r>
              <a:rPr lang="en-US" dirty="0"/>
              <a:t>	Databricks manages storage</a:t>
            </a:r>
          </a:p>
          <a:p>
            <a:pPr>
              <a:spcBef>
                <a:spcPts val="600"/>
              </a:spcBef>
            </a:pPr>
            <a:r>
              <a:rPr lang="en-US" dirty="0"/>
              <a:t>	No need to specify cloud path</a:t>
            </a:r>
          </a:p>
          <a:p>
            <a:pPr>
              <a:spcBef>
                <a:spcPts val="600"/>
              </a:spcBef>
            </a:pPr>
            <a:r>
              <a:rPr lang="en-US" dirty="0"/>
              <a:t>	Data deleted when volume is dropped</a:t>
            </a:r>
          </a:p>
          <a:p>
            <a:pPr>
              <a:spcBef>
                <a:spcPts val="600"/>
              </a:spcBef>
            </a:pPr>
            <a:r>
              <a:rPr lang="en-US" dirty="0"/>
              <a:t>	</a:t>
            </a:r>
          </a:p>
          <a:p>
            <a:pPr>
              <a:spcBef>
                <a:spcPts val="600"/>
              </a:spcBef>
            </a:pPr>
            <a:r>
              <a:rPr lang="en-US" dirty="0"/>
              <a:t>CREATE VOLUME </a:t>
            </a:r>
            <a:r>
              <a:rPr lang="en-US" dirty="0" err="1"/>
              <a:t>main.sales.raw_files</a:t>
            </a:r>
            <a:r>
              <a:rPr lang="en-US" dirty="0"/>
              <a:t>;</a:t>
            </a:r>
          </a:p>
          <a:p>
            <a:pPr>
              <a:spcBef>
                <a:spcPts val="600"/>
              </a:spcBef>
            </a:pPr>
            <a:r>
              <a:rPr lang="en-US" dirty="0"/>
              <a:t>External Volume</a:t>
            </a:r>
          </a:p>
          <a:p>
            <a:pPr>
              <a:spcBef>
                <a:spcPts val="600"/>
              </a:spcBef>
            </a:pPr>
            <a:r>
              <a:rPr lang="en-US" dirty="0"/>
              <a:t>	Uses your own ADLS / S3 / GCS</a:t>
            </a:r>
          </a:p>
          <a:p>
            <a:pPr>
              <a:spcBef>
                <a:spcPts val="600"/>
              </a:spcBef>
            </a:pPr>
            <a:r>
              <a:rPr lang="en-US" dirty="0"/>
              <a:t>	Data persists even if volume is dropped</a:t>
            </a:r>
          </a:p>
          <a:p>
            <a:pPr>
              <a:spcBef>
                <a:spcPts val="600"/>
              </a:spcBef>
            </a:pPr>
            <a:r>
              <a:rPr lang="en-US" dirty="0"/>
              <a:t>External Volume</a:t>
            </a:r>
          </a:p>
          <a:p>
            <a:pPr>
              <a:spcBef>
                <a:spcPts val="600"/>
              </a:spcBef>
            </a:pPr>
            <a:r>
              <a:rPr lang="en-US" dirty="0"/>
              <a:t>	Uses your own ADLS / S3 / GCS</a:t>
            </a:r>
          </a:p>
          <a:p>
            <a:pPr>
              <a:spcBef>
                <a:spcPts val="600"/>
              </a:spcBef>
            </a:pPr>
            <a:r>
              <a:rPr lang="en-US" dirty="0"/>
              <a:t>	Data persists even if volume is dropped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 lvl="1">
              <a:spcBef>
                <a:spcPts val="600"/>
              </a:spcBef>
            </a:pPr>
            <a:r>
              <a:rPr lang="en-US" dirty="0"/>
              <a:t>CREATE EXTERNAL VOLUME </a:t>
            </a:r>
            <a:r>
              <a:rPr lang="en-US" dirty="0" err="1"/>
              <a:t>main.sales.ext_files</a:t>
            </a:r>
            <a:endParaRPr lang="en-US" dirty="0"/>
          </a:p>
          <a:p>
            <a:pPr lvl="1">
              <a:spcBef>
                <a:spcPts val="600"/>
              </a:spcBef>
            </a:pPr>
            <a:r>
              <a:rPr lang="en-US" dirty="0" err="1"/>
              <a:t>LOCATIVolume</a:t>
            </a:r>
            <a:r>
              <a:rPr lang="en-US" dirty="0"/>
              <a:t> Path Structure</a:t>
            </a:r>
          </a:p>
          <a:p>
            <a:pPr lvl="1">
              <a:spcBef>
                <a:spcPts val="600"/>
              </a:spcBef>
            </a:pPr>
            <a:r>
              <a:rPr lang="en-US" dirty="0"/>
              <a:t>/Volumes/&lt;catalog&gt;/&lt;schema&gt;/&lt;</a:t>
            </a:r>
            <a:r>
              <a:rPr lang="en-US" dirty="0" err="1"/>
              <a:t>volume_name</a:t>
            </a:r>
            <a:r>
              <a:rPr lang="en-US" dirty="0"/>
              <a:t>&gt;/ON '</a:t>
            </a:r>
            <a:r>
              <a:rPr lang="en-US" dirty="0" err="1"/>
              <a:t>abfss</a:t>
            </a:r>
            <a:r>
              <a:rPr lang="en-US" dirty="0"/>
              <a:t>://raw@storageaccount.dfs.core.windows.net/sales';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06767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767A2BC-4322-9F50-627F-5731597D31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919427"/>
              </p:ext>
            </p:extLst>
          </p:nvPr>
        </p:nvGraphicFramePr>
        <p:xfrm>
          <a:off x="740664" y="674529"/>
          <a:ext cx="10131426" cy="2194560"/>
        </p:xfrm>
        <a:graphic>
          <a:graphicData uri="http://schemas.openxmlformats.org/drawingml/2006/table">
            <a:tbl>
              <a:tblPr/>
              <a:tblGrid>
                <a:gridCol w="3377142">
                  <a:extLst>
                    <a:ext uri="{9D8B030D-6E8A-4147-A177-3AD203B41FA5}">
                      <a16:colId xmlns:a16="http://schemas.microsoft.com/office/drawing/2014/main" val="1523791472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888691750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3472064939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Volume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Table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79387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Stores files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  <a:r>
                        <a:rPr lang="en-IN" sz="1800" dirty="0"/>
                        <a:t>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N</a:t>
                      </a:r>
                      <a:r>
                        <a:rPr lang="en-IN" sz="1800" dirty="0"/>
                        <a:t>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022454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Stores structured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N</a:t>
                      </a:r>
                      <a:r>
                        <a:rPr lang="en-IN" sz="1800" dirty="0"/>
                        <a:t>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  <a:r>
                        <a:rPr lang="en-IN" sz="1800" dirty="0"/>
                        <a:t>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870776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Supports SQL queries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N</a:t>
                      </a:r>
                      <a:r>
                        <a:rPr lang="en-IN" sz="1800" dirty="0"/>
                        <a:t>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  <a:r>
                        <a:rPr lang="en-IN" sz="1800" dirty="0"/>
                        <a:t>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5028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Governed by Unity Catalog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  <a:r>
                        <a:rPr lang="en-IN" sz="1800" dirty="0"/>
                        <a:t>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  <a:r>
                        <a:rPr lang="en-IN" sz="1800" dirty="0"/>
                        <a:t>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949429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/>
                        <a:t>Used for ML / raw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  <a:r>
                        <a:rPr lang="en-IN" sz="1800" dirty="0"/>
                        <a:t>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N</a:t>
                      </a:r>
                      <a:r>
                        <a:rPr lang="en-IN" sz="1800" dirty="0"/>
                        <a:t>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367226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969CD29-BA5C-5E0E-D0D9-19E62DDFBEDC}"/>
              </a:ext>
            </a:extLst>
          </p:cNvPr>
          <p:cNvSpPr txBox="1"/>
          <p:nvPr/>
        </p:nvSpPr>
        <p:spPr>
          <a:xfrm>
            <a:off x="740664" y="3522440"/>
            <a:ext cx="60944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Common Use Cases</a:t>
            </a:r>
          </a:p>
          <a:p>
            <a:pPr lvl="1"/>
            <a:r>
              <a:rPr lang="en-US" dirty="0"/>
              <a:t> Raw ingestion files</a:t>
            </a:r>
            <a:br>
              <a:rPr lang="en-US" dirty="0"/>
            </a:br>
            <a:r>
              <a:rPr lang="en-US" dirty="0"/>
              <a:t> ML models &amp; artifacts</a:t>
            </a:r>
            <a:br>
              <a:rPr lang="en-US" dirty="0"/>
            </a:br>
            <a:r>
              <a:rPr lang="en-US" dirty="0"/>
              <a:t> Checkpoints</a:t>
            </a:r>
            <a:br>
              <a:rPr lang="en-US" dirty="0"/>
            </a:br>
            <a:r>
              <a:rPr lang="en-US" dirty="0"/>
              <a:t> Config files</a:t>
            </a:r>
          </a:p>
        </p:txBody>
      </p:sp>
    </p:spTree>
    <p:extLst>
      <p:ext uri="{BB962C8B-B14F-4D97-AF65-F5344CB8AC3E}">
        <p14:creationId xmlns:p14="http://schemas.microsoft.com/office/powerpoint/2010/main" val="26650078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69CD29-BA5C-5E0E-D0D9-19E62DDFBEDC}"/>
              </a:ext>
            </a:extLst>
          </p:cNvPr>
          <p:cNvSpPr txBox="1"/>
          <p:nvPr/>
        </p:nvSpPr>
        <p:spPr>
          <a:xfrm>
            <a:off x="326136" y="139160"/>
            <a:ext cx="11539728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What is Delta Live Tables (DLT)?</a:t>
            </a:r>
          </a:p>
          <a:p>
            <a:endParaRPr lang="en-US" sz="2000" b="1" dirty="0"/>
          </a:p>
          <a:p>
            <a:r>
              <a:rPr lang="en-US" b="1" dirty="0"/>
              <a:t>Delta Live Tables (DLT)</a:t>
            </a:r>
            <a:r>
              <a:rPr lang="en-US" dirty="0"/>
              <a:t> is a </a:t>
            </a:r>
            <a:r>
              <a:rPr lang="en-US" b="1" dirty="0"/>
              <a:t>declarative data pipeline framework</a:t>
            </a:r>
            <a:r>
              <a:rPr lang="en-US" dirty="0"/>
              <a:t> in Databricks used to </a:t>
            </a:r>
            <a:r>
              <a:rPr lang="en-US" b="1" dirty="0"/>
              <a:t>build, manage, monitor, and govern reliable data pipelines</a:t>
            </a:r>
            <a:r>
              <a:rPr lang="en-US" dirty="0"/>
              <a:t> using </a:t>
            </a:r>
            <a:r>
              <a:rPr lang="en-US" b="1" dirty="0"/>
              <a:t>Delta Lake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 declarative framework allows developers to specify the desired outcome of a system without defining the step-by-step execution logic, leaving execution, optimization, and error handling to the framework.</a:t>
            </a:r>
          </a:p>
          <a:p>
            <a:endParaRPr lang="en-US" dirty="0"/>
          </a:p>
          <a:p>
            <a:r>
              <a:rPr lang="en-US" dirty="0"/>
              <a:t>Instead of writing complex Spark jobs and orchestration logic, </a:t>
            </a:r>
            <a:r>
              <a:rPr lang="en-US" b="1" dirty="0"/>
              <a:t>you declare what the data should look like</a:t>
            </a:r>
            <a:r>
              <a:rPr lang="en-US" dirty="0"/>
              <a:t>, and </a:t>
            </a:r>
            <a:r>
              <a:rPr lang="en-US" b="1" dirty="0"/>
              <a:t>DLT manages how to build and maintain it</a:t>
            </a:r>
            <a:r>
              <a:rPr lang="en-US" dirty="0"/>
              <a:t>.</a:t>
            </a:r>
          </a:p>
          <a:p>
            <a:pPr>
              <a:spcBef>
                <a:spcPts val="600"/>
              </a:spcBef>
            </a:pPr>
            <a:endParaRPr lang="en-IN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46970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69CD29-BA5C-5E0E-D0D9-19E62DDFBEDC}"/>
              </a:ext>
            </a:extLst>
          </p:cNvPr>
          <p:cNvSpPr txBox="1"/>
          <p:nvPr/>
        </p:nvSpPr>
        <p:spPr>
          <a:xfrm>
            <a:off x="326136" y="139160"/>
            <a:ext cx="11539728" cy="4601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endParaRPr lang="en-IN" sz="2000" b="1" dirty="0"/>
          </a:p>
          <a:p>
            <a:pPr>
              <a:spcBef>
                <a:spcPts val="600"/>
              </a:spcBef>
            </a:pPr>
            <a:r>
              <a:rPr lang="en-IN" sz="2000" b="1" dirty="0"/>
              <a:t>Why Delta Live Tables Exists</a:t>
            </a:r>
          </a:p>
          <a:p>
            <a:pPr>
              <a:spcBef>
                <a:spcPts val="600"/>
              </a:spcBef>
            </a:pPr>
            <a:r>
              <a:rPr lang="en-IN" b="1" dirty="0"/>
              <a:t>Traditional Spark pipelines require: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dirty="0"/>
              <a:t>Manual job orchestration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dirty="0"/>
              <a:t>Custom error handling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dirty="0"/>
              <a:t>Schema enforcement logic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dirty="0"/>
              <a:t>Data quality checks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dirty="0"/>
              <a:t>Incremental logic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IN" dirty="0"/>
              <a:t>Monitoring &amp; retries</a:t>
            </a:r>
          </a:p>
          <a:p>
            <a:pPr>
              <a:spcBef>
                <a:spcPts val="600"/>
              </a:spcBef>
            </a:pPr>
            <a:r>
              <a:rPr lang="en-IN" dirty="0"/>
              <a:t>DLT </a:t>
            </a:r>
            <a:r>
              <a:rPr lang="en-IN" b="1" dirty="0"/>
              <a:t>automates all of this</a:t>
            </a:r>
            <a:r>
              <a:rPr lang="en-IN" dirty="0"/>
              <a:t>.</a:t>
            </a:r>
          </a:p>
          <a:p>
            <a:pPr>
              <a:spcBef>
                <a:spcPts val="600"/>
              </a:spcBef>
            </a:pPr>
            <a:r>
              <a:rPr lang="en-IN" b="1" dirty="0"/>
              <a:t>DLT = Delta Lake + Streaming + Data Quality + Orchestration + Monitoring</a:t>
            </a:r>
          </a:p>
          <a:p>
            <a:pPr>
              <a:spcBef>
                <a:spcPts val="600"/>
              </a:spcBef>
            </a:pPr>
            <a:endParaRPr lang="en-IN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11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69CD29-BA5C-5E0E-D0D9-19E62DDFBEDC}"/>
              </a:ext>
            </a:extLst>
          </p:cNvPr>
          <p:cNvSpPr txBox="1"/>
          <p:nvPr/>
        </p:nvSpPr>
        <p:spPr>
          <a:xfrm>
            <a:off x="326136" y="294608"/>
            <a:ext cx="1153972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/>
              <a:t>Key Problems DLT Solves</a:t>
            </a:r>
          </a:p>
          <a:p>
            <a:endParaRPr lang="en-IN" sz="2000" b="1" dirty="0"/>
          </a:p>
          <a:p>
            <a:endParaRPr lang="en-IN" sz="2000" b="1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F2D3DE7-048B-F440-1F43-1C5FF362FE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303952"/>
              </p:ext>
            </p:extLst>
          </p:nvPr>
        </p:nvGraphicFramePr>
        <p:xfrm>
          <a:off x="402336" y="802439"/>
          <a:ext cx="10131424" cy="2926080"/>
        </p:xfrm>
        <a:graphic>
          <a:graphicData uri="http://schemas.openxmlformats.org/drawingml/2006/table">
            <a:tbl>
              <a:tblPr/>
              <a:tblGrid>
                <a:gridCol w="5065712">
                  <a:extLst>
                    <a:ext uri="{9D8B030D-6E8A-4147-A177-3AD203B41FA5}">
                      <a16:colId xmlns:a16="http://schemas.microsoft.com/office/drawing/2014/main" val="2427299305"/>
                    </a:ext>
                  </a:extLst>
                </a:gridCol>
                <a:gridCol w="5065712">
                  <a:extLst>
                    <a:ext uri="{9D8B030D-6E8A-4147-A177-3AD203B41FA5}">
                      <a16:colId xmlns:a16="http://schemas.microsoft.com/office/drawing/2014/main" val="405365267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 b="1" dirty="0"/>
                        <a:t>Problem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b="1" dirty="0"/>
                        <a:t>How DLT Solves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51993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Pipeline failures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Automatic retries &amp; recovery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4406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Bad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Built-in data quality rules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47698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Schema drift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Schema enforcement &amp; evolution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47496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Complex orchestration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Declarative DAG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5591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Operational overhead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Managed pipelines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8961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Incremental loads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Streaming by default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579464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Observability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Built-in event logs &amp; UI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53528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51551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69CD29-BA5C-5E0E-D0D9-19E62DDFBEDC}"/>
              </a:ext>
            </a:extLst>
          </p:cNvPr>
          <p:cNvSpPr txBox="1"/>
          <p:nvPr/>
        </p:nvSpPr>
        <p:spPr>
          <a:xfrm>
            <a:off x="326136" y="294608"/>
            <a:ext cx="11539728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Core Concepts of Delta Live Tables</a:t>
            </a:r>
          </a:p>
          <a:p>
            <a:endParaRPr lang="en-US" sz="2000" b="1" dirty="0"/>
          </a:p>
          <a:p>
            <a:r>
              <a:rPr lang="en-US" sz="2000" b="1" dirty="0"/>
              <a:t>1.Declarative Programming Model</a:t>
            </a:r>
          </a:p>
          <a:p>
            <a:r>
              <a:rPr lang="en-US" sz="2000" dirty="0"/>
              <a:t>You </a:t>
            </a:r>
            <a:r>
              <a:rPr lang="en-US" sz="2000" b="1" dirty="0"/>
              <a:t>define transformations</a:t>
            </a:r>
            <a:r>
              <a:rPr lang="en-US" sz="2000" dirty="0"/>
              <a:t>, not execution steps.</a:t>
            </a:r>
          </a:p>
          <a:p>
            <a:endParaRPr lang="en-US" sz="2000" b="1" dirty="0"/>
          </a:p>
          <a:p>
            <a:r>
              <a:rPr lang="en-US" sz="2000" b="1" dirty="0"/>
              <a:t>Example (Python):</a:t>
            </a:r>
          </a:p>
          <a:p>
            <a:r>
              <a:rPr lang="en-US" sz="2000" b="1" dirty="0"/>
              <a:t>@dlt.table</a:t>
            </a:r>
          </a:p>
          <a:p>
            <a:r>
              <a:rPr lang="en-US" sz="2000" b="1" dirty="0"/>
              <a:t>def </a:t>
            </a:r>
            <a:r>
              <a:rPr lang="en-US" sz="2000" b="1" dirty="0" err="1"/>
              <a:t>bronze_orders</a:t>
            </a:r>
            <a:r>
              <a:rPr lang="en-US" sz="2000" b="1" dirty="0"/>
              <a:t>():</a:t>
            </a:r>
          </a:p>
          <a:p>
            <a:r>
              <a:rPr lang="en-US" sz="2000" b="1" dirty="0"/>
              <a:t>    return </a:t>
            </a:r>
            <a:r>
              <a:rPr lang="en-US" sz="2000" b="1" dirty="0" err="1"/>
              <a:t>spark.read.format</a:t>
            </a:r>
            <a:r>
              <a:rPr lang="en-US" sz="2000" b="1" dirty="0"/>
              <a:t>("csv").load("/raw/orders")</a:t>
            </a:r>
          </a:p>
          <a:p>
            <a:endParaRPr lang="en-US" sz="2000" b="1" dirty="0"/>
          </a:p>
          <a:p>
            <a:r>
              <a:rPr lang="en-US" sz="2000" dirty="0"/>
              <a:t>You do </a:t>
            </a:r>
            <a:r>
              <a:rPr lang="en-US" sz="2000" b="1" dirty="0"/>
              <a:t>NOT</a:t>
            </a:r>
            <a:r>
              <a:rPr lang="en-US" sz="2000" dirty="0"/>
              <a:t>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Manage clusters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Write checkpoints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Schedule jobs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/>
              <a:t>Handle retries</a:t>
            </a:r>
          </a:p>
          <a:p>
            <a:r>
              <a:rPr lang="en-US" sz="2000" dirty="0"/>
              <a:t>DLT does it automatically.</a:t>
            </a:r>
          </a:p>
          <a:p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33318831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69CD29-BA5C-5E0E-D0D9-19E62DDFBEDC}"/>
              </a:ext>
            </a:extLst>
          </p:cNvPr>
          <p:cNvSpPr txBox="1"/>
          <p:nvPr/>
        </p:nvSpPr>
        <p:spPr>
          <a:xfrm>
            <a:off x="326136" y="294608"/>
            <a:ext cx="1153972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Core Concepts of Delta Live Tables</a:t>
            </a:r>
          </a:p>
          <a:p>
            <a:endParaRPr lang="en-US" sz="2000" b="1" dirty="0"/>
          </a:p>
          <a:p>
            <a:pPr>
              <a:spcBef>
                <a:spcPts val="600"/>
              </a:spcBef>
            </a:pPr>
            <a:r>
              <a:rPr lang="en-US" sz="2000" b="1" dirty="0"/>
              <a:t>2. Pipeline-Managed Tables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DLT creates </a:t>
            </a:r>
            <a:r>
              <a:rPr lang="en-US" sz="2000" b="1" dirty="0"/>
              <a:t>managed Delta tables</a:t>
            </a:r>
            <a:r>
              <a:rPr lang="en-US" sz="2000" dirty="0"/>
              <a:t>:</a:t>
            </a:r>
          </a:p>
          <a:p>
            <a:pPr marL="914400" lvl="1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Stored in pipeline storage</a:t>
            </a:r>
          </a:p>
          <a:p>
            <a:pPr marL="914400" lvl="1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Automatically versioned</a:t>
            </a:r>
          </a:p>
          <a:p>
            <a:pPr marL="914400" lvl="1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Automatically optimized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Types:</a:t>
            </a:r>
          </a:p>
          <a:p>
            <a:pPr marL="914400" lvl="1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b="1" dirty="0"/>
              <a:t>Streaming tables</a:t>
            </a:r>
            <a:endParaRPr lang="en-US" sz="2000" dirty="0"/>
          </a:p>
          <a:p>
            <a:pPr marL="914400" lvl="1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b="1" dirty="0"/>
              <a:t>Materialized views</a:t>
            </a:r>
            <a:endParaRPr lang="en-US" sz="2000" dirty="0"/>
          </a:p>
          <a:p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31895991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69CD29-BA5C-5E0E-D0D9-19E62DDFBEDC}"/>
              </a:ext>
            </a:extLst>
          </p:cNvPr>
          <p:cNvSpPr txBox="1"/>
          <p:nvPr/>
        </p:nvSpPr>
        <p:spPr>
          <a:xfrm>
            <a:off x="326136" y="294608"/>
            <a:ext cx="1153972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Core Concepts of Delta Live Tables</a:t>
            </a:r>
          </a:p>
          <a:p>
            <a:endParaRPr lang="en-US" sz="2000" b="1" dirty="0"/>
          </a:p>
          <a:p>
            <a:pPr>
              <a:spcBef>
                <a:spcPts val="600"/>
              </a:spcBef>
            </a:pPr>
            <a:r>
              <a:rPr lang="en-US" sz="2000" b="1" dirty="0"/>
              <a:t>3. Built-in Data Quality (Expectations)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DLT allows </a:t>
            </a:r>
            <a:r>
              <a:rPr lang="en-US" sz="2000" b="1" dirty="0"/>
              <a:t>data quality rules</a:t>
            </a:r>
            <a:r>
              <a:rPr lang="en-US" sz="2000" dirty="0"/>
              <a:t> called </a:t>
            </a:r>
            <a:r>
              <a:rPr lang="en-US" sz="2000" b="1" dirty="0"/>
              <a:t>Expectations</a:t>
            </a:r>
            <a:r>
              <a:rPr lang="en-US" sz="2000" dirty="0"/>
              <a:t>.</a:t>
            </a:r>
          </a:p>
          <a:p>
            <a:pPr lvl="1">
              <a:spcBef>
                <a:spcPts val="600"/>
              </a:spcBef>
            </a:pPr>
            <a:r>
              <a:rPr lang="en-US" sz="2000" dirty="0"/>
              <a:t>@dlt.expect("valid_order_id", "</a:t>
            </a:r>
            <a:r>
              <a:rPr lang="en-US" sz="2000" dirty="0" err="1"/>
              <a:t>order_id</a:t>
            </a:r>
            <a:r>
              <a:rPr lang="en-US" sz="2000" dirty="0"/>
              <a:t> IS NOT NULL")</a:t>
            </a:r>
          </a:p>
          <a:p>
            <a:pPr lvl="1">
              <a:spcBef>
                <a:spcPts val="600"/>
              </a:spcBef>
            </a:pPr>
            <a:r>
              <a:rPr lang="en-US" sz="2000" dirty="0"/>
              <a:t>@dlt.expect_or_drop("positive_amount", "amount &gt; 0")</a:t>
            </a:r>
          </a:p>
          <a:p>
            <a:pPr lvl="1">
              <a:spcBef>
                <a:spcPts val="600"/>
              </a:spcBef>
            </a:pPr>
            <a:r>
              <a:rPr lang="en-US" sz="2000" dirty="0"/>
              <a:t>@dlt.table</a:t>
            </a:r>
          </a:p>
          <a:p>
            <a:pPr lvl="1">
              <a:spcBef>
                <a:spcPts val="600"/>
              </a:spcBef>
            </a:pPr>
            <a:r>
              <a:rPr lang="en-US" sz="2000" dirty="0"/>
              <a:t>def </a:t>
            </a:r>
            <a:r>
              <a:rPr lang="en-US" sz="2000" dirty="0" err="1"/>
              <a:t>silver_orders</a:t>
            </a:r>
            <a:r>
              <a:rPr lang="en-US" sz="2000" dirty="0"/>
              <a:t>():</a:t>
            </a:r>
          </a:p>
          <a:p>
            <a:pPr lvl="1">
              <a:spcBef>
                <a:spcPts val="600"/>
              </a:spcBef>
            </a:pPr>
            <a:r>
              <a:rPr lang="en-US" sz="2000" dirty="0"/>
              <a:t>    return </a:t>
            </a:r>
            <a:r>
              <a:rPr lang="en-US" sz="2000" dirty="0" err="1"/>
              <a:t>dlt.read</a:t>
            </a:r>
            <a:r>
              <a:rPr lang="en-US" sz="2000" dirty="0"/>
              <a:t>("</a:t>
            </a:r>
            <a:r>
              <a:rPr lang="en-US" sz="2000" dirty="0" err="1"/>
              <a:t>bronze_orders</a:t>
            </a:r>
            <a:r>
              <a:rPr lang="en-US" sz="2000" dirty="0"/>
              <a:t>")</a:t>
            </a:r>
          </a:p>
          <a:p>
            <a:pPr>
              <a:spcBef>
                <a:spcPts val="600"/>
              </a:spcBef>
            </a:pPr>
            <a:r>
              <a:rPr lang="en-US" sz="2000" b="1" dirty="0"/>
              <a:t>Types of expectations:</a:t>
            </a:r>
          </a:p>
          <a:p>
            <a:pPr>
              <a:spcBef>
                <a:spcPts val="600"/>
              </a:spcBef>
            </a:pPr>
            <a:r>
              <a:rPr lang="en-US" sz="2000" b="1" dirty="0"/>
              <a:t>	</a:t>
            </a:r>
            <a:r>
              <a:rPr lang="en-US" sz="2000" dirty="0"/>
              <a:t>expect → log failures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	</a:t>
            </a:r>
            <a:r>
              <a:rPr lang="en-US" sz="2000" dirty="0" err="1"/>
              <a:t>expect_or_drop</a:t>
            </a:r>
            <a:r>
              <a:rPr lang="en-US" sz="2000" dirty="0"/>
              <a:t> → drop bad records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	</a:t>
            </a:r>
            <a:r>
              <a:rPr lang="en-US" sz="2000" dirty="0" err="1"/>
              <a:t>expect_or_fail</a:t>
            </a:r>
            <a:r>
              <a:rPr lang="en-US" sz="2000" dirty="0"/>
              <a:t> → fail pipeline</a:t>
            </a:r>
          </a:p>
          <a:p>
            <a:pPr lvl="1">
              <a:spcBef>
                <a:spcPts val="600"/>
              </a:spcBef>
            </a:pPr>
            <a:endParaRPr lang="en-US" sz="2000" b="1" dirty="0"/>
          </a:p>
          <a:p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10983527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69CD29-BA5C-5E0E-D0D9-19E62DDFBEDC}"/>
              </a:ext>
            </a:extLst>
          </p:cNvPr>
          <p:cNvSpPr txBox="1"/>
          <p:nvPr/>
        </p:nvSpPr>
        <p:spPr>
          <a:xfrm>
            <a:off x="326136" y="294608"/>
            <a:ext cx="11539728" cy="5247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Core Concepts of Delta Live Tables</a:t>
            </a:r>
          </a:p>
          <a:p>
            <a:endParaRPr lang="en-US" sz="2000" b="1" dirty="0"/>
          </a:p>
          <a:p>
            <a:pPr>
              <a:spcBef>
                <a:spcPts val="600"/>
              </a:spcBef>
            </a:pPr>
            <a:r>
              <a:rPr lang="en-US" sz="2000" b="1" dirty="0"/>
              <a:t>4. Streaming by Default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DLT pipelines are </a:t>
            </a:r>
            <a:r>
              <a:rPr lang="en-US" sz="2000" b="1" dirty="0"/>
              <a:t>incremental by design</a:t>
            </a:r>
            <a:r>
              <a:rPr lang="en-US" sz="20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000" b="1" dirty="0"/>
              <a:t>Even batch sources: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Are processed incrementally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Use checkpoints internally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Avoid reprocessing old data</a:t>
            </a:r>
          </a:p>
          <a:p>
            <a:pPr>
              <a:spcBef>
                <a:spcPts val="600"/>
              </a:spcBef>
            </a:pPr>
            <a:r>
              <a:rPr lang="en-US" sz="2000" b="1" dirty="0"/>
              <a:t>This gives: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Near-real-time pipelines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Exactly-once processing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High scalability</a:t>
            </a:r>
          </a:p>
          <a:p>
            <a:pPr lvl="1">
              <a:spcBef>
                <a:spcPts val="600"/>
              </a:spcBef>
            </a:pPr>
            <a:endParaRPr lang="en-US" sz="2000" b="1" dirty="0"/>
          </a:p>
          <a:p>
            <a:endParaRPr lang="en-IN" sz="2000" b="1" dirty="0"/>
          </a:p>
        </p:txBody>
      </p:sp>
    </p:spTree>
    <p:extLst>
      <p:ext uri="{BB962C8B-B14F-4D97-AF65-F5344CB8AC3E}">
        <p14:creationId xmlns:p14="http://schemas.microsoft.com/office/powerpoint/2010/main" val="16487190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969CD29-BA5C-5E0E-D0D9-19E62DDFBEDC}"/>
              </a:ext>
            </a:extLst>
          </p:cNvPr>
          <p:cNvSpPr txBox="1"/>
          <p:nvPr/>
        </p:nvSpPr>
        <p:spPr>
          <a:xfrm>
            <a:off x="326136" y="294608"/>
            <a:ext cx="1153972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Core Concepts of Delta Live Tables</a:t>
            </a:r>
          </a:p>
          <a:p>
            <a:endParaRPr lang="en-US" sz="2000" b="1" dirty="0"/>
          </a:p>
          <a:p>
            <a:r>
              <a:rPr lang="en-US" sz="2000" b="1" dirty="0"/>
              <a:t>Medallion Architecture in DLT</a:t>
            </a:r>
          </a:p>
          <a:p>
            <a:r>
              <a:rPr lang="en-US" sz="2000" dirty="0"/>
              <a:t>	DLT is </a:t>
            </a:r>
            <a:r>
              <a:rPr lang="en-US" sz="2000" b="1" dirty="0"/>
              <a:t>best suited</a:t>
            </a:r>
            <a:r>
              <a:rPr lang="en-US" sz="2000" dirty="0"/>
              <a:t> for the </a:t>
            </a:r>
            <a:r>
              <a:rPr lang="en-US" sz="2000" b="1" dirty="0"/>
              <a:t>Bronze–Silver–Gold</a:t>
            </a:r>
            <a:r>
              <a:rPr lang="en-US" sz="2000" dirty="0"/>
              <a:t> pattern.</a:t>
            </a:r>
          </a:p>
          <a:p>
            <a:endParaRPr lang="en-US" sz="2000" b="1" dirty="0"/>
          </a:p>
          <a:p>
            <a:endParaRPr lang="en-US" sz="2000" b="1" dirty="0"/>
          </a:p>
          <a:p>
            <a:pPr lvl="1">
              <a:spcBef>
                <a:spcPts val="600"/>
              </a:spcBef>
            </a:pPr>
            <a:endParaRPr lang="en-US" sz="2000" b="1" dirty="0"/>
          </a:p>
          <a:p>
            <a:endParaRPr lang="en-IN" sz="20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4890B5-28F1-6F9F-6787-FDFCD3EFF6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7578307"/>
              </p:ext>
            </p:extLst>
          </p:nvPr>
        </p:nvGraphicFramePr>
        <p:xfrm>
          <a:off x="326136" y="1965960"/>
          <a:ext cx="6202680" cy="1463040"/>
        </p:xfrm>
        <a:graphic>
          <a:graphicData uri="http://schemas.openxmlformats.org/drawingml/2006/table">
            <a:tbl>
              <a:tblPr/>
              <a:tblGrid>
                <a:gridCol w="2645664">
                  <a:extLst>
                    <a:ext uri="{9D8B030D-6E8A-4147-A177-3AD203B41FA5}">
                      <a16:colId xmlns:a16="http://schemas.microsoft.com/office/drawing/2014/main" val="4021749807"/>
                    </a:ext>
                  </a:extLst>
                </a:gridCol>
                <a:gridCol w="3557016">
                  <a:extLst>
                    <a:ext uri="{9D8B030D-6E8A-4147-A177-3AD203B41FA5}">
                      <a16:colId xmlns:a16="http://schemas.microsoft.com/office/drawing/2014/main" val="304292781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04117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Bronze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Raw, ingested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886382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Silver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Cleaned, validated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785828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 dirty="0"/>
                        <a:t>Gold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Aggregated, business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45767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3639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9C72E66-599A-C312-E998-117FAD2AC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4792" y="142774"/>
            <a:ext cx="7316589" cy="671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7291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DD6CBF-9AD7-F770-9313-DBD6ED357F94}"/>
              </a:ext>
            </a:extLst>
          </p:cNvPr>
          <p:cNvSpPr txBox="1"/>
          <p:nvPr/>
        </p:nvSpPr>
        <p:spPr>
          <a:xfrm>
            <a:off x="386334" y="444699"/>
            <a:ext cx="6094476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DLT Pipeline Types</a:t>
            </a:r>
          </a:p>
          <a:p>
            <a:pPr>
              <a:spcBef>
                <a:spcPts val="600"/>
              </a:spcBef>
            </a:pPr>
            <a:r>
              <a:rPr lang="en-US" b="1" dirty="0"/>
              <a:t>1. Triggered Pipeline</a:t>
            </a:r>
          </a:p>
          <a:p>
            <a:pPr marL="800100" lvl="1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/>
              <a:t>Runs once</a:t>
            </a:r>
          </a:p>
          <a:p>
            <a:pPr marL="800100" lvl="1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/>
              <a:t>Batch-like</a:t>
            </a:r>
          </a:p>
          <a:p>
            <a:pPr marL="800100" lvl="1" indent="-342900">
              <a:spcBef>
                <a:spcPts val="600"/>
              </a:spcBef>
              <a:buFont typeface="+mj-lt"/>
              <a:buAutoNum type="arabicPeriod"/>
            </a:pPr>
            <a:r>
              <a:rPr lang="en-US" dirty="0"/>
              <a:t>Used for historical loads</a:t>
            </a:r>
          </a:p>
          <a:p>
            <a:pPr>
              <a:spcBef>
                <a:spcPts val="600"/>
              </a:spcBef>
            </a:pPr>
            <a:r>
              <a:rPr lang="en-US" b="1" dirty="0"/>
              <a:t>2. Continuous Pipeline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Always running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Streaming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Near real-time processing</a:t>
            </a:r>
          </a:p>
        </p:txBody>
      </p:sp>
    </p:spTree>
    <p:extLst>
      <p:ext uri="{BB962C8B-B14F-4D97-AF65-F5344CB8AC3E}">
        <p14:creationId xmlns:p14="http://schemas.microsoft.com/office/powerpoint/2010/main" val="28265619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DD6CBF-9AD7-F770-9313-DBD6ED357F94}"/>
              </a:ext>
            </a:extLst>
          </p:cNvPr>
          <p:cNvSpPr txBox="1"/>
          <p:nvPr/>
        </p:nvSpPr>
        <p:spPr>
          <a:xfrm>
            <a:off x="386334" y="444699"/>
            <a:ext cx="6094476" cy="5432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DLT Programming Interfaces</a:t>
            </a:r>
          </a:p>
          <a:p>
            <a:pPr marL="342900" indent="-342900">
              <a:spcBef>
                <a:spcPts val="600"/>
              </a:spcBef>
              <a:buAutoNum type="arabicPeriod"/>
            </a:pPr>
            <a:r>
              <a:rPr lang="en-US" b="1" dirty="0"/>
              <a:t>Python (Most common)</a:t>
            </a:r>
          </a:p>
          <a:p>
            <a:endParaRPr lang="en-US" b="1" dirty="0"/>
          </a:p>
          <a:p>
            <a:r>
              <a:rPr lang="en-US" dirty="0"/>
              <a:t>import </a:t>
            </a:r>
            <a:r>
              <a:rPr lang="en-US" dirty="0" err="1"/>
              <a:t>dlt</a:t>
            </a:r>
            <a:endParaRPr lang="en-US" dirty="0"/>
          </a:p>
          <a:p>
            <a:r>
              <a:rPr lang="en-US" dirty="0"/>
              <a:t>@dlt.table(</a:t>
            </a:r>
          </a:p>
          <a:p>
            <a:r>
              <a:rPr lang="en-US" dirty="0"/>
              <a:t>  comment="Cleaned orders"</a:t>
            </a:r>
          </a:p>
          <a:p>
            <a:r>
              <a:rPr lang="en-US" dirty="0"/>
              <a:t>)</a:t>
            </a:r>
          </a:p>
          <a:p>
            <a:r>
              <a:rPr lang="en-US" dirty="0"/>
              <a:t>def </a:t>
            </a:r>
            <a:r>
              <a:rPr lang="en-US" dirty="0" err="1"/>
              <a:t>silver_orders</a:t>
            </a:r>
            <a:r>
              <a:rPr lang="en-US" dirty="0"/>
              <a:t>():</a:t>
            </a:r>
          </a:p>
          <a:p>
            <a:r>
              <a:rPr lang="en-US" dirty="0"/>
              <a:t>    return </a:t>
            </a:r>
            <a:r>
              <a:rPr lang="en-US" dirty="0" err="1"/>
              <a:t>dlt.read</a:t>
            </a:r>
            <a:r>
              <a:rPr lang="en-US" dirty="0"/>
              <a:t>("</a:t>
            </a:r>
            <a:r>
              <a:rPr lang="en-US" dirty="0" err="1"/>
              <a:t>bronze_orders</a:t>
            </a:r>
            <a:r>
              <a:rPr lang="en-US" dirty="0"/>
              <a:t>")</a:t>
            </a:r>
          </a:p>
          <a:p>
            <a:endParaRPr lang="en-US" b="1" dirty="0"/>
          </a:p>
          <a:p>
            <a:r>
              <a:rPr lang="en-IN" b="1" dirty="0"/>
              <a:t>2. SQL DLT</a:t>
            </a:r>
            <a:endParaRPr lang="en-US" b="1" dirty="0"/>
          </a:p>
          <a:p>
            <a:endParaRPr lang="en-US" dirty="0"/>
          </a:p>
          <a:p>
            <a:r>
              <a:rPr lang="en-US" dirty="0"/>
              <a:t>CREATE LIVE TABLE </a:t>
            </a:r>
            <a:r>
              <a:rPr lang="en-US" dirty="0" err="1"/>
              <a:t>silver_orders</a:t>
            </a:r>
            <a:endParaRPr lang="en-US" dirty="0"/>
          </a:p>
          <a:p>
            <a:r>
              <a:rPr lang="en-US" dirty="0"/>
              <a:t>AS</a:t>
            </a:r>
          </a:p>
          <a:p>
            <a:r>
              <a:rPr lang="en-US" dirty="0"/>
              <a:t>SELECT *</a:t>
            </a:r>
          </a:p>
          <a:p>
            <a:r>
              <a:rPr lang="en-US" dirty="0"/>
              <a:t>FROM </a:t>
            </a:r>
            <a:r>
              <a:rPr lang="en-US" dirty="0" err="1"/>
              <a:t>LIVE.bronze_orders</a:t>
            </a:r>
            <a:endParaRPr lang="en-US" dirty="0"/>
          </a:p>
          <a:p>
            <a:r>
              <a:rPr lang="en-US" dirty="0"/>
              <a:t>WHERE </a:t>
            </a:r>
            <a:r>
              <a:rPr lang="en-US" dirty="0" err="1"/>
              <a:t>order_id</a:t>
            </a:r>
            <a:r>
              <a:rPr lang="en-US" dirty="0"/>
              <a:t> IS NOT NULL;</a:t>
            </a:r>
          </a:p>
          <a:p>
            <a:endParaRPr lang="en-US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207039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DD6CBF-9AD7-F770-9313-DBD6ED357F94}"/>
              </a:ext>
            </a:extLst>
          </p:cNvPr>
          <p:cNvSpPr txBox="1"/>
          <p:nvPr/>
        </p:nvSpPr>
        <p:spPr>
          <a:xfrm>
            <a:off x="386334" y="444699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Reading data in DLT</a:t>
            </a:r>
          </a:p>
          <a:p>
            <a:endParaRPr lang="en-US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985A79-E6AC-5C3D-A405-DF63AD5B32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289376"/>
              </p:ext>
            </p:extLst>
          </p:nvPr>
        </p:nvGraphicFramePr>
        <p:xfrm>
          <a:off x="493776" y="976281"/>
          <a:ext cx="10131424" cy="1463040"/>
        </p:xfrm>
        <a:graphic>
          <a:graphicData uri="http://schemas.openxmlformats.org/drawingml/2006/table">
            <a:tbl>
              <a:tblPr/>
              <a:tblGrid>
                <a:gridCol w="5065712">
                  <a:extLst>
                    <a:ext uri="{9D8B030D-6E8A-4147-A177-3AD203B41FA5}">
                      <a16:colId xmlns:a16="http://schemas.microsoft.com/office/drawing/2014/main" val="604633999"/>
                    </a:ext>
                  </a:extLst>
                </a:gridCol>
                <a:gridCol w="5065712">
                  <a:extLst>
                    <a:ext uri="{9D8B030D-6E8A-4147-A177-3AD203B41FA5}">
                      <a16:colId xmlns:a16="http://schemas.microsoft.com/office/drawing/2014/main" val="346752858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736624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dlt.read()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Read batch table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71219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dlt.read_stream()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Read streaming table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086956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LIVE.table_name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SQL reference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361294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3FF7D9F-B5CC-7B4C-81C1-3B04A73CEC41}"/>
              </a:ext>
            </a:extLst>
          </p:cNvPr>
          <p:cNvSpPr txBox="1"/>
          <p:nvPr/>
        </p:nvSpPr>
        <p:spPr>
          <a:xfrm>
            <a:off x="386334" y="2786237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Table Types in DLT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8381B7-EC83-4A03-15A0-11476FDD20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351440"/>
              </p:ext>
            </p:extLst>
          </p:nvPr>
        </p:nvGraphicFramePr>
        <p:xfrm>
          <a:off x="493776" y="3429000"/>
          <a:ext cx="10131424" cy="1828800"/>
        </p:xfrm>
        <a:graphic>
          <a:graphicData uri="http://schemas.openxmlformats.org/drawingml/2006/table">
            <a:tbl>
              <a:tblPr/>
              <a:tblGrid>
                <a:gridCol w="5065712">
                  <a:extLst>
                    <a:ext uri="{9D8B030D-6E8A-4147-A177-3AD203B41FA5}">
                      <a16:colId xmlns:a16="http://schemas.microsoft.com/office/drawing/2014/main" val="2245293235"/>
                    </a:ext>
                  </a:extLst>
                </a:gridCol>
                <a:gridCol w="5065712">
                  <a:extLst>
                    <a:ext uri="{9D8B030D-6E8A-4147-A177-3AD203B41FA5}">
                      <a16:colId xmlns:a16="http://schemas.microsoft.com/office/drawing/2014/main" val="389461022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Table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37899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Streaming Table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Continuously updated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340132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Materialized View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Batch-like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956359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Managed Table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DLT managed storage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63171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External Table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User-managed storage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2122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01363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DD6CBF-9AD7-F770-9313-DBD6ED357F94}"/>
              </a:ext>
            </a:extLst>
          </p:cNvPr>
          <p:cNvSpPr txBox="1"/>
          <p:nvPr/>
        </p:nvSpPr>
        <p:spPr>
          <a:xfrm>
            <a:off x="386334" y="444699"/>
            <a:ext cx="6094476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b="1" dirty="0"/>
              <a:t>Data Lineage &amp; Dependency Graph</a:t>
            </a:r>
          </a:p>
          <a:p>
            <a:pPr>
              <a:spcBef>
                <a:spcPts val="600"/>
              </a:spcBef>
            </a:pPr>
            <a:r>
              <a:rPr lang="en-US" dirty="0"/>
              <a:t>DLT automatically: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Builds </a:t>
            </a:r>
            <a:r>
              <a:rPr lang="en-US" b="1" dirty="0"/>
              <a:t>DAG</a:t>
            </a:r>
            <a:endParaRPr lang="en-US" dirty="0"/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Tracks </a:t>
            </a:r>
            <a:r>
              <a:rPr lang="en-US" b="1" dirty="0"/>
              <a:t>dependencies</a:t>
            </a:r>
            <a:endParaRPr lang="en-US" dirty="0"/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Shows </a:t>
            </a:r>
            <a:r>
              <a:rPr lang="en-US" b="1" dirty="0"/>
              <a:t>lineage graph</a:t>
            </a:r>
            <a:endParaRPr lang="en-US" dirty="0"/>
          </a:p>
          <a:p>
            <a:pPr>
              <a:spcBef>
                <a:spcPts val="600"/>
              </a:spcBef>
            </a:pPr>
            <a:r>
              <a:rPr lang="en-US" dirty="0"/>
              <a:t>You get: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End-to-end visibility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Impact analysis</a:t>
            </a:r>
          </a:p>
          <a:p>
            <a:pPr marL="800100" lvl="1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Easy debugging</a:t>
            </a:r>
          </a:p>
          <a:p>
            <a:pPr>
              <a:spcBef>
                <a:spcPts val="600"/>
              </a:spcBef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055328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DD6CBF-9AD7-F770-9313-DBD6ED357F94}"/>
              </a:ext>
            </a:extLst>
          </p:cNvPr>
          <p:cNvSpPr txBox="1"/>
          <p:nvPr/>
        </p:nvSpPr>
        <p:spPr>
          <a:xfrm>
            <a:off x="386334" y="444699"/>
            <a:ext cx="6094476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Monitoring &amp; Observability</a:t>
            </a:r>
          </a:p>
          <a:p>
            <a:r>
              <a:rPr lang="en-IN" dirty="0"/>
              <a:t>DLT provides: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dirty="0"/>
              <a:t>Pipeline UI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dirty="0"/>
              <a:t>Event logs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dirty="0"/>
              <a:t>Record counts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dirty="0"/>
              <a:t>Expectation metrics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dirty="0"/>
              <a:t>Error details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dirty="0"/>
              <a:t>Processing latency</a:t>
            </a:r>
          </a:p>
          <a:p>
            <a:r>
              <a:rPr lang="en-IN" dirty="0"/>
              <a:t>No custom logging needed.</a:t>
            </a:r>
          </a:p>
          <a:p>
            <a:endParaRPr lang="en-IN" dirty="0"/>
          </a:p>
          <a:p>
            <a:pPr>
              <a:spcBef>
                <a:spcPts val="600"/>
              </a:spcBef>
            </a:pPr>
            <a:r>
              <a:rPr lang="en-US" b="1" dirty="0"/>
              <a:t>Error Handling in DLT</a:t>
            </a:r>
          </a:p>
          <a:p>
            <a:pPr>
              <a:spcBef>
                <a:spcPts val="600"/>
              </a:spcBef>
            </a:pPr>
            <a:r>
              <a:rPr lang="en-US" dirty="0"/>
              <a:t>DLT automatically: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Retries failed tasks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Resumes from checkpoints</a:t>
            </a:r>
          </a:p>
          <a:p>
            <a:pPr lvl="1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/>
              <a:t>Captures errors in event logs</a:t>
            </a:r>
          </a:p>
          <a:p>
            <a:endParaRPr lang="en-IN" dirty="0"/>
          </a:p>
          <a:p>
            <a:r>
              <a:rPr lang="en-IN" dirty="0"/>
              <a:t>You can query</a:t>
            </a:r>
          </a:p>
          <a:p>
            <a:pPr>
              <a:spcBef>
                <a:spcPts val="600"/>
              </a:spcBef>
            </a:pPr>
            <a:r>
              <a:rPr lang="en-US" b="1" dirty="0"/>
              <a:t>SELECT * FROM </a:t>
            </a:r>
            <a:r>
              <a:rPr lang="en-US" b="1" dirty="0" err="1"/>
              <a:t>event_log</a:t>
            </a:r>
            <a:endParaRPr lang="en-US" b="1" dirty="0"/>
          </a:p>
          <a:p>
            <a:pPr>
              <a:spcBef>
                <a:spcPts val="600"/>
              </a:spcBef>
            </a:pPr>
            <a:r>
              <a:rPr lang="en-US" b="1" dirty="0"/>
              <a:t>WHERE level = 'ERROR';</a:t>
            </a:r>
          </a:p>
          <a:p>
            <a:pPr>
              <a:spcBef>
                <a:spcPts val="600"/>
              </a:spcBef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7658628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DD6CBF-9AD7-F770-9313-DBD6ED357F94}"/>
              </a:ext>
            </a:extLst>
          </p:cNvPr>
          <p:cNvSpPr txBox="1"/>
          <p:nvPr/>
        </p:nvSpPr>
        <p:spPr>
          <a:xfrm>
            <a:off x="386334" y="444699"/>
            <a:ext cx="6094476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DLT vs Traditional Delta Tables</a:t>
            </a:r>
          </a:p>
          <a:p>
            <a:pPr>
              <a:spcBef>
                <a:spcPts val="600"/>
              </a:spcBef>
            </a:pPr>
            <a:endParaRPr lang="en-US" b="1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E4381BE-7B50-BA1E-487C-FBFD55911E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176826"/>
              </p:ext>
            </p:extLst>
          </p:nvPr>
        </p:nvGraphicFramePr>
        <p:xfrm>
          <a:off x="386334" y="932688"/>
          <a:ext cx="10131426" cy="2926080"/>
        </p:xfrm>
        <a:graphic>
          <a:graphicData uri="http://schemas.openxmlformats.org/drawingml/2006/table">
            <a:tbl>
              <a:tblPr/>
              <a:tblGrid>
                <a:gridCol w="3377142">
                  <a:extLst>
                    <a:ext uri="{9D8B030D-6E8A-4147-A177-3AD203B41FA5}">
                      <a16:colId xmlns:a16="http://schemas.microsoft.com/office/drawing/2014/main" val="3841127798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3532650895"/>
                    </a:ext>
                  </a:extLst>
                </a:gridCol>
                <a:gridCol w="3377142">
                  <a:extLst>
                    <a:ext uri="{9D8B030D-6E8A-4147-A177-3AD203B41FA5}">
                      <a16:colId xmlns:a16="http://schemas.microsoft.com/office/drawing/2014/main" val="1058055679"/>
                    </a:ext>
                  </a:extLst>
                </a:gridCol>
              </a:tblGrid>
              <a:tr h="239408">
                <a:tc>
                  <a:txBody>
                    <a:bodyPr/>
                    <a:lstStyle/>
                    <a:p>
                      <a:r>
                        <a:rPr lang="en-IN" sz="180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Delta Tables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DLT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2428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Data storage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  <a:r>
                        <a:rPr lang="en-IN" sz="1800" dirty="0"/>
                        <a:t>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Yes</a:t>
                      </a:r>
                      <a:endParaRPr lang="en-IN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0542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ACID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Yes</a:t>
                      </a:r>
                      <a:endParaRPr lang="en-IN" sz="1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Y</a:t>
                      </a:r>
                      <a:r>
                        <a:rPr lang="en-IN" sz="1800" dirty="0"/>
                        <a:t>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030074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Streaming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Manual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Built-in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30383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Quality checks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Manual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Built-in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634815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Orchestration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External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Automatic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56296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Lineage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Partial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Full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93535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IN" sz="1800"/>
                        <a:t>Monitoring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/>
                        <a:t>Custom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sz="1800" dirty="0"/>
                        <a:t>UI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64853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99511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DD6CBF-9AD7-F770-9313-DBD6ED357F94}"/>
              </a:ext>
            </a:extLst>
          </p:cNvPr>
          <p:cNvSpPr txBox="1"/>
          <p:nvPr/>
        </p:nvSpPr>
        <p:spPr>
          <a:xfrm>
            <a:off x="386334" y="444699"/>
            <a:ext cx="6094476" cy="3801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IN" b="1" dirty="0"/>
              <a:t>When to Use Delta Live Tables</a:t>
            </a:r>
          </a:p>
          <a:p>
            <a:pPr>
              <a:spcBef>
                <a:spcPts val="600"/>
              </a:spcBef>
            </a:pPr>
            <a:r>
              <a:rPr lang="en-IN" b="1" dirty="0"/>
              <a:t>Use DLT when:</a:t>
            </a:r>
          </a:p>
          <a:p>
            <a:pPr lvl="1">
              <a:spcBef>
                <a:spcPts val="600"/>
              </a:spcBef>
            </a:pPr>
            <a:r>
              <a:rPr lang="en-IN" dirty="0"/>
              <a:t> Building </a:t>
            </a:r>
            <a:r>
              <a:rPr lang="en-IN" b="1" dirty="0"/>
              <a:t>ETL / ELT pipelines</a:t>
            </a:r>
            <a:br>
              <a:rPr lang="en-IN" dirty="0"/>
            </a:br>
            <a:r>
              <a:rPr lang="en-IN" dirty="0"/>
              <a:t> Using </a:t>
            </a:r>
            <a:r>
              <a:rPr lang="en-IN" b="1" dirty="0"/>
              <a:t>Bronze-Silver-Gold</a:t>
            </a:r>
            <a:br>
              <a:rPr lang="en-IN" dirty="0"/>
            </a:br>
            <a:r>
              <a:rPr lang="en-IN" dirty="0"/>
              <a:t> Need </a:t>
            </a:r>
            <a:r>
              <a:rPr lang="en-IN" b="1" dirty="0"/>
              <a:t>data quality guarantees</a:t>
            </a:r>
            <a:br>
              <a:rPr lang="en-IN" dirty="0"/>
            </a:br>
            <a:r>
              <a:rPr lang="en-IN" dirty="0"/>
              <a:t> Want </a:t>
            </a:r>
            <a:r>
              <a:rPr lang="en-IN" b="1" dirty="0"/>
              <a:t>low operational overhead</a:t>
            </a:r>
            <a:br>
              <a:rPr lang="en-IN" dirty="0"/>
            </a:br>
            <a:r>
              <a:rPr lang="en-IN" dirty="0"/>
              <a:t> Streaming + batch together</a:t>
            </a:r>
          </a:p>
          <a:p>
            <a:pPr>
              <a:spcBef>
                <a:spcPts val="600"/>
              </a:spcBef>
            </a:pPr>
            <a:r>
              <a:rPr lang="en-IN" b="1" dirty="0"/>
              <a:t>Avoid DLT when:</a:t>
            </a:r>
          </a:p>
          <a:p>
            <a:pPr>
              <a:spcBef>
                <a:spcPts val="600"/>
              </a:spcBef>
            </a:pPr>
            <a:r>
              <a:rPr lang="en-IN" dirty="0"/>
              <a:t>	Ad-hoc analysis</a:t>
            </a:r>
            <a:br>
              <a:rPr lang="en-IN" dirty="0"/>
            </a:br>
            <a:r>
              <a:rPr lang="en-IN" dirty="0"/>
              <a:t>	Complex ML training jobs</a:t>
            </a:r>
            <a:br>
              <a:rPr lang="en-IN" dirty="0"/>
            </a:br>
            <a:r>
              <a:rPr lang="en-IN" dirty="0"/>
              <a:t>	One-time transformations</a:t>
            </a:r>
          </a:p>
          <a:p>
            <a:pPr>
              <a:spcBef>
                <a:spcPts val="600"/>
              </a:spcBef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493621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2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3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4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5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6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7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8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9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10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11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12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13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14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15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16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17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18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19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20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21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22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23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24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25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26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27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28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29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30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31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32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33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34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35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36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37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38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39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40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41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42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43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44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ppt/theme/themeOverride45.xml><?xml version="1.0" encoding="utf-8"?>
<a:themeOverride xmlns:a="http://schemas.openxmlformats.org/drawingml/2006/main">
  <a:clrScheme name="Celestial">
    <a:dk1>
      <a:sysClr val="windowText" lastClr="000000"/>
    </a:dk1>
    <a:lt1>
      <a:sysClr val="window" lastClr="FFFFFF"/>
    </a:lt1>
    <a:dk2>
      <a:srgbClr val="18276C"/>
    </a:dk2>
    <a:lt2>
      <a:srgbClr val="EBEBEB"/>
    </a:lt2>
    <a:accent1>
      <a:srgbClr val="AC3EC1"/>
    </a:accent1>
    <a:accent2>
      <a:srgbClr val="477BD1"/>
    </a:accent2>
    <a:accent3>
      <a:srgbClr val="46B298"/>
    </a:accent3>
    <a:accent4>
      <a:srgbClr val="90BA4C"/>
    </a:accent4>
    <a:accent5>
      <a:srgbClr val="DD9D31"/>
    </a:accent5>
    <a:accent6>
      <a:srgbClr val="E25247"/>
    </a:accent6>
    <a:hlink>
      <a:srgbClr val="C573D2"/>
    </a:hlink>
    <a:folHlink>
      <a:srgbClr val="CCAEE8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9858</TotalTime>
  <Words>9686</Words>
  <Application>Microsoft Office PowerPoint</Application>
  <PresentationFormat>Widescreen</PresentationFormat>
  <Paragraphs>1755</Paragraphs>
  <Slides>100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8" baseType="lpstr">
      <vt:lpstr>Aptos</vt:lpstr>
      <vt:lpstr>Arial</vt:lpstr>
      <vt:lpstr>Calibri</vt:lpstr>
      <vt:lpstr>Calibri Light</vt:lpstr>
      <vt:lpstr>Consolas</vt:lpstr>
      <vt:lpstr>Google Sans</vt:lpstr>
      <vt:lpstr>Segoe UI Symbol</vt:lpstr>
      <vt:lpstr>Celestial</vt:lpstr>
      <vt:lpstr>databriics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ponnamreddybabjee@outlook.com</dc:creator>
  <cp:lastModifiedBy>ponnamreddybabjee@outlook.com</cp:lastModifiedBy>
  <cp:revision>7</cp:revision>
  <dcterms:created xsi:type="dcterms:W3CDTF">2025-09-01T11:43:39Z</dcterms:created>
  <dcterms:modified xsi:type="dcterms:W3CDTF">2025-12-15T10:36:15Z</dcterms:modified>
</cp:coreProperties>
</file>