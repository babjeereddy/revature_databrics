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8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9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0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1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62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63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64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65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66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67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68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69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70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71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72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73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74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75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76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77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78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79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80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81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82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83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84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85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86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87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88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89.xml" ContentType="application/vnd.openxmlformats-officedocument.presentationml.notesSlide+xml"/>
  <Override PartName="/ppt/theme/themeOverride36.xml" ContentType="application/vnd.openxmlformats-officedocument.themeOverride+xml"/>
  <Override PartName="/ppt/notesSlides/notesSlide90.xml" ContentType="application/vnd.openxmlformats-officedocument.presentationml.notesSlide+xml"/>
  <Override PartName="/ppt/theme/themeOverride37.xml" ContentType="application/vnd.openxmlformats-officedocument.themeOverride+xml"/>
  <Override PartName="/ppt/notesSlides/notesSlide91.xml" ContentType="application/vnd.openxmlformats-officedocument.presentationml.notesSlide+xml"/>
  <Override PartName="/ppt/theme/themeOverride38.xml" ContentType="application/vnd.openxmlformats-officedocument.themeOverride+xml"/>
  <Override PartName="/ppt/notesSlides/notesSlide92.xml" ContentType="application/vnd.openxmlformats-officedocument.presentationml.notesSlide+xml"/>
  <Override PartName="/ppt/theme/themeOverride39.xml" ContentType="application/vnd.openxmlformats-officedocument.themeOverride+xml"/>
  <Override PartName="/ppt/notesSlides/notesSlide93.xml" ContentType="application/vnd.openxmlformats-officedocument.presentationml.notesSlide+xml"/>
  <Override PartName="/ppt/theme/themeOverride40.xml" ContentType="application/vnd.openxmlformats-officedocument.themeOverride+xml"/>
  <Override PartName="/ppt/notesSlides/notesSlide94.xml" ContentType="application/vnd.openxmlformats-officedocument.presentationml.notesSlide+xml"/>
  <Override PartName="/ppt/theme/themeOverride41.xml" ContentType="application/vnd.openxmlformats-officedocument.themeOverride+xml"/>
  <Override PartName="/ppt/notesSlides/notesSlide95.xml" ContentType="application/vnd.openxmlformats-officedocument.presentationml.notesSlide+xml"/>
  <Override PartName="/ppt/theme/themeOverride42.xml" ContentType="application/vnd.openxmlformats-officedocument.themeOverride+xml"/>
  <Override PartName="/ppt/notesSlides/notesSlide96.xml" ContentType="application/vnd.openxmlformats-officedocument.presentationml.notesSlide+xml"/>
  <Override PartName="/ppt/theme/themeOverride43.xml" ContentType="application/vnd.openxmlformats-officedocument.themeOverride+xml"/>
  <Override PartName="/ppt/notesSlides/notesSlide97.xml" ContentType="application/vnd.openxmlformats-officedocument.presentationml.notesSlide+xml"/>
  <Override PartName="/ppt/theme/themeOverride44.xml" ContentType="application/vnd.openxmlformats-officedocument.themeOverride+xml"/>
  <Override PartName="/ppt/notesSlides/notesSlide98.xml" ContentType="application/vnd.openxmlformats-officedocument.presentationml.notesSlide+xml"/>
  <Override PartName="/ppt/theme/themeOverride45.xml" ContentType="application/vnd.openxmlformats-officedocument.themeOverride+xml"/>
  <Override PartName="/ppt/notesSlides/notesSlide99.xml" ContentType="application/vnd.openxmlformats-officedocument.presentationml.notesSlide+xml"/>
  <Override PartName="/ppt/theme/themeOverride46.xml" ContentType="application/vnd.openxmlformats-officedocument.themeOverride+xml"/>
  <Override PartName="/ppt/notesSlides/notesSlide100.xml" ContentType="application/vnd.openxmlformats-officedocument.presentationml.notesSlide+xml"/>
  <Override PartName="/ppt/theme/themeOverride47.xml" ContentType="application/vnd.openxmlformats-officedocument.themeOverride+xml"/>
  <Override PartName="/ppt/notesSlides/notesSlide101.xml" ContentType="application/vnd.openxmlformats-officedocument.presentationml.notesSlide+xml"/>
  <Override PartName="/ppt/theme/themeOverride48.xml" ContentType="application/vnd.openxmlformats-officedocument.themeOverride+xml"/>
  <Override PartName="/ppt/notesSlides/notesSlide102.xml" ContentType="application/vnd.openxmlformats-officedocument.presentationml.notesSlide+xml"/>
  <Override PartName="/ppt/theme/themeOverride49.xml" ContentType="application/vnd.openxmlformats-officedocument.themeOverride+xml"/>
  <Override PartName="/ppt/notesSlides/notesSlide103.xml" ContentType="application/vnd.openxmlformats-officedocument.presentationml.notesSlide+xml"/>
  <Override PartName="/ppt/theme/themeOverride50.xml" ContentType="application/vnd.openxmlformats-officedocument.themeOverride+xml"/>
  <Override PartName="/ppt/notesSlides/notesSlide104.xml" ContentType="application/vnd.openxmlformats-officedocument.presentationml.notesSlide+xml"/>
  <Override PartName="/ppt/theme/themeOverride51.xml" ContentType="application/vnd.openxmlformats-officedocument.themeOverride+xml"/>
  <Override PartName="/ppt/notesSlides/notesSlide105.xml" ContentType="application/vnd.openxmlformats-officedocument.presentationml.notesSlide+xml"/>
  <Override PartName="/ppt/theme/themeOverride52.xml" ContentType="application/vnd.openxmlformats-officedocument.themeOverride+xml"/>
  <Override PartName="/ppt/notesSlides/notesSlide106.xml" ContentType="application/vnd.openxmlformats-officedocument.presentationml.notesSlide+xml"/>
  <Override PartName="/ppt/theme/themeOverride53.xml" ContentType="application/vnd.openxmlformats-officedocument.themeOverride+xml"/>
  <Override PartName="/ppt/notesSlides/notesSlide107.xml" ContentType="application/vnd.openxmlformats-officedocument.presentationml.notesSlide+xml"/>
  <Override PartName="/ppt/theme/themeOverride54.xml" ContentType="application/vnd.openxmlformats-officedocument.themeOverride+xml"/>
  <Override PartName="/ppt/notesSlides/notesSlide108.xml" ContentType="application/vnd.openxmlformats-officedocument.presentationml.notesSlide+xml"/>
  <Override PartName="/ppt/theme/themeOverride55.xml" ContentType="application/vnd.openxmlformats-officedocument.themeOverride+xml"/>
  <Override PartName="/ppt/notesSlides/notesSlide109.xml" ContentType="application/vnd.openxmlformats-officedocument.presentationml.notesSlide+xml"/>
  <Override PartName="/ppt/theme/themeOverride56.xml" ContentType="application/vnd.openxmlformats-officedocument.themeOverride+xml"/>
  <Override PartName="/ppt/notesSlides/notesSlide110.xml" ContentType="application/vnd.openxmlformats-officedocument.presentationml.notesSlide+xml"/>
  <Override PartName="/ppt/theme/themeOverride57.xml" ContentType="application/vnd.openxmlformats-officedocument.themeOverride+xml"/>
  <Override PartName="/ppt/notesSlides/notesSlide111.xml" ContentType="application/vnd.openxmlformats-officedocument.presentationml.notesSlide+xml"/>
  <Override PartName="/ppt/theme/themeOverride58.xml" ContentType="application/vnd.openxmlformats-officedocument.themeOverride+xml"/>
  <Override PartName="/ppt/notesSlides/notesSlide112.xml" ContentType="application/vnd.openxmlformats-officedocument.presentationml.notesSlide+xml"/>
  <Override PartName="/ppt/theme/themeOverride59.xml" ContentType="application/vnd.openxmlformats-officedocument.themeOverride+xml"/>
  <Override PartName="/ppt/notesSlides/notesSlide113.xml" ContentType="application/vnd.openxmlformats-officedocument.presentationml.notesSlide+xml"/>
  <Override PartName="/ppt/theme/themeOverride60.xml" ContentType="application/vnd.openxmlformats-officedocument.themeOverride+xml"/>
  <Override PartName="/ppt/notesSlides/notesSlide114.xml" ContentType="application/vnd.openxmlformats-officedocument.presentationml.notesSlide+xml"/>
  <Override PartName="/ppt/theme/themeOverride61.xml" ContentType="application/vnd.openxmlformats-officedocument.themeOverride+xml"/>
  <Override PartName="/ppt/notesSlides/notesSlide115.xml" ContentType="application/vnd.openxmlformats-officedocument.presentationml.notesSlide+xml"/>
  <Override PartName="/ppt/theme/themeOverride62.xml" ContentType="application/vnd.openxmlformats-officedocument.themeOverride+xml"/>
  <Override PartName="/ppt/notesSlides/notesSlide116.xml" ContentType="application/vnd.openxmlformats-officedocument.presentationml.notesSlide+xml"/>
  <Override PartName="/ppt/theme/themeOverride63.xml" ContentType="application/vnd.openxmlformats-officedocument.themeOverride+xml"/>
  <Override PartName="/ppt/notesSlides/notesSlide117.xml" ContentType="application/vnd.openxmlformats-officedocument.presentationml.notesSlide+xml"/>
  <Override PartName="/ppt/theme/themeOverride64.xml" ContentType="application/vnd.openxmlformats-officedocument.themeOverride+xml"/>
  <Override PartName="/ppt/notesSlides/notesSlide118.xml" ContentType="application/vnd.openxmlformats-officedocument.presentationml.notesSlide+xml"/>
  <Override PartName="/ppt/theme/themeOverride65.xml" ContentType="application/vnd.openxmlformats-officedocument.themeOverride+xml"/>
  <Override PartName="/ppt/notesSlides/notesSlide119.xml" ContentType="application/vnd.openxmlformats-officedocument.presentationml.notesSlide+xml"/>
  <Override PartName="/ppt/theme/themeOverride66.xml" ContentType="application/vnd.openxmlformats-officedocument.themeOverride+xml"/>
  <Override PartName="/ppt/notesSlides/notesSlide120.xml" ContentType="application/vnd.openxmlformats-officedocument.presentationml.notesSlide+xml"/>
  <Override PartName="/ppt/theme/themeOverride67.xml" ContentType="application/vnd.openxmlformats-officedocument.themeOverride+xml"/>
  <Override PartName="/ppt/notesSlides/notesSlide121.xml" ContentType="application/vnd.openxmlformats-officedocument.presentationml.notesSlide+xml"/>
  <Override PartName="/ppt/theme/themeOverride68.xml" ContentType="application/vnd.openxmlformats-officedocument.themeOverride+xml"/>
  <Override PartName="/ppt/notesSlides/notesSlide122.xml" ContentType="application/vnd.openxmlformats-officedocument.presentationml.notesSlide+xml"/>
  <Override PartName="/ppt/theme/themeOverride69.xml" ContentType="application/vnd.openxmlformats-officedocument.themeOverride+xml"/>
  <Override PartName="/ppt/notesSlides/notesSlide123.xml" ContentType="application/vnd.openxmlformats-officedocument.presentationml.notesSlide+xml"/>
  <Override PartName="/ppt/theme/themeOverride70.xml" ContentType="application/vnd.openxmlformats-officedocument.themeOverride+xml"/>
  <Override PartName="/ppt/notesSlides/notesSlide124.xml" ContentType="application/vnd.openxmlformats-officedocument.presentationml.notesSlide+xml"/>
  <Override PartName="/ppt/theme/themeOverride71.xml" ContentType="application/vnd.openxmlformats-officedocument.themeOverride+xml"/>
  <Override PartName="/ppt/notesSlides/notesSlide125.xml" ContentType="application/vnd.openxmlformats-officedocument.presentationml.notesSlide+xml"/>
  <Override PartName="/ppt/theme/themeOverride72.xml" ContentType="application/vnd.openxmlformats-officedocument.themeOverride+xml"/>
  <Override PartName="/ppt/notesSlides/notesSlide126.xml" ContentType="application/vnd.openxmlformats-officedocument.presentationml.notesSlide+xml"/>
  <Override PartName="/ppt/theme/themeOverride73.xml" ContentType="application/vnd.openxmlformats-officedocument.themeOverride+xml"/>
  <Override PartName="/ppt/notesSlides/notesSlide127.xml" ContentType="application/vnd.openxmlformats-officedocument.presentationml.notesSlide+xml"/>
  <Override PartName="/ppt/theme/themeOverride74.xml" ContentType="application/vnd.openxmlformats-officedocument.themeOverride+xml"/>
  <Override PartName="/ppt/notesSlides/notesSlide128.xml" ContentType="application/vnd.openxmlformats-officedocument.presentationml.notesSlide+xml"/>
  <Override PartName="/ppt/theme/themeOverride75.xml" ContentType="application/vnd.openxmlformats-officedocument.themeOverride+xml"/>
  <Override PartName="/ppt/notesSlides/notesSlide129.xml" ContentType="application/vnd.openxmlformats-officedocument.presentationml.notesSlide+xml"/>
  <Override PartName="/ppt/theme/themeOverride76.xml" ContentType="application/vnd.openxmlformats-officedocument.themeOverride+xml"/>
  <Override PartName="/ppt/notesSlides/notesSlide130.xml" ContentType="application/vnd.openxmlformats-officedocument.presentationml.notesSlide+xml"/>
  <Override PartName="/ppt/theme/themeOverride77.xml" ContentType="application/vnd.openxmlformats-officedocument.themeOverride+xml"/>
  <Override PartName="/ppt/notesSlides/notesSlide131.xml" ContentType="application/vnd.openxmlformats-officedocument.presentationml.notesSlide+xml"/>
  <Override PartName="/ppt/theme/themeOverride78.xml" ContentType="application/vnd.openxmlformats-officedocument.themeOverride+xml"/>
  <Override PartName="/ppt/notesSlides/notesSlide132.xml" ContentType="application/vnd.openxmlformats-officedocument.presentationml.notesSlide+xml"/>
  <Override PartName="/ppt/theme/themeOverride79.xml" ContentType="application/vnd.openxmlformats-officedocument.themeOverride+xml"/>
  <Override PartName="/ppt/notesSlides/notesSlide133.xml" ContentType="application/vnd.openxmlformats-officedocument.presentationml.notesSlide+xml"/>
  <Override PartName="/ppt/theme/themeOverride80.xml" ContentType="application/vnd.openxmlformats-officedocument.themeOverride+xml"/>
  <Override PartName="/ppt/notesSlides/notesSlide134.xml" ContentType="application/vnd.openxmlformats-officedocument.presentationml.notesSlide+xml"/>
  <Override PartName="/ppt/theme/themeOverride81.xml" ContentType="application/vnd.openxmlformats-officedocument.themeOverride+xml"/>
  <Override PartName="/ppt/notesSlides/notesSlide135.xml" ContentType="application/vnd.openxmlformats-officedocument.presentationml.notesSlide+xml"/>
  <Override PartName="/ppt/theme/themeOverride82.xml" ContentType="application/vnd.openxmlformats-officedocument.themeOverride+xml"/>
  <Override PartName="/ppt/notesSlides/notesSlide1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1" r:id="rId56"/>
    <p:sldId id="310" r:id="rId57"/>
    <p:sldId id="312" r:id="rId58"/>
    <p:sldId id="313" r:id="rId59"/>
    <p:sldId id="314" r:id="rId60"/>
    <p:sldId id="315" r:id="rId61"/>
    <p:sldId id="316" r:id="rId62"/>
    <p:sldId id="321" r:id="rId63"/>
    <p:sldId id="317" r:id="rId64"/>
    <p:sldId id="318" r:id="rId65"/>
    <p:sldId id="319" r:id="rId66"/>
    <p:sldId id="320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7" r:id="rId78"/>
    <p:sldId id="338" r:id="rId79"/>
    <p:sldId id="339" r:id="rId80"/>
    <p:sldId id="332" r:id="rId81"/>
    <p:sldId id="333" r:id="rId82"/>
    <p:sldId id="334" r:id="rId83"/>
    <p:sldId id="335" r:id="rId84"/>
    <p:sldId id="336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5C45B0EE-7619-4904-886A-038E01722C2D}"/>
    <pc:docChg chg="undo custSel addSld delSld modSld">
      <pc:chgData name="ponnamreddybabjee@outlook.com" userId="3e261792aa522278" providerId="LiveId" clId="{5C45B0EE-7619-4904-886A-038E01722C2D}" dt="2025-12-19T04:07:58.392" v="987" actId="948"/>
      <pc:docMkLst>
        <pc:docMk/>
      </pc:docMkLst>
      <pc:sldChg chg="modSp mod">
        <pc:chgData name="ponnamreddybabjee@outlook.com" userId="3e261792aa522278" providerId="LiveId" clId="{5C45B0EE-7619-4904-886A-038E01722C2D}" dt="2025-12-19T03:59:51.274" v="892" actId="1036"/>
        <pc:sldMkLst>
          <pc:docMk/>
          <pc:sldMk cId="3083751865" sldId="256"/>
        </pc:sldMkLst>
        <pc:spChg chg="mod">
          <ac:chgData name="ponnamreddybabjee@outlook.com" userId="3e261792aa522278" providerId="LiveId" clId="{5C45B0EE-7619-4904-886A-038E01722C2D}" dt="2025-12-19T03:59:51.274" v="892" actId="1036"/>
          <ac:spMkLst>
            <pc:docMk/>
            <pc:sldMk cId="3083751865" sldId="256"/>
            <ac:spMk id="2" creationId="{04E98AB3-D5CF-929C-D5AD-7635B0639C39}"/>
          </ac:spMkLst>
        </pc:spChg>
      </pc:sldChg>
      <pc:sldChg chg="modSp">
        <pc:chgData name="ponnamreddybabjee@outlook.com" userId="3e261792aa522278" providerId="LiveId" clId="{5C45B0EE-7619-4904-886A-038E01722C2D}" dt="2025-12-16T04:02:39.502" v="575"/>
        <pc:sldMkLst>
          <pc:docMk/>
          <pc:sldMk cId="2665007890" sldId="336"/>
        </pc:sldMkLst>
        <pc:graphicFrameChg chg="mod">
          <ac:chgData name="ponnamreddybabjee@outlook.com" userId="3e261792aa522278" providerId="LiveId" clId="{5C45B0EE-7619-4904-886A-038E01722C2D}" dt="2025-12-16T04:02:39.502" v="575"/>
          <ac:graphicFrameMkLst>
            <pc:docMk/>
            <pc:sldMk cId="2665007890" sldId="336"/>
            <ac:graphicFrameMk id="4" creationId="{4767A2BC-4322-9F50-627F-5731597D31F7}"/>
          </ac:graphicFrameMkLst>
        </pc:graphicFrameChg>
      </pc:sldChg>
      <pc:sldChg chg="modSp add mod">
        <pc:chgData name="ponnamreddybabjee@outlook.com" userId="3e261792aa522278" providerId="LiveId" clId="{5C45B0EE-7619-4904-886A-038E01722C2D}" dt="2025-12-15T15:28:00.393" v="24" actId="12"/>
        <pc:sldMkLst>
          <pc:docMk/>
          <pc:sldMk cId="3038173517" sldId="356"/>
        </pc:sldMkLst>
        <pc:spChg chg="mod">
          <ac:chgData name="ponnamreddybabjee@outlook.com" userId="3e261792aa522278" providerId="LiveId" clId="{5C45B0EE-7619-4904-886A-038E01722C2D}" dt="2025-12-15T15:28:00.393" v="24" actId="12"/>
          <ac:spMkLst>
            <pc:docMk/>
            <pc:sldMk cId="3038173517" sldId="356"/>
            <ac:spMk id="4" creationId="{2FDD6CBF-9AD7-F770-9313-DBD6ED357F94}"/>
          </ac:spMkLst>
        </pc:spChg>
      </pc:sldChg>
      <pc:sldChg chg="modSp add mod">
        <pc:chgData name="ponnamreddybabjee@outlook.com" userId="3e261792aa522278" providerId="LiveId" clId="{5C45B0EE-7619-4904-886A-038E01722C2D}" dt="2025-12-15T15:29:20.414" v="52" actId="20577"/>
        <pc:sldMkLst>
          <pc:docMk/>
          <pc:sldMk cId="836690347" sldId="357"/>
        </pc:sldMkLst>
        <pc:spChg chg="mod">
          <ac:chgData name="ponnamreddybabjee@outlook.com" userId="3e261792aa522278" providerId="LiveId" clId="{5C45B0EE-7619-4904-886A-038E01722C2D}" dt="2025-12-15T15:29:20.414" v="52" actId="20577"/>
          <ac:spMkLst>
            <pc:docMk/>
            <pc:sldMk cId="836690347" sldId="357"/>
            <ac:spMk id="4" creationId="{2FDD6CBF-9AD7-F770-9313-DBD6ED357F94}"/>
          </ac:spMkLst>
        </pc:spChg>
      </pc:sldChg>
      <pc:sldChg chg="addSp modSp add mod">
        <pc:chgData name="ponnamreddybabjee@outlook.com" userId="3e261792aa522278" providerId="LiveId" clId="{5C45B0EE-7619-4904-886A-038E01722C2D}" dt="2025-12-16T04:12:56.247" v="577" actId="20577"/>
        <pc:sldMkLst>
          <pc:docMk/>
          <pc:sldMk cId="3959732511" sldId="358"/>
        </pc:sldMkLst>
        <pc:spChg chg="mod">
          <ac:chgData name="ponnamreddybabjee@outlook.com" userId="3e261792aa522278" providerId="LiveId" clId="{5C45B0EE-7619-4904-886A-038E01722C2D}" dt="2025-12-15T15:34:28.714" v="83" actId="1076"/>
          <ac:spMkLst>
            <pc:docMk/>
            <pc:sldMk cId="3959732511" sldId="358"/>
            <ac:spMk id="4" creationId="{2FDD6CBF-9AD7-F770-9313-DBD6ED357F94}"/>
          </ac:spMkLst>
        </pc:spChg>
        <pc:spChg chg="add mod">
          <ac:chgData name="ponnamreddybabjee@outlook.com" userId="3e261792aa522278" providerId="LiveId" clId="{5C45B0EE-7619-4904-886A-038E01722C2D}" dt="2025-12-16T04:12:56.247" v="577" actId="20577"/>
          <ac:spMkLst>
            <pc:docMk/>
            <pc:sldMk cId="3959732511" sldId="358"/>
            <ac:spMk id="5" creationId="{1D8D3450-A827-D813-8BC6-7289B9C0BC17}"/>
          </ac:spMkLst>
        </pc:spChg>
        <pc:graphicFrameChg chg="add mod">
          <ac:chgData name="ponnamreddybabjee@outlook.com" userId="3e261792aa522278" providerId="LiveId" clId="{5C45B0EE-7619-4904-886A-038E01722C2D}" dt="2025-12-15T15:34:35.250" v="84" actId="1076"/>
          <ac:graphicFrameMkLst>
            <pc:docMk/>
            <pc:sldMk cId="3959732511" sldId="358"/>
            <ac:graphicFrameMk id="2" creationId="{7B2BE194-B678-619B-DCC3-8E101097082D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5T15:54:04.700" v="99" actId="14100"/>
        <pc:sldMkLst>
          <pc:docMk/>
          <pc:sldMk cId="1717553150" sldId="359"/>
        </pc:sldMkLst>
        <pc:spChg chg="del">
          <ac:chgData name="ponnamreddybabjee@outlook.com" userId="3e261792aa522278" providerId="LiveId" clId="{5C45B0EE-7619-4904-886A-038E01722C2D}" dt="2025-12-15T15:53:18.777" v="94" actId="478"/>
          <ac:spMkLst>
            <pc:docMk/>
            <pc:sldMk cId="1717553150" sldId="359"/>
            <ac:spMk id="4" creationId="{2FDD6CBF-9AD7-F770-9313-DBD6ED357F94}"/>
          </ac:spMkLst>
        </pc:spChg>
        <pc:spChg chg="del">
          <ac:chgData name="ponnamreddybabjee@outlook.com" userId="3e261792aa522278" providerId="LiveId" clId="{5C45B0EE-7619-4904-886A-038E01722C2D}" dt="2025-12-15T15:53:10.727" v="92" actId="478"/>
          <ac:spMkLst>
            <pc:docMk/>
            <pc:sldMk cId="1717553150" sldId="359"/>
            <ac:spMk id="5" creationId="{1D8D3450-A827-D813-8BC6-7289B9C0BC17}"/>
          </ac:spMkLst>
        </pc:spChg>
        <pc:graphicFrameChg chg="del">
          <ac:chgData name="ponnamreddybabjee@outlook.com" userId="3e261792aa522278" providerId="LiveId" clId="{5C45B0EE-7619-4904-886A-038E01722C2D}" dt="2025-12-15T15:53:14.821" v="93" actId="478"/>
          <ac:graphicFrameMkLst>
            <pc:docMk/>
            <pc:sldMk cId="1717553150" sldId="359"/>
            <ac:graphicFrameMk id="2" creationId="{7B2BE194-B678-619B-DCC3-8E101097082D}"/>
          </ac:graphicFrameMkLst>
        </pc:graphicFrameChg>
        <pc:picChg chg="add mod">
          <ac:chgData name="ponnamreddybabjee@outlook.com" userId="3e261792aa522278" providerId="LiveId" clId="{5C45B0EE-7619-4904-886A-038E01722C2D}" dt="2025-12-15T15:54:04.700" v="99" actId="14100"/>
          <ac:picMkLst>
            <pc:docMk/>
            <pc:sldMk cId="1717553150" sldId="359"/>
            <ac:picMk id="2050" creationId="{004BBAEC-F9EC-7437-5063-F90F5B8BE7B2}"/>
          </ac:picMkLst>
        </pc:picChg>
      </pc:sldChg>
      <pc:sldChg chg="addSp delSp modSp add del mod">
        <pc:chgData name="ponnamreddybabjee@outlook.com" userId="3e261792aa522278" providerId="LiveId" clId="{5C45B0EE-7619-4904-886A-038E01722C2D}" dt="2025-12-15T15:59:39.536" v="136" actId="113"/>
        <pc:sldMkLst>
          <pc:docMk/>
          <pc:sldMk cId="3753720496" sldId="360"/>
        </pc:sldMkLst>
        <pc:spChg chg="add mod">
          <ac:chgData name="ponnamreddybabjee@outlook.com" userId="3e261792aa522278" providerId="LiveId" clId="{5C45B0EE-7619-4904-886A-038E01722C2D}" dt="2025-12-15T15:59:19.869" v="134" actId="20577"/>
          <ac:spMkLst>
            <pc:docMk/>
            <pc:sldMk cId="3753720496" sldId="360"/>
            <ac:spMk id="3" creationId="{896CCD22-2DF8-B05A-098B-00D5FD3BB232}"/>
          </ac:spMkLst>
        </pc:spChg>
        <pc:graphicFrameChg chg="add mod modGraphic">
          <ac:chgData name="ponnamreddybabjee@outlook.com" userId="3e261792aa522278" providerId="LiveId" clId="{5C45B0EE-7619-4904-886A-038E01722C2D}" dt="2025-12-15T15:59:39.536" v="136" actId="113"/>
          <ac:graphicFrameMkLst>
            <pc:docMk/>
            <pc:sldMk cId="3753720496" sldId="360"/>
            <ac:graphicFrameMk id="4" creationId="{8A52886B-18F6-51FD-890A-4A414D17460E}"/>
          </ac:graphicFrameMkLst>
        </pc:graphicFrameChg>
        <pc:picChg chg="del">
          <ac:chgData name="ponnamreddybabjee@outlook.com" userId="3e261792aa522278" providerId="LiveId" clId="{5C45B0EE-7619-4904-886A-038E01722C2D}" dt="2025-12-15T15:56:20.570" v="103" actId="478"/>
          <ac:picMkLst>
            <pc:docMk/>
            <pc:sldMk cId="3753720496" sldId="360"/>
            <ac:picMk id="2050" creationId="{004BBAEC-F9EC-7437-5063-F90F5B8BE7B2}"/>
          </ac:picMkLst>
        </pc:picChg>
      </pc:sldChg>
      <pc:sldChg chg="delSp modSp add mod">
        <pc:chgData name="ponnamreddybabjee@outlook.com" userId="3e261792aa522278" providerId="LiveId" clId="{5C45B0EE-7619-4904-886A-038E01722C2D}" dt="2025-12-15T16:01:37.334" v="148" actId="5793"/>
        <pc:sldMkLst>
          <pc:docMk/>
          <pc:sldMk cId="2857799556" sldId="361"/>
        </pc:sldMkLst>
        <pc:spChg chg="mod">
          <ac:chgData name="ponnamreddybabjee@outlook.com" userId="3e261792aa522278" providerId="LiveId" clId="{5C45B0EE-7619-4904-886A-038E01722C2D}" dt="2025-12-15T16:01:37.334" v="148" actId="5793"/>
          <ac:spMkLst>
            <pc:docMk/>
            <pc:sldMk cId="2857799556" sldId="361"/>
            <ac:spMk id="3" creationId="{896CCD22-2DF8-B05A-098B-00D5FD3BB232}"/>
          </ac:spMkLst>
        </pc:spChg>
        <pc:graphicFrameChg chg="del">
          <ac:chgData name="ponnamreddybabjee@outlook.com" userId="3e261792aa522278" providerId="LiveId" clId="{5C45B0EE-7619-4904-886A-038E01722C2D}" dt="2025-12-15T16:00:24.360" v="138" actId="478"/>
          <ac:graphicFrameMkLst>
            <pc:docMk/>
            <pc:sldMk cId="2857799556" sldId="361"/>
            <ac:graphicFrameMk id="4" creationId="{8A52886B-18F6-51FD-890A-4A414D17460E}"/>
          </ac:graphicFrameMkLst>
        </pc:graphicFrameChg>
      </pc:sldChg>
      <pc:sldChg chg="addSp modSp add mod">
        <pc:chgData name="ponnamreddybabjee@outlook.com" userId="3e261792aa522278" providerId="LiveId" clId="{5C45B0EE-7619-4904-886A-038E01722C2D}" dt="2025-12-15T18:01:48.039" v="196" actId="113"/>
        <pc:sldMkLst>
          <pc:docMk/>
          <pc:sldMk cId="403732373" sldId="362"/>
        </pc:sldMkLst>
        <pc:spChg chg="add">
          <ac:chgData name="ponnamreddybabjee@outlook.com" userId="3e261792aa522278" providerId="LiveId" clId="{5C45B0EE-7619-4904-886A-038E01722C2D}" dt="2025-12-15T17:59:59.915" v="152"/>
          <ac:spMkLst>
            <pc:docMk/>
            <pc:sldMk cId="403732373" sldId="362"/>
            <ac:spMk id="2" creationId="{889D5523-DF2B-889E-661D-5DEC5E01D14F}"/>
          </ac:spMkLst>
        </pc:spChg>
        <pc:spChg chg="mod">
          <ac:chgData name="ponnamreddybabjee@outlook.com" userId="3e261792aa522278" providerId="LiveId" clId="{5C45B0EE-7619-4904-886A-038E01722C2D}" dt="2025-12-15T18:01:48.039" v="196" actId="113"/>
          <ac:spMkLst>
            <pc:docMk/>
            <pc:sldMk cId="403732373" sldId="362"/>
            <ac:spMk id="3" creationId="{896CCD22-2DF8-B05A-098B-00D5FD3BB232}"/>
          </ac:spMkLst>
        </pc:spChg>
        <pc:spChg chg="add">
          <ac:chgData name="ponnamreddybabjee@outlook.com" userId="3e261792aa522278" providerId="LiveId" clId="{5C45B0EE-7619-4904-886A-038E01722C2D}" dt="2025-12-15T17:59:59.915" v="152"/>
          <ac:spMkLst>
            <pc:docMk/>
            <pc:sldMk cId="403732373" sldId="362"/>
            <ac:spMk id="4" creationId="{AE85E4AF-CCF9-5E34-5707-0FE54016FF88}"/>
          </ac:spMkLst>
        </pc:spChg>
        <pc:spChg chg="add">
          <ac:chgData name="ponnamreddybabjee@outlook.com" userId="3e261792aa522278" providerId="LiveId" clId="{5C45B0EE-7619-4904-886A-038E01722C2D}" dt="2025-12-15T17:59:59.915" v="152"/>
          <ac:spMkLst>
            <pc:docMk/>
            <pc:sldMk cId="403732373" sldId="362"/>
            <ac:spMk id="5" creationId="{6DAE0660-CFDB-9B63-3E7C-64BDC16FEC2F}"/>
          </ac:spMkLst>
        </pc:spChg>
      </pc:sldChg>
      <pc:sldChg chg="addSp modSp add mod">
        <pc:chgData name="ponnamreddybabjee@outlook.com" userId="3e261792aa522278" providerId="LiveId" clId="{5C45B0EE-7619-4904-886A-038E01722C2D}" dt="2025-12-16T05:06:35.012" v="578" actId="6549"/>
        <pc:sldMkLst>
          <pc:docMk/>
          <pc:sldMk cId="2294883172" sldId="363"/>
        </pc:sldMkLst>
        <pc:spChg chg="mod">
          <ac:chgData name="ponnamreddybabjee@outlook.com" userId="3e261792aa522278" providerId="LiveId" clId="{5C45B0EE-7619-4904-886A-038E01722C2D}" dt="2025-12-15T18:02:08.870" v="199"/>
          <ac:spMkLst>
            <pc:docMk/>
            <pc:sldMk cId="2294883172" sldId="363"/>
            <ac:spMk id="3" creationId="{896CCD22-2DF8-B05A-098B-00D5FD3BB232}"/>
          </ac:spMkLst>
        </pc:spChg>
        <pc:spChg chg="add mod">
          <ac:chgData name="ponnamreddybabjee@outlook.com" userId="3e261792aa522278" providerId="LiveId" clId="{5C45B0EE-7619-4904-886A-038E01722C2D}" dt="2025-12-16T05:06:35.012" v="578" actId="6549"/>
          <ac:spMkLst>
            <pc:docMk/>
            <pc:sldMk cId="2294883172" sldId="363"/>
            <ac:spMk id="5" creationId="{F4B41656-B3E7-4B41-1664-7F4589A661F6}"/>
          </ac:spMkLst>
        </pc:spChg>
        <pc:spChg chg="add mod">
          <ac:chgData name="ponnamreddybabjee@outlook.com" userId="3e261792aa522278" providerId="LiveId" clId="{5C45B0EE-7619-4904-886A-038E01722C2D}" dt="2025-12-15T18:04:30.771" v="220" actId="1076"/>
          <ac:spMkLst>
            <pc:docMk/>
            <pc:sldMk cId="2294883172" sldId="363"/>
            <ac:spMk id="7" creationId="{68A15AAB-D676-C373-2A1A-62A9942F2255}"/>
          </ac:spMkLst>
        </pc:spChg>
        <pc:graphicFrameChg chg="add mod">
          <ac:chgData name="ponnamreddybabjee@outlook.com" userId="3e261792aa522278" providerId="LiveId" clId="{5C45B0EE-7619-4904-886A-038E01722C2D}" dt="2025-12-15T18:02:25.576" v="202"/>
          <ac:graphicFrameMkLst>
            <pc:docMk/>
            <pc:sldMk cId="2294883172" sldId="363"/>
            <ac:graphicFrameMk id="2" creationId="{81BF2F6E-DA92-7370-73D4-6BAC27C4CF91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5T18:13:18.375" v="278" actId="20577"/>
        <pc:sldMkLst>
          <pc:docMk/>
          <pc:sldMk cId="3957243177" sldId="364"/>
        </pc:sldMkLst>
        <pc:spChg chg="mod">
          <ac:chgData name="ponnamreddybabjee@outlook.com" userId="3e261792aa522278" providerId="LiveId" clId="{5C45B0EE-7619-4904-886A-038E01722C2D}" dt="2025-12-15T18:11:47.488" v="259" actId="6549"/>
          <ac:spMkLst>
            <pc:docMk/>
            <pc:sldMk cId="3957243177" sldId="364"/>
            <ac:spMk id="3" creationId="{896CCD22-2DF8-B05A-098B-00D5FD3BB232}"/>
          </ac:spMkLst>
        </pc:spChg>
        <pc:spChg chg="del mod">
          <ac:chgData name="ponnamreddybabjee@outlook.com" userId="3e261792aa522278" providerId="LiveId" clId="{5C45B0EE-7619-4904-886A-038E01722C2D}" dt="2025-12-15T18:10:44.603" v="225"/>
          <ac:spMkLst>
            <pc:docMk/>
            <pc:sldMk cId="3957243177" sldId="364"/>
            <ac:spMk id="5" creationId="{F4B41656-B3E7-4B41-1664-7F4589A661F6}"/>
          </ac:spMkLst>
        </pc:spChg>
        <pc:spChg chg="del">
          <ac:chgData name="ponnamreddybabjee@outlook.com" userId="3e261792aa522278" providerId="LiveId" clId="{5C45B0EE-7619-4904-886A-038E01722C2D}" dt="2025-12-15T18:10:48.701" v="226" actId="478"/>
          <ac:spMkLst>
            <pc:docMk/>
            <pc:sldMk cId="3957243177" sldId="364"/>
            <ac:spMk id="7" creationId="{68A15AAB-D676-C373-2A1A-62A9942F2255}"/>
          </ac:spMkLst>
        </pc:spChg>
        <pc:spChg chg="add mod">
          <ac:chgData name="ponnamreddybabjee@outlook.com" userId="3e261792aa522278" providerId="LiveId" clId="{5C45B0EE-7619-4904-886A-038E01722C2D}" dt="2025-12-15T18:13:18.375" v="278" actId="20577"/>
          <ac:spMkLst>
            <pc:docMk/>
            <pc:sldMk cId="3957243177" sldId="364"/>
            <ac:spMk id="8" creationId="{C535D99E-4470-060D-6180-826B07F7EAC8}"/>
          </ac:spMkLst>
        </pc:spChg>
        <pc:graphicFrameChg chg="del">
          <ac:chgData name="ponnamreddybabjee@outlook.com" userId="3e261792aa522278" providerId="LiveId" clId="{5C45B0EE-7619-4904-886A-038E01722C2D}" dt="2025-12-15T18:10:40.429" v="222" actId="478"/>
          <ac:graphicFrameMkLst>
            <pc:docMk/>
            <pc:sldMk cId="3957243177" sldId="364"/>
            <ac:graphicFrameMk id="2" creationId="{81BF2F6E-DA92-7370-73D4-6BAC27C4CF91}"/>
          </ac:graphicFrameMkLst>
        </pc:graphicFrameChg>
        <pc:graphicFrameChg chg="add mod">
          <ac:chgData name="ponnamreddybabjee@outlook.com" userId="3e261792aa522278" providerId="LiveId" clId="{5C45B0EE-7619-4904-886A-038E01722C2D}" dt="2025-12-15T18:12:02.597" v="262"/>
          <ac:graphicFrameMkLst>
            <pc:docMk/>
            <pc:sldMk cId="3957243177" sldId="364"/>
            <ac:graphicFrameMk id="4" creationId="{79D20B92-0FAC-DCC6-E5E0-59B550F4584C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5T18:14:25.195" v="294"/>
        <pc:sldMkLst>
          <pc:docMk/>
          <pc:sldMk cId="2610344693" sldId="365"/>
        </pc:sldMkLst>
        <pc:spChg chg="mod">
          <ac:chgData name="ponnamreddybabjee@outlook.com" userId="3e261792aa522278" providerId="LiveId" clId="{5C45B0EE-7619-4904-886A-038E01722C2D}" dt="2025-12-15T18:14:08.334" v="291" actId="6549"/>
          <ac:spMkLst>
            <pc:docMk/>
            <pc:sldMk cId="2610344693" sldId="365"/>
            <ac:spMk id="3" creationId="{896CCD22-2DF8-B05A-098B-00D5FD3BB232}"/>
          </ac:spMkLst>
        </pc:spChg>
        <pc:spChg chg="del">
          <ac:chgData name="ponnamreddybabjee@outlook.com" userId="3e261792aa522278" providerId="LiveId" clId="{5C45B0EE-7619-4904-886A-038E01722C2D}" dt="2025-12-15T18:13:46.427" v="282" actId="478"/>
          <ac:spMkLst>
            <pc:docMk/>
            <pc:sldMk cId="2610344693" sldId="365"/>
            <ac:spMk id="8" creationId="{C535D99E-4470-060D-6180-826B07F7EAC8}"/>
          </ac:spMkLst>
        </pc:spChg>
        <pc:graphicFrameChg chg="add mod">
          <ac:chgData name="ponnamreddybabjee@outlook.com" userId="3e261792aa522278" providerId="LiveId" clId="{5C45B0EE-7619-4904-886A-038E01722C2D}" dt="2025-12-15T18:14:25.195" v="294"/>
          <ac:graphicFrameMkLst>
            <pc:docMk/>
            <pc:sldMk cId="2610344693" sldId="365"/>
            <ac:graphicFrameMk id="2" creationId="{66C550C0-F9F6-8185-D66C-B123E81722D2}"/>
          </ac:graphicFrameMkLst>
        </pc:graphicFrameChg>
        <pc:graphicFrameChg chg="del">
          <ac:chgData name="ponnamreddybabjee@outlook.com" userId="3e261792aa522278" providerId="LiveId" clId="{5C45B0EE-7619-4904-886A-038E01722C2D}" dt="2025-12-15T18:13:32.661" v="280" actId="478"/>
          <ac:graphicFrameMkLst>
            <pc:docMk/>
            <pc:sldMk cId="2610344693" sldId="365"/>
            <ac:graphicFrameMk id="4" creationId="{79D20B92-0FAC-DCC6-E5E0-59B550F4584C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5T18:16:16.954" v="306" actId="20577"/>
        <pc:sldMkLst>
          <pc:docMk/>
          <pc:sldMk cId="320370804" sldId="366"/>
        </pc:sldMkLst>
        <pc:spChg chg="mod">
          <ac:chgData name="ponnamreddybabjee@outlook.com" userId="3e261792aa522278" providerId="LiveId" clId="{5C45B0EE-7619-4904-886A-038E01722C2D}" dt="2025-12-15T18:15:17.528" v="298"/>
          <ac:spMkLst>
            <pc:docMk/>
            <pc:sldMk cId="320370804" sldId="366"/>
            <ac:spMk id="3" creationId="{896CCD22-2DF8-B05A-098B-00D5FD3BB232}"/>
          </ac:spMkLst>
        </pc:spChg>
        <pc:spChg chg="add">
          <ac:chgData name="ponnamreddybabjee@outlook.com" userId="3e261792aa522278" providerId="LiveId" clId="{5C45B0EE-7619-4904-886A-038E01722C2D}" dt="2025-12-15T18:15:41.655" v="301"/>
          <ac:spMkLst>
            <pc:docMk/>
            <pc:sldMk cId="320370804" sldId="366"/>
            <ac:spMk id="5" creationId="{72094572-C199-06AC-CB4E-3F87006EE95B}"/>
          </ac:spMkLst>
        </pc:spChg>
        <pc:spChg chg="add mod">
          <ac:chgData name="ponnamreddybabjee@outlook.com" userId="3e261792aa522278" providerId="LiveId" clId="{5C45B0EE-7619-4904-886A-038E01722C2D}" dt="2025-12-15T18:16:16.954" v="306" actId="20577"/>
          <ac:spMkLst>
            <pc:docMk/>
            <pc:sldMk cId="320370804" sldId="366"/>
            <ac:spMk id="7" creationId="{7DD62CD0-25C0-68CC-BFC1-B1A8C24C3BCD}"/>
          </ac:spMkLst>
        </pc:spChg>
        <pc:graphicFrameChg chg="del">
          <ac:chgData name="ponnamreddybabjee@outlook.com" userId="3e261792aa522278" providerId="LiveId" clId="{5C45B0EE-7619-4904-886A-038E01722C2D}" dt="2025-12-15T18:14:56.043" v="296" actId="478"/>
          <ac:graphicFrameMkLst>
            <pc:docMk/>
            <pc:sldMk cId="320370804" sldId="366"/>
            <ac:graphicFrameMk id="2" creationId="{66C550C0-F9F6-8185-D66C-B123E81722D2}"/>
          </ac:graphicFrameMkLst>
        </pc:graphicFrameChg>
        <pc:graphicFrameChg chg="add mod">
          <ac:chgData name="ponnamreddybabjee@outlook.com" userId="3e261792aa522278" providerId="LiveId" clId="{5C45B0EE-7619-4904-886A-038E01722C2D}" dt="2025-12-15T18:16:05.833" v="303" actId="1076"/>
          <ac:graphicFrameMkLst>
            <pc:docMk/>
            <pc:sldMk cId="320370804" sldId="366"/>
            <ac:graphicFrameMk id="4" creationId="{0C5F7786-510D-EC78-A63E-3418F9C3E66A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5T18:23:29.150" v="321" actId="20577"/>
        <pc:sldMkLst>
          <pc:docMk/>
          <pc:sldMk cId="2747255761" sldId="367"/>
        </pc:sldMkLst>
        <pc:spChg chg="mod">
          <ac:chgData name="ponnamreddybabjee@outlook.com" userId="3e261792aa522278" providerId="LiveId" clId="{5C45B0EE-7619-4904-886A-038E01722C2D}" dt="2025-12-15T18:23:29.150" v="321" actId="20577"/>
          <ac:spMkLst>
            <pc:docMk/>
            <pc:sldMk cId="2747255761" sldId="367"/>
            <ac:spMk id="3" creationId="{896CCD22-2DF8-B05A-098B-00D5FD3BB232}"/>
          </ac:spMkLst>
        </pc:spChg>
        <pc:spChg chg="add del">
          <ac:chgData name="ponnamreddybabjee@outlook.com" userId="3e261792aa522278" providerId="LiveId" clId="{5C45B0EE-7619-4904-886A-038E01722C2D}" dt="2025-12-15T18:23:23.560" v="310" actId="478"/>
          <ac:spMkLst>
            <pc:docMk/>
            <pc:sldMk cId="2747255761" sldId="367"/>
            <ac:spMk id="7" creationId="{7DD62CD0-25C0-68CC-BFC1-B1A8C24C3BCD}"/>
          </ac:spMkLst>
        </pc:spChg>
        <pc:graphicFrameChg chg="add del">
          <ac:chgData name="ponnamreddybabjee@outlook.com" userId="3e261792aa522278" providerId="LiveId" clId="{5C45B0EE-7619-4904-886A-038E01722C2D}" dt="2025-12-15T18:23:24.419" v="311" actId="478"/>
          <ac:graphicFrameMkLst>
            <pc:docMk/>
            <pc:sldMk cId="2747255761" sldId="367"/>
            <ac:graphicFrameMk id="4" creationId="{0C5F7786-510D-EC78-A63E-3418F9C3E66A}"/>
          </ac:graphicFrameMkLst>
        </pc:graphicFrameChg>
      </pc:sldChg>
      <pc:sldChg chg="delSp modSp add mod">
        <pc:chgData name="ponnamreddybabjee@outlook.com" userId="3e261792aa522278" providerId="LiveId" clId="{5C45B0EE-7619-4904-886A-038E01722C2D}" dt="2025-12-15T18:24:57.169" v="365" actId="20577"/>
        <pc:sldMkLst>
          <pc:docMk/>
          <pc:sldMk cId="2303396905" sldId="368"/>
        </pc:sldMkLst>
        <pc:spChg chg="mod">
          <ac:chgData name="ponnamreddybabjee@outlook.com" userId="3e261792aa522278" providerId="LiveId" clId="{5C45B0EE-7619-4904-886A-038E01722C2D}" dt="2025-12-15T18:24:57.169" v="365" actId="20577"/>
          <ac:spMkLst>
            <pc:docMk/>
            <pc:sldMk cId="2303396905" sldId="368"/>
            <ac:spMk id="3" creationId="{896CCD22-2DF8-B05A-098B-00D5FD3BB232}"/>
          </ac:spMkLst>
        </pc:spChg>
        <pc:spChg chg="del mod">
          <ac:chgData name="ponnamreddybabjee@outlook.com" userId="3e261792aa522278" providerId="LiveId" clId="{5C45B0EE-7619-4904-886A-038E01722C2D}" dt="2025-12-15T18:23:40.563" v="326"/>
          <ac:spMkLst>
            <pc:docMk/>
            <pc:sldMk cId="2303396905" sldId="368"/>
            <ac:spMk id="7" creationId="{7DD62CD0-25C0-68CC-BFC1-B1A8C24C3BCD}"/>
          </ac:spMkLst>
        </pc:spChg>
        <pc:graphicFrameChg chg="del">
          <ac:chgData name="ponnamreddybabjee@outlook.com" userId="3e261792aa522278" providerId="LiveId" clId="{5C45B0EE-7619-4904-886A-038E01722C2D}" dt="2025-12-15T18:23:35.184" v="323" actId="478"/>
          <ac:graphicFrameMkLst>
            <pc:docMk/>
            <pc:sldMk cId="2303396905" sldId="368"/>
            <ac:graphicFrameMk id="4" creationId="{0C5F7786-510D-EC78-A63E-3418F9C3E66A}"/>
          </ac:graphicFrameMkLst>
        </pc:graphicFrameChg>
      </pc:sldChg>
      <pc:sldChg chg="modSp add mod">
        <pc:chgData name="ponnamreddybabjee@outlook.com" userId="3e261792aa522278" providerId="LiveId" clId="{5C45B0EE-7619-4904-886A-038E01722C2D}" dt="2025-12-15T18:27:37.336" v="437" actId="948"/>
        <pc:sldMkLst>
          <pc:docMk/>
          <pc:sldMk cId="685809818" sldId="369"/>
        </pc:sldMkLst>
        <pc:spChg chg="mod">
          <ac:chgData name="ponnamreddybabjee@outlook.com" userId="3e261792aa522278" providerId="LiveId" clId="{5C45B0EE-7619-4904-886A-038E01722C2D}" dt="2025-12-15T18:27:37.336" v="437" actId="948"/>
          <ac:spMkLst>
            <pc:docMk/>
            <pc:sldMk cId="685809818" sldId="369"/>
            <ac:spMk id="3" creationId="{896CCD22-2DF8-B05A-098B-00D5FD3BB232}"/>
          </ac:spMkLst>
        </pc:spChg>
      </pc:sldChg>
      <pc:sldChg chg="addSp modSp add mod">
        <pc:chgData name="ponnamreddybabjee@outlook.com" userId="3e261792aa522278" providerId="LiveId" clId="{5C45B0EE-7619-4904-886A-038E01722C2D}" dt="2025-12-15T18:29:24.443" v="450" actId="113"/>
        <pc:sldMkLst>
          <pc:docMk/>
          <pc:sldMk cId="626311594" sldId="370"/>
        </pc:sldMkLst>
        <pc:spChg chg="add">
          <ac:chgData name="ponnamreddybabjee@outlook.com" userId="3e261792aa522278" providerId="LiveId" clId="{5C45B0EE-7619-4904-886A-038E01722C2D}" dt="2025-12-15T18:28:01.600" v="440"/>
          <ac:spMkLst>
            <pc:docMk/>
            <pc:sldMk cId="626311594" sldId="370"/>
            <ac:spMk id="2" creationId="{AF18F070-A4C6-2DA1-283A-947CFF882515}"/>
          </ac:spMkLst>
        </pc:spChg>
        <pc:spChg chg="mod">
          <ac:chgData name="ponnamreddybabjee@outlook.com" userId="3e261792aa522278" providerId="LiveId" clId="{5C45B0EE-7619-4904-886A-038E01722C2D}" dt="2025-12-15T18:29:24.443" v="450" actId="113"/>
          <ac:spMkLst>
            <pc:docMk/>
            <pc:sldMk cId="626311594" sldId="370"/>
            <ac:spMk id="3" creationId="{896CCD22-2DF8-B05A-098B-00D5FD3BB232}"/>
          </ac:spMkLst>
        </pc:spChg>
      </pc:sldChg>
      <pc:sldChg chg="addSp modSp add del mod">
        <pc:chgData name="ponnamreddybabjee@outlook.com" userId="3e261792aa522278" providerId="LiveId" clId="{5C45B0EE-7619-4904-886A-038E01722C2D}" dt="2025-12-15T18:31:58.913" v="488" actId="2696"/>
        <pc:sldMkLst>
          <pc:docMk/>
          <pc:sldMk cId="516469956" sldId="371"/>
        </pc:sldMkLst>
        <pc:spChg chg="mod">
          <ac:chgData name="ponnamreddybabjee@outlook.com" userId="3e261792aa522278" providerId="LiveId" clId="{5C45B0EE-7619-4904-886A-038E01722C2D}" dt="2025-12-15T18:30:12.968" v="479" actId="20577"/>
          <ac:spMkLst>
            <pc:docMk/>
            <pc:sldMk cId="516469956" sldId="371"/>
            <ac:spMk id="3" creationId="{896CCD22-2DF8-B05A-098B-00D5FD3BB232}"/>
          </ac:spMkLst>
        </pc:spChg>
        <pc:spChg chg="add">
          <ac:chgData name="ponnamreddybabjee@outlook.com" userId="3e261792aa522278" providerId="LiveId" clId="{5C45B0EE-7619-4904-886A-038E01722C2D}" dt="2025-12-15T18:30:37.170" v="483"/>
          <ac:spMkLst>
            <pc:docMk/>
            <pc:sldMk cId="516469956" sldId="371"/>
            <ac:spMk id="4" creationId="{96796EA7-2EB1-E7D5-8AED-2C6727B550A1}"/>
          </ac:spMkLst>
        </pc:spChg>
        <pc:spChg chg="add mod">
          <ac:chgData name="ponnamreddybabjee@outlook.com" userId="3e261792aa522278" providerId="LiveId" clId="{5C45B0EE-7619-4904-886A-038E01722C2D}" dt="2025-12-15T18:31:07.080" v="486" actId="14100"/>
          <ac:spMkLst>
            <pc:docMk/>
            <pc:sldMk cId="516469956" sldId="371"/>
            <ac:spMk id="6" creationId="{99126254-F303-2D58-9A82-E6DFF875B138}"/>
          </ac:spMkLst>
        </pc:spChg>
        <pc:graphicFrameChg chg="add mod">
          <ac:chgData name="ponnamreddybabjee@outlook.com" userId="3e261792aa522278" providerId="LiveId" clId="{5C45B0EE-7619-4904-886A-038E01722C2D}" dt="2025-12-15T18:30:21.080" v="482"/>
          <ac:graphicFrameMkLst>
            <pc:docMk/>
            <pc:sldMk cId="516469956" sldId="371"/>
            <ac:graphicFrameMk id="2" creationId="{60179C2D-3674-F5CC-D10E-31910ADCF5F6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5T18:35:16.543" v="550" actId="20577"/>
        <pc:sldMkLst>
          <pc:docMk/>
          <pc:sldMk cId="2409231341" sldId="372"/>
        </pc:sldMkLst>
        <pc:spChg chg="mod">
          <ac:chgData name="ponnamreddybabjee@outlook.com" userId="3e261792aa522278" providerId="LiveId" clId="{5C45B0EE-7619-4904-886A-038E01722C2D}" dt="2025-12-15T18:32:19.789" v="514"/>
          <ac:spMkLst>
            <pc:docMk/>
            <pc:sldMk cId="2409231341" sldId="372"/>
            <ac:spMk id="3" creationId="{896CCD22-2DF8-B05A-098B-00D5FD3BB232}"/>
          </ac:spMkLst>
        </pc:spChg>
        <pc:spChg chg="add">
          <ac:chgData name="ponnamreddybabjee@outlook.com" userId="3e261792aa522278" providerId="LiveId" clId="{5C45B0EE-7619-4904-886A-038E01722C2D}" dt="2025-12-15T18:34:20.074" v="518"/>
          <ac:spMkLst>
            <pc:docMk/>
            <pc:sldMk cId="2409231341" sldId="372"/>
            <ac:spMk id="5" creationId="{5AE43F48-84E7-D340-6279-3A405D9A16B9}"/>
          </ac:spMkLst>
        </pc:spChg>
        <pc:spChg chg="del mod">
          <ac:chgData name="ponnamreddybabjee@outlook.com" userId="3e261792aa522278" providerId="LiveId" clId="{5C45B0EE-7619-4904-886A-038E01722C2D}" dt="2025-12-15T18:32:08.730" v="492"/>
          <ac:spMkLst>
            <pc:docMk/>
            <pc:sldMk cId="2409231341" sldId="372"/>
            <ac:spMk id="6" creationId="{99126254-F303-2D58-9A82-E6DFF875B138}"/>
          </ac:spMkLst>
        </pc:spChg>
        <pc:spChg chg="add">
          <ac:chgData name="ponnamreddybabjee@outlook.com" userId="3e261792aa522278" providerId="LiveId" clId="{5C45B0EE-7619-4904-886A-038E01722C2D}" dt="2025-12-15T18:34:20.074" v="518"/>
          <ac:spMkLst>
            <pc:docMk/>
            <pc:sldMk cId="2409231341" sldId="372"/>
            <ac:spMk id="7" creationId="{DAA09315-B533-83DD-919E-3262342DA368}"/>
          </ac:spMkLst>
        </pc:spChg>
        <pc:spChg chg="add">
          <ac:chgData name="ponnamreddybabjee@outlook.com" userId="3e261792aa522278" providerId="LiveId" clId="{5C45B0EE-7619-4904-886A-038E01722C2D}" dt="2025-12-15T18:34:20.074" v="518"/>
          <ac:spMkLst>
            <pc:docMk/>
            <pc:sldMk cId="2409231341" sldId="372"/>
            <ac:spMk id="8" creationId="{D7B4360A-266A-108E-4A04-E52D71452562}"/>
          </ac:spMkLst>
        </pc:spChg>
        <pc:spChg chg="add mod">
          <ac:chgData name="ponnamreddybabjee@outlook.com" userId="3e261792aa522278" providerId="LiveId" clId="{5C45B0EE-7619-4904-886A-038E01722C2D}" dt="2025-12-15T18:35:16.543" v="550" actId="20577"/>
          <ac:spMkLst>
            <pc:docMk/>
            <pc:sldMk cId="2409231341" sldId="372"/>
            <ac:spMk id="10" creationId="{B6154256-D3EE-A3C2-3C97-9A54B04105B1}"/>
          </ac:spMkLst>
        </pc:spChg>
        <pc:graphicFrameChg chg="del">
          <ac:chgData name="ponnamreddybabjee@outlook.com" userId="3e261792aa522278" providerId="LiveId" clId="{5C45B0EE-7619-4904-886A-038E01722C2D}" dt="2025-12-15T18:32:11.347" v="493" actId="478"/>
          <ac:graphicFrameMkLst>
            <pc:docMk/>
            <pc:sldMk cId="2409231341" sldId="372"/>
            <ac:graphicFrameMk id="2" creationId="{60179C2D-3674-F5CC-D10E-31910ADCF5F6}"/>
          </ac:graphicFrameMkLst>
        </pc:graphicFrameChg>
        <pc:graphicFrameChg chg="add mod">
          <ac:chgData name="ponnamreddybabjee@outlook.com" userId="3e261792aa522278" providerId="LiveId" clId="{5C45B0EE-7619-4904-886A-038E01722C2D}" dt="2025-12-15T18:34:39.015" v="520" actId="1076"/>
          <ac:graphicFrameMkLst>
            <pc:docMk/>
            <pc:sldMk cId="2409231341" sldId="372"/>
            <ac:graphicFrameMk id="4" creationId="{6B7CB6BA-22C7-5334-A4AE-F8EB13DAC6AA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5T18:39:22.930" v="574" actId="948"/>
        <pc:sldMkLst>
          <pc:docMk/>
          <pc:sldMk cId="993277266" sldId="373"/>
        </pc:sldMkLst>
        <pc:spChg chg="add">
          <ac:chgData name="ponnamreddybabjee@outlook.com" userId="3e261792aa522278" providerId="LiveId" clId="{5C45B0EE-7619-4904-886A-038E01722C2D}" dt="2025-12-15T18:36:14.138" v="554"/>
          <ac:spMkLst>
            <pc:docMk/>
            <pc:sldMk cId="993277266" sldId="373"/>
            <ac:spMk id="2" creationId="{706805C8-C8CF-252E-9F70-707E65AD25FA}"/>
          </ac:spMkLst>
        </pc:spChg>
        <pc:spChg chg="del">
          <ac:chgData name="ponnamreddybabjee@outlook.com" userId="3e261792aa522278" providerId="LiveId" clId="{5C45B0EE-7619-4904-886A-038E01722C2D}" dt="2025-12-15T18:36:25.856" v="555" actId="478"/>
          <ac:spMkLst>
            <pc:docMk/>
            <pc:sldMk cId="993277266" sldId="373"/>
            <ac:spMk id="3" creationId="{896CCD22-2DF8-B05A-098B-00D5FD3BB232}"/>
          </ac:spMkLst>
        </pc:spChg>
        <pc:spChg chg="add mod">
          <ac:chgData name="ponnamreddybabjee@outlook.com" userId="3e261792aa522278" providerId="LiveId" clId="{5C45B0EE-7619-4904-886A-038E01722C2D}" dt="2025-12-15T18:36:50.567" v="566" actId="6549"/>
          <ac:spMkLst>
            <pc:docMk/>
            <pc:sldMk cId="993277266" sldId="373"/>
            <ac:spMk id="6" creationId="{A165907E-A1CB-588F-17F0-5C4AE8FD6087}"/>
          </ac:spMkLst>
        </pc:spChg>
        <pc:spChg chg="add mod">
          <ac:chgData name="ponnamreddybabjee@outlook.com" userId="3e261792aa522278" providerId="LiveId" clId="{5C45B0EE-7619-4904-886A-038E01722C2D}" dt="2025-12-15T18:39:22.930" v="574" actId="948"/>
          <ac:spMkLst>
            <pc:docMk/>
            <pc:sldMk cId="993277266" sldId="373"/>
            <ac:spMk id="8" creationId="{CEF0DCD4-83ED-0AC9-386B-DE9BEC1C1A3E}"/>
          </ac:spMkLst>
        </pc:spChg>
        <pc:spChg chg="del">
          <ac:chgData name="ponnamreddybabjee@outlook.com" userId="3e261792aa522278" providerId="LiveId" clId="{5C45B0EE-7619-4904-886A-038E01722C2D}" dt="2025-12-15T18:36:08.300" v="553" actId="478"/>
          <ac:spMkLst>
            <pc:docMk/>
            <pc:sldMk cId="993277266" sldId="373"/>
            <ac:spMk id="10" creationId="{B6154256-D3EE-A3C2-3C97-9A54B04105B1}"/>
          </ac:spMkLst>
        </pc:spChg>
        <pc:graphicFrameChg chg="del">
          <ac:chgData name="ponnamreddybabjee@outlook.com" userId="3e261792aa522278" providerId="LiveId" clId="{5C45B0EE-7619-4904-886A-038E01722C2D}" dt="2025-12-15T18:36:01.212" v="552" actId="478"/>
          <ac:graphicFrameMkLst>
            <pc:docMk/>
            <pc:sldMk cId="993277266" sldId="373"/>
            <ac:graphicFrameMk id="4" creationId="{6B7CB6BA-22C7-5334-A4AE-F8EB13DAC6AA}"/>
          </ac:graphicFrameMkLst>
        </pc:graphicFrameChg>
      </pc:sldChg>
      <pc:sldChg chg="delSp modSp add mod">
        <pc:chgData name="ponnamreddybabjee@outlook.com" userId="3e261792aa522278" providerId="LiveId" clId="{5C45B0EE-7619-4904-886A-038E01722C2D}" dt="2025-12-16T15:34:40.153" v="598" actId="948"/>
        <pc:sldMkLst>
          <pc:docMk/>
          <pc:sldMk cId="577342252" sldId="374"/>
        </pc:sldMkLst>
        <pc:spChg chg="mod">
          <ac:chgData name="ponnamreddybabjee@outlook.com" userId="3e261792aa522278" providerId="LiveId" clId="{5C45B0EE-7619-4904-886A-038E01722C2D}" dt="2025-12-16T15:34:40.153" v="598" actId="948"/>
          <ac:spMkLst>
            <pc:docMk/>
            <pc:sldMk cId="577342252" sldId="374"/>
            <ac:spMk id="6" creationId="{A165907E-A1CB-588F-17F0-5C4AE8FD6087}"/>
          </ac:spMkLst>
        </pc:spChg>
        <pc:spChg chg="del">
          <ac:chgData name="ponnamreddybabjee@outlook.com" userId="3e261792aa522278" providerId="LiveId" clId="{5C45B0EE-7619-4904-886A-038E01722C2D}" dt="2025-12-16T15:31:12.906" v="580" actId="478"/>
          <ac:spMkLst>
            <pc:docMk/>
            <pc:sldMk cId="577342252" sldId="374"/>
            <ac:spMk id="8" creationId="{CEF0DCD4-83ED-0AC9-386B-DE9BEC1C1A3E}"/>
          </ac:spMkLst>
        </pc:spChg>
      </pc:sldChg>
      <pc:sldChg chg="addSp modSp add mod">
        <pc:chgData name="ponnamreddybabjee@outlook.com" userId="3e261792aa522278" providerId="LiveId" clId="{5C45B0EE-7619-4904-886A-038E01722C2D}" dt="2025-12-18T04:14:51.435" v="632" actId="113"/>
        <pc:sldMkLst>
          <pc:docMk/>
          <pc:sldMk cId="2934065426" sldId="375"/>
        </pc:sldMkLst>
        <pc:spChg chg="add">
          <ac:chgData name="ponnamreddybabjee@outlook.com" userId="3e261792aa522278" providerId="LiveId" clId="{5C45B0EE-7619-4904-886A-038E01722C2D}" dt="2025-12-16T15:38:42.184" v="601"/>
          <ac:spMkLst>
            <pc:docMk/>
            <pc:sldMk cId="2934065426" sldId="375"/>
            <ac:spMk id="2" creationId="{4BFF2926-DDB8-04DF-5447-41B7BD05AF3E}"/>
          </ac:spMkLst>
        </pc:spChg>
        <pc:spChg chg="add">
          <ac:chgData name="ponnamreddybabjee@outlook.com" userId="3e261792aa522278" providerId="LiveId" clId="{5C45B0EE-7619-4904-886A-038E01722C2D}" dt="2025-12-16T15:41:17.706" v="624"/>
          <ac:spMkLst>
            <pc:docMk/>
            <pc:sldMk cId="2934065426" sldId="375"/>
            <ac:spMk id="3" creationId="{90E941B3-9823-BE8D-86EA-34E35D0F62AF}"/>
          </ac:spMkLst>
        </pc:spChg>
        <pc:spChg chg="mod">
          <ac:chgData name="ponnamreddybabjee@outlook.com" userId="3e261792aa522278" providerId="LiveId" clId="{5C45B0EE-7619-4904-886A-038E01722C2D}" dt="2025-12-18T04:14:51.435" v="632" actId="113"/>
          <ac:spMkLst>
            <pc:docMk/>
            <pc:sldMk cId="2934065426" sldId="375"/>
            <ac:spMk id="6" creationId="{A165907E-A1CB-588F-17F0-5C4AE8FD6087}"/>
          </ac:spMkLst>
        </pc:spChg>
      </pc:sldChg>
      <pc:sldChg chg="addSp modSp add mod">
        <pc:chgData name="ponnamreddybabjee@outlook.com" userId="3e261792aa522278" providerId="LiveId" clId="{5C45B0EE-7619-4904-886A-038E01722C2D}" dt="2025-12-16T15:43:42.641" v="631" actId="20577"/>
        <pc:sldMkLst>
          <pc:docMk/>
          <pc:sldMk cId="4109600729" sldId="376"/>
        </pc:sldMkLst>
        <pc:spChg chg="add">
          <ac:chgData name="ponnamreddybabjee@outlook.com" userId="3e261792aa522278" providerId="LiveId" clId="{5C45B0EE-7619-4904-886A-038E01722C2D}" dt="2025-12-16T15:43:22.098" v="629"/>
          <ac:spMkLst>
            <pc:docMk/>
            <pc:sldMk cId="4109600729" sldId="376"/>
            <ac:spMk id="2" creationId="{ED6A8A24-1B4E-F0F6-E1BE-FDC227832A54}"/>
          </ac:spMkLst>
        </pc:spChg>
        <pc:spChg chg="mod">
          <ac:chgData name="ponnamreddybabjee@outlook.com" userId="3e261792aa522278" providerId="LiveId" clId="{5C45B0EE-7619-4904-886A-038E01722C2D}" dt="2025-12-16T15:43:42.641" v="631" actId="20577"/>
          <ac:spMkLst>
            <pc:docMk/>
            <pc:sldMk cId="4109600729" sldId="376"/>
            <ac:spMk id="6" creationId="{A165907E-A1CB-588F-17F0-5C4AE8FD6087}"/>
          </ac:spMkLst>
        </pc:spChg>
      </pc:sldChg>
      <pc:sldChg chg="modSp add mod">
        <pc:chgData name="ponnamreddybabjee@outlook.com" userId="3e261792aa522278" providerId="LiveId" clId="{5C45B0EE-7619-4904-886A-038E01722C2D}" dt="2025-12-18T04:22:11.362" v="786" actId="15"/>
        <pc:sldMkLst>
          <pc:docMk/>
          <pc:sldMk cId="660115018" sldId="377"/>
        </pc:sldMkLst>
        <pc:spChg chg="mod">
          <ac:chgData name="ponnamreddybabjee@outlook.com" userId="3e261792aa522278" providerId="LiveId" clId="{5C45B0EE-7619-4904-886A-038E01722C2D}" dt="2025-12-18T04:22:11.362" v="786" actId="15"/>
          <ac:spMkLst>
            <pc:docMk/>
            <pc:sldMk cId="660115018" sldId="377"/>
            <ac:spMk id="6" creationId="{A165907E-A1CB-588F-17F0-5C4AE8FD6087}"/>
          </ac:spMkLst>
        </pc:spChg>
      </pc:sldChg>
      <pc:sldChg chg="modSp add mod">
        <pc:chgData name="ponnamreddybabjee@outlook.com" userId="3e261792aa522278" providerId="LiveId" clId="{5C45B0EE-7619-4904-886A-038E01722C2D}" dt="2025-12-18T19:11:04.651" v="792" actId="948"/>
        <pc:sldMkLst>
          <pc:docMk/>
          <pc:sldMk cId="1359311163" sldId="378"/>
        </pc:sldMkLst>
        <pc:spChg chg="mod">
          <ac:chgData name="ponnamreddybabjee@outlook.com" userId="3e261792aa522278" providerId="LiveId" clId="{5C45B0EE-7619-4904-886A-038E01722C2D}" dt="2025-12-18T19:11:04.651" v="792" actId="948"/>
          <ac:spMkLst>
            <pc:docMk/>
            <pc:sldMk cId="1359311163" sldId="378"/>
            <ac:spMk id="6" creationId="{A165907E-A1CB-588F-17F0-5C4AE8FD6087}"/>
          </ac:spMkLst>
        </pc:spChg>
      </pc:sldChg>
      <pc:sldChg chg="modSp add mod">
        <pc:chgData name="ponnamreddybabjee@outlook.com" userId="3e261792aa522278" providerId="LiveId" clId="{5C45B0EE-7619-4904-886A-038E01722C2D}" dt="2025-12-18T19:11:53.229" v="798" actId="948"/>
        <pc:sldMkLst>
          <pc:docMk/>
          <pc:sldMk cId="122269120" sldId="379"/>
        </pc:sldMkLst>
        <pc:spChg chg="mod">
          <ac:chgData name="ponnamreddybabjee@outlook.com" userId="3e261792aa522278" providerId="LiveId" clId="{5C45B0EE-7619-4904-886A-038E01722C2D}" dt="2025-12-18T19:11:53.229" v="798" actId="948"/>
          <ac:spMkLst>
            <pc:docMk/>
            <pc:sldMk cId="122269120" sldId="379"/>
            <ac:spMk id="6" creationId="{A165907E-A1CB-588F-17F0-5C4AE8FD6087}"/>
          </ac:spMkLst>
        </pc:spChg>
      </pc:sldChg>
      <pc:sldChg chg="add">
        <pc:chgData name="ponnamreddybabjee@outlook.com" userId="3e261792aa522278" providerId="LiveId" clId="{5C45B0EE-7619-4904-886A-038E01722C2D}" dt="2025-12-18T19:12:19.330" v="799" actId="2890"/>
        <pc:sldMkLst>
          <pc:docMk/>
          <pc:sldMk cId="2742034849" sldId="380"/>
        </pc:sldMkLst>
      </pc:sldChg>
      <pc:sldChg chg="addSp delSp add mod">
        <pc:chgData name="ponnamreddybabjee@outlook.com" userId="3e261792aa522278" providerId="LiveId" clId="{5C45B0EE-7619-4904-886A-038E01722C2D}" dt="2025-12-18T19:13:37.024" v="802"/>
        <pc:sldMkLst>
          <pc:docMk/>
          <pc:sldMk cId="297759446" sldId="381"/>
        </pc:sldMkLst>
        <pc:spChg chg="del">
          <ac:chgData name="ponnamreddybabjee@outlook.com" userId="3e261792aa522278" providerId="LiveId" clId="{5C45B0EE-7619-4904-886A-038E01722C2D}" dt="2025-12-18T19:13:35.761" v="801" actId="478"/>
          <ac:spMkLst>
            <pc:docMk/>
            <pc:sldMk cId="297759446" sldId="381"/>
            <ac:spMk id="6" creationId="{A165907E-A1CB-588F-17F0-5C4AE8FD6087}"/>
          </ac:spMkLst>
        </pc:spChg>
        <pc:picChg chg="add">
          <ac:chgData name="ponnamreddybabjee@outlook.com" userId="3e261792aa522278" providerId="LiveId" clId="{5C45B0EE-7619-4904-886A-038E01722C2D}" dt="2025-12-18T19:13:37.024" v="802"/>
          <ac:picMkLst>
            <pc:docMk/>
            <pc:sldMk cId="297759446" sldId="381"/>
            <ac:picMk id="1026" creationId="{D094E52A-88AA-7728-DD58-43E2A45539CC}"/>
          </ac:picMkLst>
        </pc:picChg>
      </pc:sldChg>
      <pc:sldChg chg="addSp delSp modSp add mod">
        <pc:chgData name="ponnamreddybabjee@outlook.com" userId="3e261792aa522278" providerId="LiveId" clId="{5C45B0EE-7619-4904-886A-038E01722C2D}" dt="2025-12-18T19:14:52.916" v="810"/>
        <pc:sldMkLst>
          <pc:docMk/>
          <pc:sldMk cId="1267269995" sldId="382"/>
        </pc:sldMkLst>
        <pc:spChg chg="add mod">
          <ac:chgData name="ponnamreddybabjee@outlook.com" userId="3e261792aa522278" providerId="LiveId" clId="{5C45B0EE-7619-4904-886A-038E01722C2D}" dt="2025-12-18T19:14:41.093" v="809" actId="113"/>
          <ac:spMkLst>
            <pc:docMk/>
            <pc:sldMk cId="1267269995" sldId="382"/>
            <ac:spMk id="4" creationId="{D81CAA78-4299-D10D-8A53-A5C15ED42991}"/>
          </ac:spMkLst>
        </pc:spChg>
        <pc:graphicFrameChg chg="add mod">
          <ac:chgData name="ponnamreddybabjee@outlook.com" userId="3e261792aa522278" providerId="LiveId" clId="{5C45B0EE-7619-4904-886A-038E01722C2D}" dt="2025-12-18T19:14:52.916" v="810"/>
          <ac:graphicFrameMkLst>
            <pc:docMk/>
            <pc:sldMk cId="1267269995" sldId="382"/>
            <ac:graphicFrameMk id="2" creationId="{8154038E-2576-BF16-5A9B-5B9EE603ECF9}"/>
          </ac:graphicFrameMkLst>
        </pc:graphicFrameChg>
        <pc:picChg chg="del">
          <ac:chgData name="ponnamreddybabjee@outlook.com" userId="3e261792aa522278" providerId="LiveId" clId="{5C45B0EE-7619-4904-886A-038E01722C2D}" dt="2025-12-18T19:14:14.665" v="804" actId="478"/>
          <ac:picMkLst>
            <pc:docMk/>
            <pc:sldMk cId="1267269995" sldId="382"/>
            <ac:picMk id="1026" creationId="{D094E52A-88AA-7728-DD58-43E2A45539CC}"/>
          </ac:picMkLst>
        </pc:picChg>
      </pc:sldChg>
      <pc:sldChg chg="addSp delSp modSp add mod">
        <pc:chgData name="ponnamreddybabjee@outlook.com" userId="3e261792aa522278" providerId="LiveId" clId="{5C45B0EE-7619-4904-886A-038E01722C2D}" dt="2025-12-18T19:17:13.388" v="830" actId="948"/>
        <pc:sldMkLst>
          <pc:docMk/>
          <pc:sldMk cId="919016691" sldId="383"/>
        </pc:sldMkLst>
        <pc:spChg chg="add">
          <ac:chgData name="ponnamreddybabjee@outlook.com" userId="3e261792aa522278" providerId="LiveId" clId="{5C45B0EE-7619-4904-886A-038E01722C2D}" dt="2025-12-18T19:16:15.779" v="819"/>
          <ac:spMkLst>
            <pc:docMk/>
            <pc:sldMk cId="919016691" sldId="383"/>
            <ac:spMk id="3" creationId="{D535B92A-B91A-5256-C889-92ACB43B9024}"/>
          </ac:spMkLst>
        </pc:spChg>
        <pc:spChg chg="mod">
          <ac:chgData name="ponnamreddybabjee@outlook.com" userId="3e261792aa522278" providerId="LiveId" clId="{5C45B0EE-7619-4904-886A-038E01722C2D}" dt="2025-12-18T19:17:13.388" v="830" actId="948"/>
          <ac:spMkLst>
            <pc:docMk/>
            <pc:sldMk cId="919016691" sldId="383"/>
            <ac:spMk id="4" creationId="{D81CAA78-4299-D10D-8A53-A5C15ED42991}"/>
          </ac:spMkLst>
        </pc:spChg>
        <pc:graphicFrameChg chg="del">
          <ac:chgData name="ponnamreddybabjee@outlook.com" userId="3e261792aa522278" providerId="LiveId" clId="{5C45B0EE-7619-4904-886A-038E01722C2D}" dt="2025-12-18T19:15:35.408" v="812" actId="478"/>
          <ac:graphicFrameMkLst>
            <pc:docMk/>
            <pc:sldMk cId="919016691" sldId="383"/>
            <ac:graphicFrameMk id="2" creationId="{8154038E-2576-BF16-5A9B-5B9EE603ECF9}"/>
          </ac:graphicFrameMkLst>
        </pc:graphicFrameChg>
      </pc:sldChg>
      <pc:sldChg chg="modSp add mod">
        <pc:chgData name="ponnamreddybabjee@outlook.com" userId="3e261792aa522278" providerId="LiveId" clId="{5C45B0EE-7619-4904-886A-038E01722C2D}" dt="2025-12-18T19:20:23.063" v="853" actId="6549"/>
        <pc:sldMkLst>
          <pc:docMk/>
          <pc:sldMk cId="3974467464" sldId="384"/>
        </pc:sldMkLst>
        <pc:spChg chg="mod">
          <ac:chgData name="ponnamreddybabjee@outlook.com" userId="3e261792aa522278" providerId="LiveId" clId="{5C45B0EE-7619-4904-886A-038E01722C2D}" dt="2025-12-18T19:20:23.063" v="853" actId="6549"/>
          <ac:spMkLst>
            <pc:docMk/>
            <pc:sldMk cId="3974467464" sldId="384"/>
            <ac:spMk id="4" creationId="{D81CAA78-4299-D10D-8A53-A5C15ED42991}"/>
          </ac:spMkLst>
        </pc:spChg>
      </pc:sldChg>
      <pc:sldChg chg="add">
        <pc:chgData name="ponnamreddybabjee@outlook.com" userId="3e261792aa522278" providerId="LiveId" clId="{5C45B0EE-7619-4904-886A-038E01722C2D}" dt="2025-12-18T19:20:32.056" v="854" actId="2890"/>
        <pc:sldMkLst>
          <pc:docMk/>
          <pc:sldMk cId="585141530" sldId="385"/>
        </pc:sldMkLst>
      </pc:sldChg>
      <pc:sldChg chg="modSp add mod">
        <pc:chgData name="ponnamreddybabjee@outlook.com" userId="3e261792aa522278" providerId="LiveId" clId="{5C45B0EE-7619-4904-886A-038E01722C2D}" dt="2025-12-18T19:22:44.702" v="865" actId="948"/>
        <pc:sldMkLst>
          <pc:docMk/>
          <pc:sldMk cId="3990266675" sldId="386"/>
        </pc:sldMkLst>
        <pc:spChg chg="mod">
          <ac:chgData name="ponnamreddybabjee@outlook.com" userId="3e261792aa522278" providerId="LiveId" clId="{5C45B0EE-7619-4904-886A-038E01722C2D}" dt="2025-12-18T19:22:44.702" v="865" actId="948"/>
          <ac:spMkLst>
            <pc:docMk/>
            <pc:sldMk cId="3990266675" sldId="386"/>
            <ac:spMk id="4" creationId="{D81CAA78-4299-D10D-8A53-A5C15ED42991}"/>
          </ac:spMkLst>
        </pc:spChg>
      </pc:sldChg>
      <pc:sldChg chg="modSp add mod">
        <pc:chgData name="ponnamreddybabjee@outlook.com" userId="3e261792aa522278" providerId="LiveId" clId="{5C45B0EE-7619-4904-886A-038E01722C2D}" dt="2025-12-18T19:24:21.441" v="872" actId="15"/>
        <pc:sldMkLst>
          <pc:docMk/>
          <pc:sldMk cId="3691235735" sldId="387"/>
        </pc:sldMkLst>
        <pc:spChg chg="mod">
          <ac:chgData name="ponnamreddybabjee@outlook.com" userId="3e261792aa522278" providerId="LiveId" clId="{5C45B0EE-7619-4904-886A-038E01722C2D}" dt="2025-12-18T19:24:21.441" v="872" actId="15"/>
          <ac:spMkLst>
            <pc:docMk/>
            <pc:sldMk cId="3691235735" sldId="387"/>
            <ac:spMk id="4" creationId="{D81CAA78-4299-D10D-8A53-A5C15ED42991}"/>
          </ac:spMkLst>
        </pc:spChg>
      </pc:sldChg>
      <pc:sldChg chg="modSp add mod">
        <pc:chgData name="ponnamreddybabjee@outlook.com" userId="3e261792aa522278" providerId="LiveId" clId="{5C45B0EE-7619-4904-886A-038E01722C2D}" dt="2025-12-18T19:26:22.170" v="884" actId="15"/>
        <pc:sldMkLst>
          <pc:docMk/>
          <pc:sldMk cId="821472716" sldId="388"/>
        </pc:sldMkLst>
        <pc:spChg chg="mod">
          <ac:chgData name="ponnamreddybabjee@outlook.com" userId="3e261792aa522278" providerId="LiveId" clId="{5C45B0EE-7619-4904-886A-038E01722C2D}" dt="2025-12-18T19:26:22.170" v="884" actId="15"/>
          <ac:spMkLst>
            <pc:docMk/>
            <pc:sldMk cId="821472716" sldId="388"/>
            <ac:spMk id="4" creationId="{D81CAA78-4299-D10D-8A53-A5C15ED42991}"/>
          </ac:spMkLst>
        </pc:spChg>
      </pc:sldChg>
      <pc:sldChg chg="modSp add mod">
        <pc:chgData name="ponnamreddybabjee@outlook.com" userId="3e261792aa522278" providerId="LiveId" clId="{5C45B0EE-7619-4904-886A-038E01722C2D}" dt="2025-12-19T04:00:44.929" v="902" actId="20577"/>
        <pc:sldMkLst>
          <pc:docMk/>
          <pc:sldMk cId="1815512785" sldId="389"/>
        </pc:sldMkLst>
        <pc:spChg chg="mod">
          <ac:chgData name="ponnamreddybabjee@outlook.com" userId="3e261792aa522278" providerId="LiveId" clId="{5C45B0EE-7619-4904-886A-038E01722C2D}" dt="2025-12-19T04:00:44.929" v="902" actId="20577"/>
          <ac:spMkLst>
            <pc:docMk/>
            <pc:sldMk cId="1815512785" sldId="389"/>
            <ac:spMk id="4" creationId="{D81CAA78-4299-D10D-8A53-A5C15ED42991}"/>
          </ac:spMkLst>
        </pc:spChg>
      </pc:sldChg>
      <pc:sldChg chg="modSp add mod">
        <pc:chgData name="ponnamreddybabjee@outlook.com" userId="3e261792aa522278" providerId="LiveId" clId="{5C45B0EE-7619-4904-886A-038E01722C2D}" dt="2025-12-19T04:02:34.051" v="934" actId="113"/>
        <pc:sldMkLst>
          <pc:docMk/>
          <pc:sldMk cId="232038794" sldId="390"/>
        </pc:sldMkLst>
        <pc:spChg chg="mod">
          <ac:chgData name="ponnamreddybabjee@outlook.com" userId="3e261792aa522278" providerId="LiveId" clId="{5C45B0EE-7619-4904-886A-038E01722C2D}" dt="2025-12-19T04:02:34.051" v="934" actId="113"/>
          <ac:spMkLst>
            <pc:docMk/>
            <pc:sldMk cId="232038794" sldId="390"/>
            <ac:spMk id="4" creationId="{D81CAA78-4299-D10D-8A53-A5C15ED42991}"/>
          </ac:spMkLst>
        </pc:spChg>
      </pc:sldChg>
      <pc:sldChg chg="addSp delSp modSp add mod">
        <pc:chgData name="ponnamreddybabjee@outlook.com" userId="3e261792aa522278" providerId="LiveId" clId="{5C45B0EE-7619-4904-886A-038E01722C2D}" dt="2025-12-19T04:05:20.339" v="954" actId="948"/>
        <pc:sldMkLst>
          <pc:docMk/>
          <pc:sldMk cId="2109084298" sldId="391"/>
        </pc:sldMkLst>
        <pc:spChg chg="del mod">
          <ac:chgData name="ponnamreddybabjee@outlook.com" userId="3e261792aa522278" providerId="LiveId" clId="{5C45B0EE-7619-4904-886A-038E01722C2D}" dt="2025-12-19T04:03:52.152" v="940"/>
          <ac:spMkLst>
            <pc:docMk/>
            <pc:sldMk cId="2109084298" sldId="391"/>
            <ac:spMk id="4" creationId="{D81CAA78-4299-D10D-8A53-A5C15ED42991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5" creationId="{91905EB0-5824-6D12-2D5B-6CB8A07E9BF8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6" creationId="{6741E692-7D3C-B5FC-76F4-AF6B10535983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7" creationId="{6344CEBB-E661-94FA-D44C-567AE7608343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8" creationId="{06CE8744-75F0-A639-1435-19B227E1CB47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9" creationId="{0218880C-973C-EEE2-3174-F324CEED5440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0" creationId="{2BD52E0A-AE47-60FD-84B3-FC8EF6686D16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1" creationId="{E82E164F-582E-CB57-5D5E-D5F59777838A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2" creationId="{2038C27E-A3C5-47F4-9F4D-8D4139AD4F15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3" creationId="{1F121FB7-8664-B21F-497F-B1BE84AB08AD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4" creationId="{AD09C539-53D3-459F-0E07-871BD054DF1C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5" creationId="{0041FB4A-BE28-EDA7-3F3D-355CCE185F0D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6" creationId="{34A1BAD3-20FB-9650-56BA-0C00645801D0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7" creationId="{935A2617-24CD-A745-EEC6-B35FEA1044B5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8" creationId="{75E6604E-B0A4-0F5A-1A06-0ABB3A4E8A5F}"/>
          </ac:spMkLst>
        </pc:spChg>
        <pc:spChg chg="add mod">
          <ac:chgData name="ponnamreddybabjee@outlook.com" userId="3e261792aa522278" providerId="LiveId" clId="{5C45B0EE-7619-4904-886A-038E01722C2D}" dt="2025-12-19T04:03:52.148" v="938"/>
          <ac:spMkLst>
            <pc:docMk/>
            <pc:sldMk cId="2109084298" sldId="391"/>
            <ac:spMk id="19" creationId="{39F5B011-1DA9-3C72-5DFD-4BFD58614A34}"/>
          </ac:spMkLst>
        </pc:spChg>
        <pc:spChg chg="add mod">
          <ac:chgData name="ponnamreddybabjee@outlook.com" userId="3e261792aa522278" providerId="LiveId" clId="{5C45B0EE-7619-4904-886A-038E01722C2D}" dt="2025-12-19T04:05:20.339" v="954" actId="948"/>
          <ac:spMkLst>
            <pc:docMk/>
            <pc:sldMk cId="2109084298" sldId="391"/>
            <ac:spMk id="21" creationId="{59C18620-CF8D-DED9-283D-BD0E6FBF36D9}"/>
          </ac:spMkLst>
        </pc:spChg>
        <pc:graphicFrameChg chg="add mod">
          <ac:chgData name="ponnamreddybabjee@outlook.com" userId="3e261792aa522278" providerId="LiveId" clId="{5C45B0EE-7619-4904-886A-038E01722C2D}" dt="2025-12-19T04:03:50.034" v="937"/>
          <ac:graphicFrameMkLst>
            <pc:docMk/>
            <pc:sldMk cId="2109084298" sldId="391"/>
            <ac:graphicFrameMk id="2" creationId="{92E4B753-92D6-6800-DB16-1A2F8A88798D}"/>
          </ac:graphicFrameMkLst>
        </pc:graphicFrameChg>
        <pc:graphicFrameChg chg="add mod">
          <ac:chgData name="ponnamreddybabjee@outlook.com" userId="3e261792aa522278" providerId="LiveId" clId="{5C45B0EE-7619-4904-886A-038E01722C2D}" dt="2025-12-19T04:03:50.034" v="937"/>
          <ac:graphicFrameMkLst>
            <pc:docMk/>
            <pc:sldMk cId="2109084298" sldId="391"/>
            <ac:graphicFrameMk id="3" creationId="{357E9BD4-6C94-2D21-B721-B8A1D7ADCFEA}"/>
          </ac:graphicFrameMkLst>
        </pc:graphicFrameChg>
      </pc:sldChg>
      <pc:sldChg chg="addSp delSp modSp add mod">
        <pc:chgData name="ponnamreddybabjee@outlook.com" userId="3e261792aa522278" providerId="LiveId" clId="{5C45B0EE-7619-4904-886A-038E01722C2D}" dt="2025-12-19T04:07:58.392" v="987" actId="948"/>
        <pc:sldMkLst>
          <pc:docMk/>
          <pc:sldMk cId="1672684272" sldId="392"/>
        </pc:sldMkLst>
        <pc:spChg chg="add">
          <ac:chgData name="ponnamreddybabjee@outlook.com" userId="3e261792aa522278" providerId="LiveId" clId="{5C45B0EE-7619-4904-886A-038E01722C2D}" dt="2025-12-19T04:05:53.594" v="957"/>
          <ac:spMkLst>
            <pc:docMk/>
            <pc:sldMk cId="1672684272" sldId="392"/>
            <ac:spMk id="2" creationId="{586EEA99-9790-DF9C-607B-2C0C669C676D}"/>
          </ac:spMkLst>
        </pc:spChg>
        <pc:spChg chg="add">
          <ac:chgData name="ponnamreddybabjee@outlook.com" userId="3e261792aa522278" providerId="LiveId" clId="{5C45B0EE-7619-4904-886A-038E01722C2D}" dt="2025-12-19T04:05:53.594" v="957"/>
          <ac:spMkLst>
            <pc:docMk/>
            <pc:sldMk cId="1672684272" sldId="392"/>
            <ac:spMk id="3" creationId="{17D5031E-363C-9FC3-0E78-3874D960BE57}"/>
          </ac:spMkLst>
        </pc:spChg>
        <pc:spChg chg="add">
          <ac:chgData name="ponnamreddybabjee@outlook.com" userId="3e261792aa522278" providerId="LiveId" clId="{5C45B0EE-7619-4904-886A-038E01722C2D}" dt="2025-12-19T04:05:53.594" v="957"/>
          <ac:spMkLst>
            <pc:docMk/>
            <pc:sldMk cId="1672684272" sldId="392"/>
            <ac:spMk id="4" creationId="{E242B509-AC2D-23BD-7008-F763D14257A8}"/>
          </ac:spMkLst>
        </pc:spChg>
        <pc:spChg chg="add">
          <ac:chgData name="ponnamreddybabjee@outlook.com" userId="3e261792aa522278" providerId="LiveId" clId="{5C45B0EE-7619-4904-886A-038E01722C2D}" dt="2025-12-19T04:05:58.513" v="960"/>
          <ac:spMkLst>
            <pc:docMk/>
            <pc:sldMk cId="1672684272" sldId="392"/>
            <ac:spMk id="5" creationId="{E1DC9C0D-8E6E-6358-E47F-F3445742A8CD}"/>
          </ac:spMkLst>
        </pc:spChg>
        <pc:spChg chg="add">
          <ac:chgData name="ponnamreddybabjee@outlook.com" userId="3e261792aa522278" providerId="LiveId" clId="{5C45B0EE-7619-4904-886A-038E01722C2D}" dt="2025-12-19T04:05:58.513" v="960"/>
          <ac:spMkLst>
            <pc:docMk/>
            <pc:sldMk cId="1672684272" sldId="392"/>
            <ac:spMk id="6" creationId="{CDD2261C-78AB-C67E-88B2-405DE09C4784}"/>
          </ac:spMkLst>
        </pc:spChg>
        <pc:spChg chg="add">
          <ac:chgData name="ponnamreddybabjee@outlook.com" userId="3e261792aa522278" providerId="LiveId" clId="{5C45B0EE-7619-4904-886A-038E01722C2D}" dt="2025-12-19T04:05:58.513" v="960"/>
          <ac:spMkLst>
            <pc:docMk/>
            <pc:sldMk cId="1672684272" sldId="392"/>
            <ac:spMk id="7" creationId="{B73209DA-EC6F-5CA4-49FC-A59CC386CC91}"/>
          </ac:spMkLst>
        </pc:spChg>
        <pc:spChg chg="add mod">
          <ac:chgData name="ponnamreddybabjee@outlook.com" userId="3e261792aa522278" providerId="LiveId" clId="{5C45B0EE-7619-4904-886A-038E01722C2D}" dt="2025-12-19T04:07:58.392" v="987" actId="948"/>
          <ac:spMkLst>
            <pc:docMk/>
            <pc:sldMk cId="1672684272" sldId="392"/>
            <ac:spMk id="9" creationId="{EA2BBAAB-3730-1BD3-56E8-00DE4801548E}"/>
          </ac:spMkLst>
        </pc:spChg>
        <pc:spChg chg="del mod">
          <ac:chgData name="ponnamreddybabjee@outlook.com" userId="3e261792aa522278" providerId="LiveId" clId="{5C45B0EE-7619-4904-886A-038E01722C2D}" dt="2025-12-19T04:05:57.626" v="959"/>
          <ac:spMkLst>
            <pc:docMk/>
            <pc:sldMk cId="1672684272" sldId="392"/>
            <ac:spMk id="21" creationId="{59C18620-CF8D-DED9-283D-BD0E6FBF36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3612C-B4E0-405E-8150-2DFD3616867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8D5A9-91BB-4EAA-9DF0-209E252E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7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63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975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189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87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356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33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38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115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77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324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718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702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571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260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363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18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6249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9431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231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7224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5226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517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843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7945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35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9222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371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1912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260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298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298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1491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2928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6038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648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2747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929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8631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4369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40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5152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6189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4695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4904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158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9344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1002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8502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5822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9595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9897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4961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9668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73657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2197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809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7497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87930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5261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19983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8791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651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783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90681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4179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4599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8149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68457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3301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35760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81410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02417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19698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03252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3969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80890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629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0979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65665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2789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29851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35388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0977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3531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335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98817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81548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84693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3138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64777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23877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17755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43729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2343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9263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8068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22818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27334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33443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26977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65153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78458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59252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17507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41081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71617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61846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75447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698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79355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31791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21597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55046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46367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03750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39672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58740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42407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69822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01779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59092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62015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051100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1435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62845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804876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33674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631538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26354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8869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93469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430487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25278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74118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62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8.xml"/><Relationship Id="rId4" Type="http://schemas.openxmlformats.org/officeDocument/2006/relationships/image" Target="../media/image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0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9.xml"/><Relationship Id="rId4" Type="http://schemas.openxmlformats.org/officeDocument/2006/relationships/image" Target="../media/image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5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8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9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0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5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8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9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0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1.xml"/><Relationship Id="rId4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3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4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5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8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9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0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8AB3-D5CF-929C-D5AD-7635B0639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083139"/>
            <a:ext cx="7197726" cy="2421464"/>
          </a:xfrm>
        </p:spPr>
        <p:txBody>
          <a:bodyPr>
            <a:normAutofit/>
          </a:bodyPr>
          <a:lstStyle/>
          <a:p>
            <a:r>
              <a:rPr lang="en-US" dirty="0" err="1"/>
              <a:t>databriics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75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94704" y="450452"/>
            <a:ext cx="10679503" cy="666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a Data Lake?</a:t>
            </a:r>
          </a:p>
          <a:p>
            <a:pPr>
              <a:spcBef>
                <a:spcPts val="600"/>
              </a:spcBef>
            </a:pPr>
            <a:r>
              <a:rPr lang="en-US" dirty="0"/>
              <a:t>	A </a:t>
            </a:r>
            <a:r>
              <a:rPr lang="en-US" b="1" dirty="0"/>
              <a:t>Data Lake</a:t>
            </a:r>
            <a:r>
              <a:rPr lang="en-US" dirty="0"/>
              <a:t> is a centralized storage system where you can store </a:t>
            </a:r>
            <a:r>
              <a:rPr lang="en-US" b="1" dirty="0"/>
              <a:t>all types of data</a:t>
            </a:r>
            <a:r>
              <a:rPr lang="en-US" dirty="0"/>
              <a:t> — </a:t>
            </a:r>
            <a:r>
              <a:rPr lang="en-US" b="1" dirty="0"/>
              <a:t>raw, unstructured, 	semi-structured, and structured</a:t>
            </a:r>
            <a:r>
              <a:rPr lang="en-US" dirty="0"/>
              <a:t> — at </a:t>
            </a:r>
            <a:r>
              <a:rPr lang="en-US" b="1" dirty="0"/>
              <a:t>any scale</a:t>
            </a:r>
            <a:r>
              <a:rPr lang="en-US" dirty="0"/>
              <a:t> and at </a:t>
            </a:r>
            <a:r>
              <a:rPr lang="en-US" b="1" dirty="0"/>
              <a:t>low cost</a:t>
            </a:r>
          </a:p>
          <a:p>
            <a:pPr>
              <a:spcBef>
                <a:spcPts val="600"/>
              </a:spcBef>
            </a:pPr>
            <a:r>
              <a:rPr lang="en-IN" b="1" dirty="0"/>
              <a:t>Key Characteristics of a Data Lake</a:t>
            </a:r>
          </a:p>
          <a:p>
            <a:pPr>
              <a:spcBef>
                <a:spcPts val="600"/>
              </a:spcBef>
            </a:pPr>
            <a:r>
              <a:rPr lang="en-IN" b="1" dirty="0"/>
              <a:t>	1. Stores All Types of Data</a:t>
            </a:r>
          </a:p>
          <a:p>
            <a:pPr lvl="2">
              <a:spcBef>
                <a:spcPts val="600"/>
              </a:spcBef>
            </a:pPr>
            <a:r>
              <a:rPr lang="en-IN" dirty="0"/>
              <a:t>Structured: tables, CSV, RDBMS data</a:t>
            </a:r>
          </a:p>
          <a:p>
            <a:pPr>
              <a:spcBef>
                <a:spcPts val="600"/>
              </a:spcBef>
            </a:pPr>
            <a:r>
              <a:rPr lang="en-IN" dirty="0"/>
              <a:t>		Semi-structured: JSON, XML, logs</a:t>
            </a:r>
          </a:p>
          <a:p>
            <a:pPr>
              <a:spcBef>
                <a:spcPts val="600"/>
              </a:spcBef>
            </a:pPr>
            <a:r>
              <a:rPr lang="en-IN" dirty="0"/>
              <a:t>		Unstructured: images, videos, documents, audio</a:t>
            </a:r>
          </a:p>
          <a:p>
            <a:pPr>
              <a:spcBef>
                <a:spcPts val="600"/>
              </a:spcBef>
            </a:pPr>
            <a:r>
              <a:rPr lang="en-IN" dirty="0"/>
              <a:t>		Binary files		</a:t>
            </a:r>
          </a:p>
          <a:p>
            <a:pPr>
              <a:spcBef>
                <a:spcPts val="600"/>
              </a:spcBef>
            </a:pPr>
            <a:r>
              <a:rPr lang="en-IN" b="1" dirty="0"/>
              <a:t>	2.Schema-on-Read</a:t>
            </a:r>
          </a:p>
          <a:p>
            <a:pPr lvl="2">
              <a:spcBef>
                <a:spcPts val="600"/>
              </a:spcBef>
            </a:pPr>
            <a:r>
              <a:rPr lang="en-IN" dirty="0"/>
              <a:t>Data is stored first → structure is applied </a:t>
            </a:r>
            <a:r>
              <a:rPr lang="en-IN" i="1" dirty="0"/>
              <a:t>only when reading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r>
              <a:rPr lang="en-IN" dirty="0"/>
              <a:t>		Very flexible for analytics, ML, data exploration.</a:t>
            </a:r>
          </a:p>
          <a:p>
            <a:pPr>
              <a:spcBef>
                <a:spcPts val="600"/>
              </a:spcBef>
            </a:pPr>
            <a:r>
              <a:rPr lang="en-IN" b="1" dirty="0"/>
              <a:t>	3. Scalable and Low-Cost Storage</a:t>
            </a:r>
          </a:p>
          <a:p>
            <a:pPr>
              <a:spcBef>
                <a:spcPts val="600"/>
              </a:spcBef>
            </a:pPr>
            <a:r>
              <a:rPr lang="en-IN" dirty="0"/>
              <a:t>		AWS S3</a:t>
            </a:r>
          </a:p>
          <a:p>
            <a:pPr>
              <a:spcBef>
                <a:spcPts val="600"/>
              </a:spcBef>
            </a:pPr>
            <a:r>
              <a:rPr lang="en-IN" dirty="0"/>
              <a:t>		Azure Data Lake Storage</a:t>
            </a:r>
          </a:p>
          <a:p>
            <a:pPr>
              <a:spcBef>
                <a:spcPts val="600"/>
              </a:spcBef>
            </a:pPr>
            <a:r>
              <a:rPr lang="en-IN" dirty="0"/>
              <a:t>		Google Cloud Storage</a:t>
            </a:r>
          </a:p>
          <a:p>
            <a:pPr>
              <a:spcBef>
                <a:spcPts val="600"/>
              </a:spcBef>
            </a:pPr>
            <a:r>
              <a:rPr lang="en-IN" dirty="0"/>
              <a:t>		Hadoop HDFS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71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	Supports Big Data Processing</a:t>
            </a:r>
          </a:p>
          <a:p>
            <a:pPr>
              <a:spcBef>
                <a:spcPts val="600"/>
              </a:spcBef>
            </a:pPr>
            <a:r>
              <a:rPr lang="en-IN" dirty="0"/>
              <a:t>	Data Lakes work seamlessly with:</a:t>
            </a:r>
          </a:p>
          <a:p>
            <a:pPr>
              <a:spcBef>
                <a:spcPts val="600"/>
              </a:spcBef>
            </a:pPr>
            <a:r>
              <a:rPr lang="en-IN" dirty="0"/>
              <a:t>		Apache Spark</a:t>
            </a:r>
          </a:p>
          <a:p>
            <a:pPr>
              <a:spcBef>
                <a:spcPts val="600"/>
              </a:spcBef>
            </a:pPr>
            <a:r>
              <a:rPr lang="en-IN" dirty="0"/>
              <a:t>		Delta Lake</a:t>
            </a:r>
          </a:p>
          <a:p>
            <a:pPr>
              <a:spcBef>
                <a:spcPts val="600"/>
              </a:spcBef>
            </a:pPr>
            <a:r>
              <a:rPr lang="en-IN" dirty="0"/>
              <a:t>		Hadoop</a:t>
            </a:r>
          </a:p>
          <a:p>
            <a:pPr>
              <a:spcBef>
                <a:spcPts val="600"/>
              </a:spcBef>
            </a:pPr>
            <a:r>
              <a:rPr lang="en-IN" dirty="0"/>
              <a:t>		Presto</a:t>
            </a:r>
          </a:p>
          <a:p>
            <a:pPr>
              <a:spcBef>
                <a:spcPts val="600"/>
              </a:spcBef>
            </a:pPr>
            <a:r>
              <a:rPr lang="en-IN" dirty="0"/>
              <a:t>		Databricks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Ideal for AI/ML</a:t>
            </a:r>
          </a:p>
          <a:p>
            <a:pPr>
              <a:spcBef>
                <a:spcPts val="600"/>
              </a:spcBef>
            </a:pPr>
            <a:r>
              <a:rPr lang="en-IN" dirty="0"/>
              <a:t>		Because data is stored in raw form, data scientists can explore and prepare data for:</a:t>
            </a:r>
          </a:p>
          <a:p>
            <a:pPr>
              <a:spcBef>
                <a:spcPts val="600"/>
              </a:spcBef>
            </a:pPr>
            <a:r>
              <a:rPr lang="en-IN" dirty="0"/>
              <a:t>		Machine learning models</a:t>
            </a:r>
          </a:p>
          <a:p>
            <a:pPr>
              <a:spcBef>
                <a:spcPts val="600"/>
              </a:spcBef>
            </a:pPr>
            <a:r>
              <a:rPr lang="en-IN" dirty="0"/>
              <a:t>		Predictive analytics</a:t>
            </a:r>
          </a:p>
          <a:p>
            <a:pPr>
              <a:spcBef>
                <a:spcPts val="600"/>
              </a:spcBef>
            </a:pPr>
            <a:r>
              <a:rPr lang="en-IN" dirty="0"/>
              <a:t>		Streaming analytics</a:t>
            </a:r>
          </a:p>
          <a:p>
            <a:endParaRPr lang="en-US" b="1" dirty="0"/>
          </a:p>
          <a:p>
            <a:endParaRPr lang="en-IN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69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32E8A4-376B-4164-5B2F-A71EBC43F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79072"/>
              </p:ext>
            </p:extLst>
          </p:nvPr>
        </p:nvGraphicFramePr>
        <p:xfrm>
          <a:off x="512408" y="868680"/>
          <a:ext cx="10131426" cy="25603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13284344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41423651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5401735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Data Lake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Data Warehouse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56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All (raw/structured/semi)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Mostly 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1572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Schema-on-read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Schema-on-write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2493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7046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Batch + Streaming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Mostly batch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5344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/>
                        <a:t>AI/ML, big data,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BI reports, dashboards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1125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Flexibility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966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751C463-CA55-28A6-179F-A29627F8901D}"/>
              </a:ext>
            </a:extLst>
          </p:cNvPr>
          <p:cNvSpPr txBox="1"/>
          <p:nvPr/>
        </p:nvSpPr>
        <p:spPr>
          <a:xfrm>
            <a:off x="413766" y="32739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Data Lake vs Data Warehouse</a:t>
            </a:r>
          </a:p>
        </p:txBody>
      </p:sp>
    </p:spTree>
    <p:extLst>
      <p:ext uri="{BB962C8B-B14F-4D97-AF65-F5344CB8AC3E}">
        <p14:creationId xmlns:p14="http://schemas.microsoft.com/office/powerpoint/2010/main" val="262857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Disadvantages of a Data Lake</a:t>
            </a:r>
            <a:r>
              <a:rPr lang="en-IN" b="1" dirty="0"/>
              <a:t>: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Data Becomes a “Data Swamp”</a:t>
            </a:r>
          </a:p>
          <a:p>
            <a:pPr>
              <a:spcBef>
                <a:spcPts val="600"/>
              </a:spcBef>
            </a:pPr>
            <a:r>
              <a:rPr lang="en-US" dirty="0"/>
              <a:t>	If data is dumped without proper governance, metadata, or cataloging:</a:t>
            </a:r>
          </a:p>
          <a:p>
            <a:pPr>
              <a:spcBef>
                <a:spcPts val="600"/>
              </a:spcBef>
            </a:pPr>
            <a:r>
              <a:rPr lang="en-US" dirty="0"/>
              <a:t>	Users cannot find the right data.</a:t>
            </a:r>
          </a:p>
          <a:p>
            <a:pPr>
              <a:spcBef>
                <a:spcPts val="600"/>
              </a:spcBef>
            </a:pPr>
            <a:r>
              <a:rPr lang="en-US" dirty="0"/>
              <a:t>	Duplicate and inconsistent files appear.</a:t>
            </a:r>
          </a:p>
          <a:p>
            <a:pPr>
              <a:spcBef>
                <a:spcPts val="600"/>
              </a:spcBef>
            </a:pPr>
            <a:r>
              <a:rPr lang="en-US" dirty="0"/>
              <a:t>	Data quality becomes poor.</a:t>
            </a:r>
          </a:p>
          <a:p>
            <a:pPr>
              <a:spcBef>
                <a:spcPts val="600"/>
              </a:spcBef>
            </a:pPr>
            <a:r>
              <a:rPr lang="en-US" dirty="0"/>
              <a:t>Example:</a:t>
            </a:r>
          </a:p>
          <a:p>
            <a:pPr>
              <a:spcBef>
                <a:spcPts val="600"/>
              </a:spcBef>
            </a:pPr>
            <a:r>
              <a:rPr lang="en-US" dirty="0"/>
              <a:t>	Multiple copies of </a:t>
            </a:r>
            <a:r>
              <a:rPr lang="en-US" dirty="0" err="1"/>
              <a:t>sales.json</a:t>
            </a:r>
            <a:r>
              <a:rPr lang="en-US" dirty="0"/>
              <a:t> stored in different folders with different schemas → confusion.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IN" b="1" dirty="0"/>
              <a:t>Lack of Data Quality &amp; Validation</a:t>
            </a:r>
          </a:p>
          <a:p>
            <a:pPr>
              <a:spcBef>
                <a:spcPts val="600"/>
              </a:spcBef>
            </a:pPr>
            <a:r>
              <a:rPr lang="en-IN" dirty="0"/>
              <a:t>	Data Lakes store raw data, so:</a:t>
            </a:r>
          </a:p>
          <a:p>
            <a:pPr>
              <a:spcBef>
                <a:spcPts val="600"/>
              </a:spcBef>
            </a:pPr>
            <a:r>
              <a:rPr lang="en-IN" dirty="0"/>
              <a:t>	No validation on ingestion</a:t>
            </a:r>
          </a:p>
          <a:p>
            <a:pPr>
              <a:spcBef>
                <a:spcPts val="600"/>
              </a:spcBef>
            </a:pPr>
            <a:r>
              <a:rPr lang="en-IN" dirty="0"/>
              <a:t>	Incorrect or inconsistent data can enter</a:t>
            </a:r>
          </a:p>
          <a:p>
            <a:pPr>
              <a:spcBef>
                <a:spcPts val="600"/>
              </a:spcBef>
            </a:pPr>
            <a:r>
              <a:rPr lang="en-IN" dirty="0"/>
              <a:t>	Harder to ensure accuracy for reporting</a:t>
            </a:r>
          </a:p>
          <a:p>
            <a:pPr>
              <a:spcBef>
                <a:spcPts val="600"/>
              </a:spcBef>
            </a:pPr>
            <a:r>
              <a:rPr lang="en-IN" dirty="0"/>
              <a:t>Example:</a:t>
            </a:r>
          </a:p>
          <a:p>
            <a:pPr>
              <a:spcBef>
                <a:spcPts val="600"/>
              </a:spcBef>
            </a:pPr>
            <a:r>
              <a:rPr lang="en-IN" dirty="0"/>
              <a:t>	Missing values, wrong date formats, corrupted logs, etc.</a:t>
            </a:r>
          </a:p>
        </p:txBody>
      </p:sp>
    </p:spTree>
    <p:extLst>
      <p:ext uri="{BB962C8B-B14F-4D97-AF65-F5344CB8AC3E}">
        <p14:creationId xmlns:p14="http://schemas.microsoft.com/office/powerpoint/2010/main" val="90655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Disadvantages of a Data Lake</a:t>
            </a:r>
            <a:r>
              <a:rPr lang="en-IN" b="1" dirty="0"/>
              <a:t>: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 to Manage &amp; Govern</a:t>
            </a:r>
          </a:p>
          <a:p>
            <a:pPr>
              <a:spcBef>
                <a:spcPts val="600"/>
              </a:spcBef>
            </a:pPr>
            <a:r>
              <a:rPr lang="en-US" dirty="0"/>
              <a:t>	Since it stores all types of data:</a:t>
            </a:r>
          </a:p>
          <a:p>
            <a:pPr>
              <a:spcBef>
                <a:spcPts val="600"/>
              </a:spcBef>
            </a:pPr>
            <a:r>
              <a:rPr lang="en-US" dirty="0"/>
              <a:t>	Requires strong governance policies</a:t>
            </a:r>
          </a:p>
          <a:p>
            <a:pPr>
              <a:spcBef>
                <a:spcPts val="600"/>
              </a:spcBef>
            </a:pPr>
            <a:r>
              <a:rPr lang="en-US" dirty="0"/>
              <a:t>	Needs metadata management	</a:t>
            </a:r>
          </a:p>
          <a:p>
            <a:pPr>
              <a:spcBef>
                <a:spcPts val="600"/>
              </a:spcBef>
            </a:pPr>
            <a:r>
              <a:rPr lang="en-US" dirty="0"/>
              <a:t>	Requires proper access control</a:t>
            </a:r>
          </a:p>
          <a:p>
            <a:pPr>
              <a:spcBef>
                <a:spcPts val="600"/>
              </a:spcBef>
            </a:pPr>
            <a:r>
              <a:rPr lang="en-US" dirty="0"/>
              <a:t>If not handled:</a:t>
            </a:r>
          </a:p>
          <a:p>
            <a:pPr>
              <a:spcBef>
                <a:spcPts val="600"/>
              </a:spcBef>
            </a:pPr>
            <a:r>
              <a:rPr lang="en-US" dirty="0"/>
              <a:t>	Unauthorized users may access sensitive data.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Slow Query Performance</a:t>
            </a:r>
          </a:p>
          <a:p>
            <a:pPr>
              <a:spcBef>
                <a:spcPts val="600"/>
              </a:spcBef>
            </a:pPr>
            <a:r>
              <a:rPr lang="en-US" b="1" dirty="0"/>
              <a:t>	</a:t>
            </a:r>
            <a:r>
              <a:rPr lang="en-US" dirty="0"/>
              <a:t>Because data is unstructured and schema is applied at read time:</a:t>
            </a:r>
          </a:p>
          <a:p>
            <a:pPr>
              <a:spcBef>
                <a:spcPts val="600"/>
              </a:spcBef>
            </a:pPr>
            <a:r>
              <a:rPr lang="en-US" dirty="0"/>
              <a:t>	Queries may be slow</a:t>
            </a:r>
          </a:p>
          <a:p>
            <a:pPr>
              <a:spcBef>
                <a:spcPts val="600"/>
              </a:spcBef>
            </a:pPr>
            <a:r>
              <a:rPr lang="en-US" dirty="0"/>
              <a:t>	Large scans required</a:t>
            </a:r>
          </a:p>
          <a:p>
            <a:pPr>
              <a:spcBef>
                <a:spcPts val="600"/>
              </a:spcBef>
            </a:pPr>
            <a:r>
              <a:rPr lang="en-US" dirty="0"/>
              <a:t>	Not optimized like data warehouses</a:t>
            </a:r>
          </a:p>
          <a:p>
            <a:pPr>
              <a:spcBef>
                <a:spcPts val="600"/>
              </a:spcBef>
            </a:pPr>
            <a:r>
              <a:rPr lang="en-US" dirty="0"/>
              <a:t>Example:</a:t>
            </a:r>
          </a:p>
          <a:p>
            <a:pPr>
              <a:spcBef>
                <a:spcPts val="600"/>
              </a:spcBef>
            </a:pPr>
            <a:r>
              <a:rPr lang="en-US" dirty="0"/>
              <a:t>	SQL queries on raw CSV files → slow performance.</a:t>
            </a:r>
            <a:endParaRPr lang="en-IN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391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Disadvantages of a Data Lake</a:t>
            </a:r>
            <a:r>
              <a:rPr lang="en-IN" b="1" dirty="0"/>
              <a:t>: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Security Challenges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Raw zones may contain: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Personal information</a:t>
            </a:r>
          </a:p>
          <a:p>
            <a:pPr>
              <a:spcBef>
                <a:spcPts val="600"/>
              </a:spcBef>
            </a:pPr>
            <a:r>
              <a:rPr lang="en-US" b="1" dirty="0"/>
              <a:t>	Financial data</a:t>
            </a:r>
          </a:p>
          <a:p>
            <a:pPr>
              <a:spcBef>
                <a:spcPts val="600"/>
              </a:spcBef>
            </a:pPr>
            <a:r>
              <a:rPr lang="en-US" b="1" dirty="0"/>
              <a:t>	Confidential logs</a:t>
            </a:r>
          </a:p>
          <a:p>
            <a:pPr>
              <a:spcBef>
                <a:spcPts val="600"/>
              </a:spcBef>
            </a:pPr>
            <a:r>
              <a:rPr lang="en-US" b="1" dirty="0"/>
              <a:t>If security policies are not tight, large data leaks can happen.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High Storage Consumption</a:t>
            </a:r>
          </a:p>
          <a:p>
            <a:pPr>
              <a:spcBef>
                <a:spcPts val="600"/>
              </a:spcBef>
            </a:pPr>
            <a:r>
              <a:rPr lang="en-US" b="1" dirty="0"/>
              <a:t>	Since data is stored as-is: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Multiple file versions	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Duplicate logs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Backup copies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This increases storage cost over time.</a:t>
            </a:r>
            <a:endParaRPr lang="en-IN" b="1" dirty="0"/>
          </a:p>
          <a:p>
            <a:pPr>
              <a:spcBef>
                <a:spcPts val="600"/>
              </a:spcBef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0876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a Lakehouse?</a:t>
            </a:r>
          </a:p>
          <a:p>
            <a:pPr>
              <a:spcBef>
                <a:spcPts val="600"/>
              </a:spcBef>
            </a:pPr>
            <a:r>
              <a:rPr lang="en-US" b="1" dirty="0"/>
              <a:t>A Lakehouse is a modern data architecture that combines the best features of a Data Lake + Data Warehouse.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What it solves: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Data Lakes store raw data but lack governance &amp; performance.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Data Warehouses provide structured, reliable analytics but re 	expensive and rigid.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	Lakehouse =</a:t>
            </a:r>
          </a:p>
          <a:p>
            <a:pPr>
              <a:spcBef>
                <a:spcPts val="600"/>
              </a:spcBef>
            </a:pPr>
            <a:r>
              <a:rPr lang="en-US" b="1" dirty="0"/>
              <a:t>	Open Data Lake Storage</a:t>
            </a:r>
          </a:p>
          <a:p>
            <a:pPr>
              <a:spcBef>
                <a:spcPts val="600"/>
              </a:spcBef>
            </a:pPr>
            <a:r>
              <a:rPr lang="en-US" b="1" dirty="0"/>
              <a:t>		+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Data Warehouse Reliability</a:t>
            </a:r>
          </a:p>
          <a:p>
            <a:pPr>
              <a:spcBef>
                <a:spcPts val="600"/>
              </a:spcBef>
            </a:pPr>
            <a:r>
              <a:rPr lang="en-US" b="1" dirty="0"/>
              <a:t>		+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Delta/Parquet Format for ACID &amp; Transactions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25885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Why Lakehouse? (Business Need)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5985A7-C614-0C9E-6703-6B828F992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143436"/>
              </p:ext>
            </p:extLst>
          </p:nvPr>
        </p:nvGraphicFramePr>
        <p:xfrm>
          <a:off x="521552" y="868680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60872552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27453037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 dirty="0"/>
                        <a:t>Issue in Traditional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Lakehouse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5488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duplication in DW &amp; DL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Single source of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3124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High ETL costs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Direct analytics on 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5097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No ACID in Data 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Delta/Hudi/Iceberg provide 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7773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Poor 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Unified governance &amp; catalogs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568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ML needs raw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Raw + curated layers exist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2900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Expensive DW scaling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Low-cost storage + scalable compute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5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48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Core Features of a Lakehouse</a:t>
            </a:r>
          </a:p>
          <a:p>
            <a:pPr>
              <a:spcBef>
                <a:spcPts val="600"/>
              </a:spcBef>
            </a:pPr>
            <a:r>
              <a:rPr lang="en-IN" b="1" dirty="0"/>
              <a:t>ACID Transactions</a:t>
            </a:r>
          </a:p>
          <a:p>
            <a:pPr>
              <a:spcBef>
                <a:spcPts val="600"/>
              </a:spcBef>
            </a:pPr>
            <a:r>
              <a:rPr lang="en-IN" dirty="0"/>
              <a:t>	reliability</a:t>
            </a:r>
          </a:p>
          <a:p>
            <a:pPr>
              <a:spcBef>
                <a:spcPts val="600"/>
              </a:spcBef>
            </a:pPr>
            <a:r>
              <a:rPr lang="en-IN" dirty="0"/>
              <a:t>	correct updates/deletes/merges</a:t>
            </a:r>
          </a:p>
          <a:p>
            <a:pPr>
              <a:spcBef>
                <a:spcPts val="600"/>
              </a:spcBef>
            </a:pPr>
            <a:r>
              <a:rPr lang="en-IN" dirty="0"/>
              <a:t>	no partial writes</a:t>
            </a:r>
          </a:p>
          <a:p>
            <a:pPr>
              <a:spcBef>
                <a:spcPts val="600"/>
              </a:spcBef>
            </a:pPr>
            <a:r>
              <a:rPr lang="en-IN" dirty="0"/>
              <a:t>	(Enabled by Delta Lake / Hudi / Iceberg)</a:t>
            </a:r>
          </a:p>
          <a:p>
            <a:pPr>
              <a:spcBef>
                <a:spcPts val="600"/>
              </a:spcBef>
            </a:pPr>
            <a:r>
              <a:rPr lang="en-IN" b="1" dirty="0"/>
              <a:t>Schema Enforcement + Evolution</a:t>
            </a:r>
          </a:p>
          <a:p>
            <a:pPr>
              <a:spcBef>
                <a:spcPts val="600"/>
              </a:spcBef>
            </a:pPr>
            <a:r>
              <a:rPr lang="en-IN" dirty="0"/>
              <a:t>	Rejects bad data</a:t>
            </a:r>
          </a:p>
          <a:p>
            <a:pPr>
              <a:spcBef>
                <a:spcPts val="600"/>
              </a:spcBef>
            </a:pPr>
            <a:r>
              <a:rPr lang="en-IN" dirty="0"/>
              <a:t>	Allows schema changes (add column, modify fields)</a:t>
            </a:r>
          </a:p>
          <a:p>
            <a:pPr>
              <a:spcBef>
                <a:spcPts val="600"/>
              </a:spcBef>
            </a:pPr>
            <a:r>
              <a:rPr lang="en-IN" b="1" dirty="0"/>
              <a:t>Unified Storage for All Data</a:t>
            </a:r>
          </a:p>
          <a:p>
            <a:pPr>
              <a:spcBef>
                <a:spcPts val="600"/>
              </a:spcBef>
            </a:pPr>
            <a:r>
              <a:rPr lang="en-IN" dirty="0"/>
              <a:t>	structured</a:t>
            </a:r>
          </a:p>
          <a:p>
            <a:pPr>
              <a:spcBef>
                <a:spcPts val="600"/>
              </a:spcBef>
            </a:pPr>
            <a:r>
              <a:rPr lang="en-IN" dirty="0"/>
              <a:t>	semi-structured</a:t>
            </a:r>
          </a:p>
          <a:p>
            <a:pPr>
              <a:spcBef>
                <a:spcPts val="600"/>
              </a:spcBef>
            </a:pPr>
            <a:r>
              <a:rPr lang="en-IN" dirty="0"/>
              <a:t>	unstructured</a:t>
            </a:r>
          </a:p>
          <a:p>
            <a:pPr>
              <a:spcBef>
                <a:spcPts val="600"/>
              </a:spcBef>
            </a:pPr>
            <a:r>
              <a:rPr lang="en-IN" b="1" dirty="0"/>
              <a:t>Time Travel</a:t>
            </a:r>
          </a:p>
          <a:p>
            <a:pPr>
              <a:spcBef>
                <a:spcPts val="600"/>
              </a:spcBef>
            </a:pPr>
            <a:r>
              <a:rPr lang="en-IN" dirty="0"/>
              <a:t>	Query older versions of the table.</a:t>
            </a:r>
          </a:p>
          <a:p>
            <a:pPr>
              <a:spcBef>
                <a:spcPts val="600"/>
              </a:spcBef>
            </a:pPr>
            <a:r>
              <a:rPr lang="en-IN" b="1" dirty="0"/>
              <a:t>Separation of Compute &amp; Storage</a:t>
            </a:r>
          </a:p>
          <a:p>
            <a:pPr>
              <a:spcBef>
                <a:spcPts val="600"/>
              </a:spcBef>
            </a:pPr>
            <a:r>
              <a:rPr lang="en-IN" dirty="0"/>
              <a:t>	Storage: cheap (S3, ADLS, GCS, local object storage)</a:t>
            </a:r>
          </a:p>
          <a:p>
            <a:pPr>
              <a:spcBef>
                <a:spcPts val="600"/>
              </a:spcBef>
            </a:pPr>
            <a:r>
              <a:rPr lang="en-IN" dirty="0"/>
              <a:t>	Compute: Spark, Databricks, Presto, Trino, etc.</a:t>
            </a:r>
          </a:p>
          <a:p>
            <a:pPr>
              <a:spcBef>
                <a:spcPts val="600"/>
              </a:spcBef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918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ata Lakehouse Architecture | Databricks">
            <a:extLst>
              <a:ext uri="{FF2B5EF4-FFF2-40B4-BE49-F238E27FC236}">
                <a16:creationId xmlns:a16="http://schemas.microsoft.com/office/drawing/2014/main" id="{706FA653-254F-CFBD-1035-D2EC0A32E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8" y="196596"/>
            <a:ext cx="11159680" cy="646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44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Components of a Lakehouse Architecture</a:t>
            </a:r>
          </a:p>
          <a:p>
            <a:pPr>
              <a:spcBef>
                <a:spcPts val="600"/>
              </a:spcBef>
            </a:pPr>
            <a:r>
              <a:rPr lang="en-IN" b="1" dirty="0"/>
              <a:t>	</a:t>
            </a:r>
            <a:r>
              <a:rPr lang="en-IN" dirty="0"/>
              <a:t>Storage Layer (Open Format)</a:t>
            </a:r>
          </a:p>
          <a:p>
            <a:pPr>
              <a:spcBef>
                <a:spcPts val="600"/>
              </a:spcBef>
            </a:pPr>
            <a:r>
              <a:rPr lang="en-IN" dirty="0"/>
              <a:t>	Parquet</a:t>
            </a:r>
          </a:p>
          <a:p>
            <a:pPr>
              <a:spcBef>
                <a:spcPts val="600"/>
              </a:spcBef>
            </a:pPr>
            <a:r>
              <a:rPr lang="en-IN" dirty="0"/>
              <a:t>	Delta</a:t>
            </a:r>
          </a:p>
          <a:p>
            <a:pPr>
              <a:spcBef>
                <a:spcPts val="600"/>
              </a:spcBef>
            </a:pPr>
            <a:r>
              <a:rPr lang="en-IN" dirty="0"/>
              <a:t>	Iceberg</a:t>
            </a:r>
          </a:p>
          <a:p>
            <a:pPr>
              <a:spcBef>
                <a:spcPts val="600"/>
              </a:spcBef>
            </a:pPr>
            <a:r>
              <a:rPr lang="en-IN" dirty="0"/>
              <a:t>	ORC</a:t>
            </a:r>
          </a:p>
          <a:p>
            <a:pPr>
              <a:spcBef>
                <a:spcPts val="600"/>
              </a:spcBef>
            </a:pPr>
            <a:r>
              <a:rPr lang="en-IN" dirty="0" err="1"/>
              <a:t>Examples:AWS</a:t>
            </a:r>
            <a:r>
              <a:rPr lang="en-IN" dirty="0"/>
              <a:t> S3,Azure </a:t>
            </a:r>
            <a:r>
              <a:rPr lang="en-IN" dirty="0" err="1"/>
              <a:t>ADLS,GCS,On</a:t>
            </a:r>
            <a:r>
              <a:rPr lang="en-IN" dirty="0"/>
              <a:t>-prem object store</a:t>
            </a:r>
          </a:p>
          <a:p>
            <a:pPr>
              <a:spcBef>
                <a:spcPts val="600"/>
              </a:spcBef>
            </a:pPr>
            <a:r>
              <a:rPr lang="en-IN" b="1" dirty="0"/>
              <a:t>Metadata &amp; Governance Layer</a:t>
            </a:r>
          </a:p>
          <a:p>
            <a:pPr>
              <a:spcBef>
                <a:spcPts val="600"/>
              </a:spcBef>
            </a:pPr>
            <a:r>
              <a:rPr lang="en-IN" b="1" dirty="0"/>
              <a:t>	</a:t>
            </a:r>
            <a:r>
              <a:rPr lang="en-IN" dirty="0"/>
              <a:t>Hive </a:t>
            </a:r>
            <a:r>
              <a:rPr lang="en-IN" dirty="0" err="1"/>
              <a:t>Metastore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Unity </a:t>
            </a:r>
            <a:r>
              <a:rPr lang="en-IN" dirty="0" err="1"/>
              <a:t>Catalog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AWS Glue </a:t>
            </a:r>
            <a:r>
              <a:rPr lang="en-IN" dirty="0" err="1"/>
              <a:t>Catalog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Handles:</a:t>
            </a:r>
          </a:p>
          <a:p>
            <a:pPr>
              <a:spcBef>
                <a:spcPts val="600"/>
              </a:spcBef>
            </a:pPr>
            <a:r>
              <a:rPr lang="en-IN" b="1" dirty="0"/>
              <a:t>	</a:t>
            </a:r>
            <a:r>
              <a:rPr lang="en-IN" dirty="0"/>
              <a:t>Table definitions</a:t>
            </a:r>
          </a:p>
          <a:p>
            <a:pPr>
              <a:spcBef>
                <a:spcPts val="600"/>
              </a:spcBef>
            </a:pPr>
            <a:r>
              <a:rPr lang="en-IN" dirty="0"/>
              <a:t>	Permissions</a:t>
            </a:r>
          </a:p>
          <a:p>
            <a:pPr>
              <a:spcBef>
                <a:spcPts val="600"/>
              </a:spcBef>
            </a:pPr>
            <a:r>
              <a:rPr lang="en-IN" dirty="0"/>
              <a:t>	Lineage</a:t>
            </a:r>
          </a:p>
          <a:p>
            <a:pPr>
              <a:spcBef>
                <a:spcPts val="600"/>
              </a:spcBef>
            </a:pPr>
            <a:r>
              <a:rPr lang="en-IN" dirty="0"/>
              <a:t>	Auditing</a:t>
            </a:r>
          </a:p>
        </p:txBody>
      </p:sp>
    </p:spTree>
    <p:extLst>
      <p:ext uri="{BB962C8B-B14F-4D97-AF65-F5344CB8AC3E}">
        <p14:creationId xmlns:p14="http://schemas.microsoft.com/office/powerpoint/2010/main" val="254202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Compute Engines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Spark</a:t>
            </a:r>
          </a:p>
          <a:p>
            <a:pPr>
              <a:spcBef>
                <a:spcPts val="600"/>
              </a:spcBef>
            </a:pPr>
            <a:r>
              <a:rPr lang="en-IN" dirty="0"/>
              <a:t>	Databricks</a:t>
            </a:r>
          </a:p>
          <a:p>
            <a:pPr>
              <a:spcBef>
                <a:spcPts val="600"/>
              </a:spcBef>
            </a:pPr>
            <a:r>
              <a:rPr lang="en-IN" dirty="0"/>
              <a:t>	Presto / Trino</a:t>
            </a:r>
          </a:p>
          <a:p>
            <a:pPr>
              <a:spcBef>
                <a:spcPts val="600"/>
              </a:spcBef>
            </a:pPr>
            <a:r>
              <a:rPr lang="en-IN" dirty="0"/>
              <a:t>	Snowflake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BigQuery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Synapse</a:t>
            </a:r>
          </a:p>
          <a:p>
            <a:pPr>
              <a:spcBef>
                <a:spcPts val="600"/>
              </a:spcBef>
            </a:pPr>
            <a:r>
              <a:rPr lang="en-IN" b="1" dirty="0"/>
              <a:t>Ingestion Tools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Kafka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Spark Streaming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Flink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AWS Kinesis</a:t>
            </a:r>
          </a:p>
          <a:p>
            <a:pPr>
              <a:spcBef>
                <a:spcPts val="600"/>
              </a:spcBef>
            </a:pPr>
            <a:r>
              <a:rPr lang="en-IN" dirty="0"/>
              <a:t>	Azure Event Hub</a:t>
            </a:r>
          </a:p>
          <a:p>
            <a:pPr>
              <a:spcBef>
                <a:spcPts val="600"/>
              </a:spcBef>
            </a:pPr>
            <a:r>
              <a:rPr lang="en-IN" dirty="0"/>
              <a:t>	Batch ingestion tools (ADF, Glue, </a:t>
            </a:r>
            <a:r>
              <a:rPr lang="en-IN" dirty="0" err="1"/>
              <a:t>NiFi</a:t>
            </a:r>
            <a:r>
              <a:rPr lang="en-IN" dirty="0"/>
              <a:t>)</a:t>
            </a:r>
          </a:p>
          <a:p>
            <a:pPr>
              <a:spcBef>
                <a:spcPts val="600"/>
              </a:spcBef>
            </a:pPr>
            <a:r>
              <a:rPr lang="en-IN" b="1" dirty="0"/>
              <a:t>ML &amp; Analytics</a:t>
            </a:r>
          </a:p>
          <a:p>
            <a:pPr>
              <a:spcBef>
                <a:spcPts val="600"/>
              </a:spcBef>
            </a:pPr>
            <a:r>
              <a:rPr lang="en-IN" dirty="0"/>
              <a:t>	Spark </a:t>
            </a:r>
            <a:r>
              <a:rPr lang="en-IN" dirty="0" err="1"/>
              <a:t>MLlib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TensorFlow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MLflow</a:t>
            </a:r>
            <a:r>
              <a:rPr lang="en-IN" dirty="0"/>
              <a:t>	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61033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zure Data Lakehouse Ingestion and Processing Options">
            <a:extLst>
              <a:ext uri="{FF2B5EF4-FFF2-40B4-BE49-F238E27FC236}">
                <a16:creationId xmlns:a16="http://schemas.microsoft.com/office/drawing/2014/main" id="{E9B524AE-AA79-180D-AAAB-127D84787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97" y="219456"/>
            <a:ext cx="11396999" cy="628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00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Compute Engines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Spark</a:t>
            </a:r>
          </a:p>
          <a:p>
            <a:pPr>
              <a:spcBef>
                <a:spcPts val="600"/>
              </a:spcBef>
            </a:pPr>
            <a:r>
              <a:rPr lang="en-IN" dirty="0"/>
              <a:t>	Databricks</a:t>
            </a:r>
          </a:p>
          <a:p>
            <a:pPr>
              <a:spcBef>
                <a:spcPts val="600"/>
              </a:spcBef>
            </a:pPr>
            <a:r>
              <a:rPr lang="en-IN" dirty="0"/>
              <a:t>	Presto / Trino</a:t>
            </a:r>
          </a:p>
          <a:p>
            <a:pPr>
              <a:spcBef>
                <a:spcPts val="600"/>
              </a:spcBef>
            </a:pPr>
            <a:r>
              <a:rPr lang="en-IN" dirty="0"/>
              <a:t>	Snowflake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BigQuery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Synapse</a:t>
            </a:r>
          </a:p>
          <a:p>
            <a:pPr>
              <a:spcBef>
                <a:spcPts val="600"/>
              </a:spcBef>
            </a:pPr>
            <a:r>
              <a:rPr lang="en-IN" b="1" dirty="0"/>
              <a:t>Ingestion Tools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Kafka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Spark Streaming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Flink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AWS Kinesis</a:t>
            </a:r>
          </a:p>
          <a:p>
            <a:pPr>
              <a:spcBef>
                <a:spcPts val="600"/>
              </a:spcBef>
            </a:pPr>
            <a:r>
              <a:rPr lang="en-IN" dirty="0"/>
              <a:t>	Azure Event Hub</a:t>
            </a:r>
          </a:p>
          <a:p>
            <a:pPr>
              <a:spcBef>
                <a:spcPts val="600"/>
              </a:spcBef>
            </a:pPr>
            <a:r>
              <a:rPr lang="en-IN" dirty="0"/>
              <a:t>	Batch ingestion tools (ADF, Glue, </a:t>
            </a:r>
            <a:r>
              <a:rPr lang="en-IN" dirty="0" err="1"/>
              <a:t>NiFi</a:t>
            </a:r>
            <a:r>
              <a:rPr lang="en-IN" dirty="0"/>
              <a:t>)</a:t>
            </a:r>
          </a:p>
          <a:p>
            <a:pPr>
              <a:spcBef>
                <a:spcPts val="600"/>
              </a:spcBef>
            </a:pPr>
            <a:r>
              <a:rPr lang="en-IN" b="1" dirty="0"/>
              <a:t>ML &amp; Analytics</a:t>
            </a:r>
          </a:p>
          <a:p>
            <a:pPr>
              <a:spcBef>
                <a:spcPts val="600"/>
              </a:spcBef>
            </a:pPr>
            <a:r>
              <a:rPr lang="en-IN" dirty="0"/>
              <a:t>	Spark </a:t>
            </a:r>
            <a:r>
              <a:rPr lang="en-IN" dirty="0" err="1"/>
              <a:t>MLlib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TensorFlow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MLflow</a:t>
            </a:r>
            <a:r>
              <a:rPr lang="en-IN" dirty="0"/>
              <a:t>	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7187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Step 1: </a:t>
            </a:r>
          </a:p>
          <a:p>
            <a:pPr>
              <a:spcBef>
                <a:spcPts val="600"/>
              </a:spcBef>
            </a:pPr>
            <a:r>
              <a:rPr lang="en-IN" dirty="0"/>
              <a:t>Data Ingestion</a:t>
            </a:r>
          </a:p>
          <a:p>
            <a:pPr>
              <a:spcBef>
                <a:spcPts val="600"/>
              </a:spcBef>
            </a:pPr>
            <a:r>
              <a:rPr lang="en-IN" dirty="0"/>
              <a:t>Data flows from:</a:t>
            </a:r>
          </a:p>
          <a:p>
            <a:pPr>
              <a:spcBef>
                <a:spcPts val="600"/>
              </a:spcBef>
            </a:pPr>
            <a:r>
              <a:rPr lang="en-IN" dirty="0"/>
              <a:t>	operational DBs (Oracle, MySQL)</a:t>
            </a:r>
          </a:p>
          <a:p>
            <a:pPr>
              <a:spcBef>
                <a:spcPts val="600"/>
              </a:spcBef>
            </a:pPr>
            <a:r>
              <a:rPr lang="en-IN" dirty="0"/>
              <a:t>	IoT devices</a:t>
            </a:r>
          </a:p>
          <a:p>
            <a:pPr>
              <a:spcBef>
                <a:spcPts val="600"/>
              </a:spcBef>
            </a:pPr>
            <a:r>
              <a:rPr lang="en-IN" dirty="0"/>
              <a:t>	ERP / CRM</a:t>
            </a:r>
          </a:p>
          <a:p>
            <a:pPr>
              <a:spcBef>
                <a:spcPts val="600"/>
              </a:spcBef>
            </a:pPr>
            <a:r>
              <a:rPr lang="en-IN" dirty="0"/>
              <a:t>	streaming sources (Kafka)</a:t>
            </a:r>
          </a:p>
          <a:p>
            <a:pPr>
              <a:spcBef>
                <a:spcPts val="600"/>
              </a:spcBef>
            </a:pPr>
            <a:r>
              <a:rPr lang="en-IN" dirty="0"/>
              <a:t>   → to Bronze layer</a:t>
            </a:r>
          </a:p>
          <a:p>
            <a:pPr>
              <a:spcBef>
                <a:spcPts val="600"/>
              </a:spcBef>
            </a:pPr>
            <a:r>
              <a:rPr lang="en-IN" dirty="0"/>
              <a:t>Step 2: Data Processing</a:t>
            </a:r>
          </a:p>
          <a:p>
            <a:pPr>
              <a:spcBef>
                <a:spcPts val="600"/>
              </a:spcBef>
            </a:pPr>
            <a:r>
              <a:rPr lang="en-IN" dirty="0"/>
              <a:t>	Using Spark:</a:t>
            </a:r>
          </a:p>
          <a:p>
            <a:pPr>
              <a:spcBef>
                <a:spcPts val="600"/>
              </a:spcBef>
            </a:pPr>
            <a:r>
              <a:rPr lang="en-IN" dirty="0"/>
              <a:t>	clean</a:t>
            </a:r>
          </a:p>
          <a:p>
            <a:pPr>
              <a:spcBef>
                <a:spcPts val="600"/>
              </a:spcBef>
            </a:pPr>
            <a:r>
              <a:rPr lang="en-IN" dirty="0"/>
              <a:t>	transform</a:t>
            </a:r>
          </a:p>
          <a:p>
            <a:pPr>
              <a:spcBef>
                <a:spcPts val="600"/>
              </a:spcBef>
            </a:pPr>
            <a:r>
              <a:rPr lang="en-IN" dirty="0"/>
              <a:t>	deduplicate</a:t>
            </a:r>
          </a:p>
          <a:p>
            <a:pPr>
              <a:spcBef>
                <a:spcPts val="600"/>
              </a:spcBef>
            </a:pPr>
            <a:r>
              <a:rPr lang="en-IN" dirty="0"/>
              <a:t>	validate schema</a:t>
            </a:r>
          </a:p>
          <a:p>
            <a:pPr>
              <a:spcBef>
                <a:spcPts val="600"/>
              </a:spcBef>
            </a:pPr>
            <a:r>
              <a:rPr lang="en-IN" dirty="0"/>
              <a:t>   → move to Silver layer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929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Step 3: Data Aggregation</a:t>
            </a:r>
          </a:p>
          <a:p>
            <a:pPr>
              <a:spcBef>
                <a:spcPts val="600"/>
              </a:spcBef>
            </a:pPr>
            <a:r>
              <a:rPr lang="en-US" dirty="0"/>
              <a:t>Business logic:</a:t>
            </a:r>
          </a:p>
          <a:p>
            <a:pPr>
              <a:spcBef>
                <a:spcPts val="600"/>
              </a:spcBef>
            </a:pPr>
            <a:r>
              <a:rPr lang="en-US" dirty="0"/>
              <a:t>	fact tables (sales, revenue, cost)</a:t>
            </a:r>
          </a:p>
          <a:p>
            <a:pPr>
              <a:spcBef>
                <a:spcPts val="600"/>
              </a:spcBef>
            </a:pPr>
            <a:r>
              <a:rPr lang="en-US" dirty="0"/>
              <a:t>	dimension tables (customers, products)</a:t>
            </a:r>
          </a:p>
          <a:p>
            <a:pPr>
              <a:spcBef>
                <a:spcPts val="600"/>
              </a:spcBef>
            </a:pPr>
            <a:r>
              <a:rPr lang="en-US" dirty="0"/>
              <a:t>    → move to Gold layer</a:t>
            </a:r>
          </a:p>
          <a:p>
            <a:pPr>
              <a:spcBef>
                <a:spcPts val="600"/>
              </a:spcBef>
            </a:pPr>
            <a:r>
              <a:rPr lang="en-US" dirty="0"/>
              <a:t>Step 4: Serving Data</a:t>
            </a:r>
          </a:p>
          <a:p>
            <a:pPr>
              <a:spcBef>
                <a:spcPts val="600"/>
              </a:spcBef>
            </a:pPr>
            <a:r>
              <a:rPr lang="en-US" dirty="0"/>
              <a:t>	BI dashboards</a:t>
            </a:r>
          </a:p>
          <a:p>
            <a:pPr>
              <a:spcBef>
                <a:spcPts val="600"/>
              </a:spcBef>
            </a:pPr>
            <a:r>
              <a:rPr lang="en-US" dirty="0"/>
              <a:t>	ML training</a:t>
            </a:r>
          </a:p>
          <a:p>
            <a:pPr>
              <a:spcBef>
                <a:spcPts val="600"/>
              </a:spcBef>
            </a:pPr>
            <a:r>
              <a:rPr lang="en-US" dirty="0"/>
              <a:t>	Real-time apps</a:t>
            </a:r>
          </a:p>
          <a:p>
            <a:pPr>
              <a:spcBef>
                <a:spcPts val="600"/>
              </a:spcBef>
            </a:pPr>
            <a:r>
              <a:rPr lang="en-US" dirty="0"/>
              <a:t>	Data APIs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33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8E1190-2814-105F-8A1E-6AAAA8860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505205"/>
              </p:ext>
            </p:extLst>
          </p:nvPr>
        </p:nvGraphicFramePr>
        <p:xfrm>
          <a:off x="557784" y="868585"/>
          <a:ext cx="9994264" cy="3291840"/>
        </p:xfrm>
        <a:graphic>
          <a:graphicData uri="http://schemas.openxmlformats.org/drawingml/2006/table">
            <a:tbl>
              <a:tblPr/>
              <a:tblGrid>
                <a:gridCol w="2498566">
                  <a:extLst>
                    <a:ext uri="{9D8B030D-6E8A-4147-A177-3AD203B41FA5}">
                      <a16:colId xmlns:a16="http://schemas.microsoft.com/office/drawing/2014/main" val="383804405"/>
                    </a:ext>
                  </a:extLst>
                </a:gridCol>
                <a:gridCol w="2498566">
                  <a:extLst>
                    <a:ext uri="{9D8B030D-6E8A-4147-A177-3AD203B41FA5}">
                      <a16:colId xmlns:a16="http://schemas.microsoft.com/office/drawing/2014/main" val="2762007061"/>
                    </a:ext>
                  </a:extLst>
                </a:gridCol>
                <a:gridCol w="2498566">
                  <a:extLst>
                    <a:ext uri="{9D8B030D-6E8A-4147-A177-3AD203B41FA5}">
                      <a16:colId xmlns:a16="http://schemas.microsoft.com/office/drawing/2014/main" val="402400353"/>
                    </a:ext>
                  </a:extLst>
                </a:gridCol>
                <a:gridCol w="2498566">
                  <a:extLst>
                    <a:ext uri="{9D8B030D-6E8A-4147-A177-3AD203B41FA5}">
                      <a16:colId xmlns:a16="http://schemas.microsoft.com/office/drawing/2014/main" val="2420696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87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7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✔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✔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400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84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920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0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20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Time Travel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399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On-read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On-write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55548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09080B-312D-0F5C-1A6A-FF80B119B056}"/>
              </a:ext>
            </a:extLst>
          </p:cNvPr>
          <p:cNvSpPr txBox="1"/>
          <p:nvPr/>
        </p:nvSpPr>
        <p:spPr>
          <a:xfrm>
            <a:off x="420624" y="222254"/>
            <a:ext cx="6922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Lakehouse vs Data Lake vs Data Warehouse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821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LAKEHOUSE PRINCIPLES</a:t>
            </a:r>
          </a:p>
          <a:p>
            <a:pPr>
              <a:spcBef>
                <a:spcPts val="600"/>
              </a:spcBef>
            </a:pPr>
            <a:r>
              <a:rPr lang="en-IN" dirty="0"/>
              <a:t>1 ACID Transactions</a:t>
            </a:r>
          </a:p>
          <a:p>
            <a:pPr>
              <a:spcBef>
                <a:spcPts val="600"/>
              </a:spcBef>
            </a:pPr>
            <a:r>
              <a:rPr lang="en-IN" dirty="0"/>
              <a:t>Lakehouse systems must support Atomicity, Consistency, Isolation, Durability.</a:t>
            </a:r>
          </a:p>
          <a:p>
            <a:pPr>
              <a:spcBef>
                <a:spcPts val="600"/>
              </a:spcBef>
            </a:pPr>
            <a:r>
              <a:rPr lang="en-IN" dirty="0"/>
              <a:t>Why?</a:t>
            </a:r>
          </a:p>
          <a:p>
            <a:pPr>
              <a:spcBef>
                <a:spcPts val="600"/>
              </a:spcBef>
            </a:pPr>
            <a:r>
              <a:rPr lang="en-IN" dirty="0"/>
              <a:t>	Ensures reliable writes/updates/deletes</a:t>
            </a:r>
          </a:p>
          <a:p>
            <a:pPr>
              <a:spcBef>
                <a:spcPts val="600"/>
              </a:spcBef>
            </a:pPr>
            <a:r>
              <a:rPr lang="en-IN" dirty="0"/>
              <a:t>	Prevents partial writes or corrupted tables</a:t>
            </a:r>
          </a:p>
          <a:p>
            <a:pPr>
              <a:spcBef>
                <a:spcPts val="600"/>
              </a:spcBef>
            </a:pPr>
            <a:r>
              <a:rPr lang="en-IN" dirty="0"/>
              <a:t>	Supports concurrent operations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Important for: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Upserts</a:t>
            </a:r>
            <a:r>
              <a:rPr lang="en-IN" dirty="0"/>
              <a:t>, merges, streaming writes, time travel</a:t>
            </a:r>
          </a:p>
          <a:p>
            <a:pPr>
              <a:spcBef>
                <a:spcPts val="600"/>
              </a:spcBef>
            </a:pPr>
            <a:r>
              <a:rPr lang="en-IN" dirty="0"/>
              <a:t>2 Schema Enforcement &amp; Governance</a:t>
            </a:r>
          </a:p>
          <a:p>
            <a:pPr>
              <a:spcBef>
                <a:spcPts val="600"/>
              </a:spcBef>
            </a:pPr>
            <a:r>
              <a:rPr lang="en-IN" dirty="0"/>
              <a:t>	A Lakehouse maintains data quality using:</a:t>
            </a:r>
          </a:p>
          <a:p>
            <a:pPr>
              <a:spcBef>
                <a:spcPts val="600"/>
              </a:spcBef>
            </a:pPr>
            <a:r>
              <a:rPr lang="en-IN" dirty="0"/>
              <a:t>	Schema enforcement (reject bad data)</a:t>
            </a:r>
          </a:p>
          <a:p>
            <a:pPr>
              <a:spcBef>
                <a:spcPts val="600"/>
              </a:spcBef>
            </a:pPr>
            <a:r>
              <a:rPr lang="en-IN" dirty="0"/>
              <a:t>	Schema evolution (allow adding new fields)</a:t>
            </a:r>
          </a:p>
          <a:p>
            <a:pPr>
              <a:spcBef>
                <a:spcPts val="600"/>
              </a:spcBef>
            </a:pPr>
            <a:r>
              <a:rPr lang="en-IN" dirty="0"/>
              <a:t>	Centralized governance (</a:t>
            </a:r>
            <a:r>
              <a:rPr lang="en-IN" dirty="0" err="1"/>
              <a:t>catalogs</a:t>
            </a:r>
            <a:r>
              <a:rPr lang="en-IN" dirty="0"/>
              <a:t> &amp; permissions)</a:t>
            </a:r>
          </a:p>
          <a:p>
            <a:pPr>
              <a:spcBef>
                <a:spcPts val="600"/>
              </a:spcBef>
            </a:pPr>
            <a:r>
              <a:rPr lang="en-IN" dirty="0"/>
              <a:t>Why?</a:t>
            </a:r>
          </a:p>
          <a:p>
            <a:pPr>
              <a:spcBef>
                <a:spcPts val="600"/>
              </a:spcBef>
            </a:pPr>
            <a:r>
              <a:rPr lang="en-IN" dirty="0"/>
              <a:t>	Data Lakes become “data swamps” without structure. </a:t>
            </a:r>
            <a:r>
              <a:rPr lang="en-IN" dirty="0" err="1"/>
              <a:t>Lakehouses</a:t>
            </a:r>
            <a:r>
              <a:rPr lang="en-IN" dirty="0"/>
              <a:t> 	prevent this.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256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3 Storage &amp; Compute Separation</a:t>
            </a:r>
          </a:p>
          <a:p>
            <a:pPr>
              <a:spcBef>
                <a:spcPts val="600"/>
              </a:spcBef>
            </a:pPr>
            <a:r>
              <a:rPr lang="en-IN" dirty="0"/>
              <a:t>	Lakehouse uses:</a:t>
            </a:r>
          </a:p>
          <a:p>
            <a:pPr>
              <a:spcBef>
                <a:spcPts val="600"/>
              </a:spcBef>
            </a:pPr>
            <a:r>
              <a:rPr lang="en-IN" dirty="0"/>
              <a:t>	Cheap object storage → S3 / ADLS / GCS</a:t>
            </a:r>
          </a:p>
          <a:p>
            <a:pPr>
              <a:spcBef>
                <a:spcPts val="600"/>
              </a:spcBef>
            </a:pPr>
            <a:r>
              <a:rPr lang="en-IN" dirty="0"/>
              <a:t>	Independent compute engines → Spark, Presto, Trino, DB SQL</a:t>
            </a:r>
          </a:p>
          <a:p>
            <a:pPr>
              <a:spcBef>
                <a:spcPts val="600"/>
              </a:spcBef>
            </a:pPr>
            <a:r>
              <a:rPr lang="en-IN" dirty="0"/>
              <a:t>Benefit:</a:t>
            </a:r>
          </a:p>
          <a:p>
            <a:pPr>
              <a:spcBef>
                <a:spcPts val="600"/>
              </a:spcBef>
            </a:pPr>
            <a:r>
              <a:rPr lang="en-IN" dirty="0"/>
              <a:t>	Scale storage and compute separately → lower cost, more flexibility.</a:t>
            </a:r>
          </a:p>
          <a:p>
            <a:pPr>
              <a:spcBef>
                <a:spcPts val="600"/>
              </a:spcBef>
            </a:pPr>
            <a:r>
              <a:rPr lang="en-IN" b="1" dirty="0"/>
              <a:t>4 Open Storage Formats</a:t>
            </a:r>
          </a:p>
          <a:p>
            <a:pPr>
              <a:spcBef>
                <a:spcPts val="600"/>
              </a:spcBef>
            </a:pPr>
            <a:r>
              <a:rPr lang="en-IN" dirty="0"/>
              <a:t>	Data is stored in open, columnar formats:</a:t>
            </a:r>
          </a:p>
          <a:p>
            <a:pPr>
              <a:spcBef>
                <a:spcPts val="600"/>
              </a:spcBef>
            </a:pPr>
            <a:r>
              <a:rPr lang="en-IN" dirty="0"/>
              <a:t>	Delta Lake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Iceberg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Hudi</a:t>
            </a:r>
          </a:p>
          <a:p>
            <a:pPr>
              <a:spcBef>
                <a:spcPts val="600"/>
              </a:spcBef>
            </a:pPr>
            <a:r>
              <a:rPr lang="en-IN" dirty="0"/>
              <a:t>	Parquet</a:t>
            </a:r>
          </a:p>
          <a:p>
            <a:pPr>
              <a:spcBef>
                <a:spcPts val="600"/>
              </a:spcBef>
            </a:pPr>
            <a:r>
              <a:rPr lang="en-IN" dirty="0"/>
              <a:t>Why?</a:t>
            </a:r>
          </a:p>
          <a:p>
            <a:pPr>
              <a:spcBef>
                <a:spcPts val="600"/>
              </a:spcBef>
            </a:pPr>
            <a:r>
              <a:rPr lang="en-IN" dirty="0"/>
              <a:t>	Avoid vendor lock-in</a:t>
            </a:r>
          </a:p>
          <a:p>
            <a:pPr>
              <a:spcBef>
                <a:spcPts val="600"/>
              </a:spcBef>
            </a:pPr>
            <a:r>
              <a:rPr lang="en-IN" dirty="0"/>
              <a:t>	Any engine can read/write</a:t>
            </a:r>
          </a:p>
          <a:p>
            <a:pPr>
              <a:spcBef>
                <a:spcPts val="600"/>
              </a:spcBef>
            </a:pPr>
            <a:r>
              <a:rPr lang="en-IN" dirty="0"/>
              <a:t>	Enables long-term durability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967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5 Support for BI + AI/ML Workloads (Unified System)</a:t>
            </a:r>
          </a:p>
          <a:p>
            <a:pPr>
              <a:spcBef>
                <a:spcPts val="600"/>
              </a:spcBef>
            </a:pPr>
            <a:r>
              <a:rPr lang="en-IN" dirty="0"/>
              <a:t>	Traditional systems separate:</a:t>
            </a:r>
          </a:p>
          <a:p>
            <a:pPr>
              <a:spcBef>
                <a:spcPts val="600"/>
              </a:spcBef>
            </a:pPr>
            <a:r>
              <a:rPr lang="en-IN" dirty="0"/>
              <a:t>	Data Warehouse → BI</a:t>
            </a:r>
          </a:p>
          <a:p>
            <a:pPr>
              <a:spcBef>
                <a:spcPts val="600"/>
              </a:spcBef>
            </a:pPr>
            <a:r>
              <a:rPr lang="en-IN" dirty="0"/>
              <a:t>	Data Lake → AI/ML</a:t>
            </a:r>
          </a:p>
          <a:p>
            <a:pPr>
              <a:spcBef>
                <a:spcPts val="600"/>
              </a:spcBef>
            </a:pPr>
            <a:r>
              <a:rPr lang="en-IN" dirty="0"/>
              <a:t>	Lakehouse combines both.</a:t>
            </a:r>
          </a:p>
          <a:p>
            <a:pPr>
              <a:spcBef>
                <a:spcPts val="600"/>
              </a:spcBef>
            </a:pPr>
            <a:r>
              <a:rPr lang="en-IN" dirty="0"/>
              <a:t>Advantages:</a:t>
            </a:r>
          </a:p>
          <a:p>
            <a:pPr>
              <a:spcBef>
                <a:spcPts val="600"/>
              </a:spcBef>
            </a:pPr>
            <a:r>
              <a:rPr lang="en-IN" dirty="0"/>
              <a:t>	Single data copy</a:t>
            </a:r>
          </a:p>
          <a:p>
            <a:pPr>
              <a:spcBef>
                <a:spcPts val="600"/>
              </a:spcBef>
            </a:pPr>
            <a:r>
              <a:rPr lang="en-IN" dirty="0"/>
              <a:t>	Simpler pipeline</a:t>
            </a:r>
          </a:p>
          <a:p>
            <a:pPr>
              <a:spcBef>
                <a:spcPts val="600"/>
              </a:spcBef>
            </a:pPr>
            <a:r>
              <a:rPr lang="en-IN" dirty="0"/>
              <a:t>	Same data accessible by Power BI, </a:t>
            </a:r>
            <a:r>
              <a:rPr lang="en-IN" dirty="0" err="1"/>
              <a:t>MLflow</a:t>
            </a:r>
            <a:r>
              <a:rPr lang="en-IN" dirty="0"/>
              <a:t>, Python, Spark, Tableau, etc.</a:t>
            </a:r>
          </a:p>
          <a:p>
            <a:pPr>
              <a:spcBef>
                <a:spcPts val="600"/>
              </a:spcBef>
            </a:pPr>
            <a:r>
              <a:rPr lang="en-IN" b="1" dirty="0"/>
              <a:t>6 End-to-End Streaming + Batch Support</a:t>
            </a:r>
          </a:p>
          <a:p>
            <a:pPr>
              <a:spcBef>
                <a:spcPts val="600"/>
              </a:spcBef>
            </a:pPr>
            <a:r>
              <a:rPr lang="en-IN" dirty="0"/>
              <a:t>	Lakehouse supports:</a:t>
            </a:r>
          </a:p>
          <a:p>
            <a:pPr>
              <a:spcBef>
                <a:spcPts val="600"/>
              </a:spcBef>
            </a:pPr>
            <a:r>
              <a:rPr lang="en-IN" dirty="0"/>
              <a:t>	Real-time ingestion (Kafka, Event Hub)</a:t>
            </a:r>
          </a:p>
          <a:p>
            <a:pPr>
              <a:spcBef>
                <a:spcPts val="600"/>
              </a:spcBef>
            </a:pPr>
            <a:r>
              <a:rPr lang="en-IN" dirty="0"/>
              <a:t>	Stream processing</a:t>
            </a:r>
          </a:p>
          <a:p>
            <a:pPr>
              <a:spcBef>
                <a:spcPts val="600"/>
              </a:spcBef>
            </a:pPr>
            <a:r>
              <a:rPr lang="en-IN" dirty="0"/>
              <a:t>	Batch analytics</a:t>
            </a:r>
          </a:p>
          <a:p>
            <a:pPr>
              <a:spcBef>
                <a:spcPts val="600"/>
              </a:spcBef>
            </a:pPr>
            <a:r>
              <a:rPr lang="en-IN" dirty="0"/>
              <a:t>Using a unified table format (like Delta), streaming writes become first-class citizen.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32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7 Time Travel &amp; Data Versioning</a:t>
            </a:r>
          </a:p>
          <a:p>
            <a:pPr>
              <a:spcBef>
                <a:spcPts val="600"/>
              </a:spcBef>
            </a:pPr>
            <a:r>
              <a:rPr lang="en-IN" dirty="0"/>
              <a:t>	Lakehouse maintains snapshots/versions of the table.</a:t>
            </a:r>
          </a:p>
          <a:p>
            <a:pPr>
              <a:spcBef>
                <a:spcPts val="600"/>
              </a:spcBef>
            </a:pPr>
            <a:r>
              <a:rPr lang="en-IN" dirty="0"/>
              <a:t>You can:</a:t>
            </a:r>
          </a:p>
          <a:p>
            <a:pPr>
              <a:spcBef>
                <a:spcPts val="600"/>
              </a:spcBef>
            </a:pPr>
            <a:r>
              <a:rPr lang="en-IN" dirty="0"/>
              <a:t>	Query old versions</a:t>
            </a:r>
          </a:p>
          <a:p>
            <a:pPr>
              <a:spcBef>
                <a:spcPts val="600"/>
              </a:spcBef>
            </a:pPr>
            <a:r>
              <a:rPr lang="en-IN" dirty="0"/>
              <a:t>	Reproduce past dashboards</a:t>
            </a:r>
          </a:p>
          <a:p>
            <a:pPr>
              <a:spcBef>
                <a:spcPts val="600"/>
              </a:spcBef>
            </a:pPr>
            <a:r>
              <a:rPr lang="en-IN" dirty="0"/>
              <a:t>	Recover from accidental deletes</a:t>
            </a:r>
          </a:p>
          <a:p>
            <a:pPr>
              <a:spcBef>
                <a:spcPts val="600"/>
              </a:spcBef>
            </a:pPr>
            <a:r>
              <a:rPr lang="en-IN" dirty="0"/>
              <a:t>Enabled by:</a:t>
            </a:r>
          </a:p>
          <a:p>
            <a:pPr>
              <a:spcBef>
                <a:spcPts val="600"/>
              </a:spcBef>
            </a:pPr>
            <a:r>
              <a:rPr lang="en-IN" dirty="0"/>
              <a:t>	Delta Lake transaction logs</a:t>
            </a:r>
          </a:p>
          <a:p>
            <a:pPr>
              <a:spcBef>
                <a:spcPts val="600"/>
              </a:spcBef>
            </a:pPr>
            <a:r>
              <a:rPr lang="en-IN" dirty="0"/>
              <a:t>	Iceberg metadata snapshots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43986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8 Indexing &amp; Performance Optimization</a:t>
            </a:r>
          </a:p>
          <a:p>
            <a:pPr>
              <a:spcBef>
                <a:spcPts val="600"/>
              </a:spcBef>
            </a:pPr>
            <a:r>
              <a:rPr lang="en-IN" dirty="0"/>
              <a:t>	To achieve Data Warehouse–level performance, </a:t>
            </a:r>
          </a:p>
          <a:p>
            <a:pPr>
              <a:spcBef>
                <a:spcPts val="600"/>
              </a:spcBef>
            </a:pPr>
            <a:r>
              <a:rPr lang="en-IN" dirty="0" err="1"/>
              <a:t>Lakehouses</a:t>
            </a:r>
            <a:r>
              <a:rPr lang="en-IN" dirty="0"/>
              <a:t> provide:</a:t>
            </a:r>
          </a:p>
          <a:p>
            <a:pPr>
              <a:spcBef>
                <a:spcPts val="600"/>
              </a:spcBef>
            </a:pPr>
            <a:r>
              <a:rPr lang="en-IN" dirty="0"/>
              <a:t>	Data skipping</a:t>
            </a:r>
          </a:p>
          <a:p>
            <a:pPr>
              <a:spcBef>
                <a:spcPts val="600"/>
              </a:spcBef>
            </a:pPr>
            <a:r>
              <a:rPr lang="en-IN" dirty="0"/>
              <a:t>	Z-ordering</a:t>
            </a:r>
          </a:p>
          <a:p>
            <a:pPr>
              <a:spcBef>
                <a:spcPts val="600"/>
              </a:spcBef>
            </a:pPr>
            <a:r>
              <a:rPr lang="en-IN" dirty="0"/>
              <a:t>	Bloom filters</a:t>
            </a:r>
          </a:p>
          <a:p>
            <a:pPr>
              <a:spcBef>
                <a:spcPts val="600"/>
              </a:spcBef>
            </a:pPr>
            <a:r>
              <a:rPr lang="en-IN" dirty="0"/>
              <a:t>	Caching</a:t>
            </a:r>
          </a:p>
          <a:p>
            <a:pPr>
              <a:spcBef>
                <a:spcPts val="600"/>
              </a:spcBef>
            </a:pPr>
            <a:r>
              <a:rPr lang="en-IN" dirty="0"/>
              <a:t>	Column pruning</a:t>
            </a:r>
          </a:p>
          <a:p>
            <a:pPr>
              <a:spcBef>
                <a:spcPts val="600"/>
              </a:spcBef>
            </a:pPr>
            <a:r>
              <a:rPr lang="en-IN" dirty="0"/>
              <a:t>	File compaction</a:t>
            </a:r>
          </a:p>
          <a:p>
            <a:pPr>
              <a:spcBef>
                <a:spcPts val="600"/>
              </a:spcBef>
            </a:pPr>
            <a:r>
              <a:rPr lang="en-IN" dirty="0"/>
              <a:t>Why?</a:t>
            </a:r>
          </a:p>
          <a:p>
            <a:pPr>
              <a:spcBef>
                <a:spcPts val="600"/>
              </a:spcBef>
            </a:pPr>
            <a:r>
              <a:rPr lang="en-IN" dirty="0"/>
              <a:t>Raw data in lakes is slow → Lakehouse solves performance issues.</a:t>
            </a:r>
          </a:p>
        </p:txBody>
      </p:sp>
    </p:spTree>
    <p:extLst>
      <p:ext uri="{BB962C8B-B14F-4D97-AF65-F5344CB8AC3E}">
        <p14:creationId xmlns:p14="http://schemas.microsoft.com/office/powerpoint/2010/main" val="3618182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9 Unified Governance &amp; Security</a:t>
            </a:r>
          </a:p>
          <a:p>
            <a:pPr>
              <a:spcBef>
                <a:spcPts val="600"/>
              </a:spcBef>
            </a:pPr>
            <a:r>
              <a:rPr lang="en-IN" dirty="0"/>
              <a:t>	Lakehouse centralizes governance:</a:t>
            </a:r>
          </a:p>
          <a:p>
            <a:pPr>
              <a:spcBef>
                <a:spcPts val="600"/>
              </a:spcBef>
            </a:pPr>
            <a:r>
              <a:rPr lang="en-IN" dirty="0"/>
              <a:t>	Access control</a:t>
            </a:r>
          </a:p>
          <a:p>
            <a:pPr>
              <a:spcBef>
                <a:spcPts val="600"/>
              </a:spcBef>
            </a:pPr>
            <a:r>
              <a:rPr lang="en-IN" dirty="0"/>
              <a:t>	Lineage</a:t>
            </a:r>
          </a:p>
          <a:p>
            <a:pPr>
              <a:spcBef>
                <a:spcPts val="600"/>
              </a:spcBef>
            </a:pPr>
            <a:r>
              <a:rPr lang="en-IN" dirty="0"/>
              <a:t>	Auditing</a:t>
            </a:r>
          </a:p>
          <a:p>
            <a:pPr>
              <a:spcBef>
                <a:spcPts val="600"/>
              </a:spcBef>
            </a:pPr>
            <a:r>
              <a:rPr lang="en-IN" dirty="0"/>
              <a:t>	Metadata management</a:t>
            </a:r>
          </a:p>
          <a:p>
            <a:pPr>
              <a:spcBef>
                <a:spcPts val="600"/>
              </a:spcBef>
            </a:pPr>
            <a:r>
              <a:rPr lang="en-IN" dirty="0"/>
              <a:t>	Fine-grained permissions</a:t>
            </a:r>
          </a:p>
          <a:p>
            <a:pPr>
              <a:spcBef>
                <a:spcPts val="600"/>
              </a:spcBef>
            </a:pPr>
            <a:r>
              <a:rPr lang="en-IN" dirty="0"/>
              <a:t>Powered by tools like:</a:t>
            </a:r>
          </a:p>
          <a:p>
            <a:pPr>
              <a:spcBef>
                <a:spcPts val="600"/>
              </a:spcBef>
            </a:pPr>
            <a:r>
              <a:rPr lang="en-IN" dirty="0"/>
              <a:t>	Unity </a:t>
            </a:r>
            <a:r>
              <a:rPr lang="en-IN" dirty="0" err="1"/>
              <a:t>Catalog</a:t>
            </a:r>
            <a:r>
              <a:rPr lang="en-IN" dirty="0"/>
              <a:t> (Databricks)</a:t>
            </a:r>
          </a:p>
          <a:p>
            <a:pPr>
              <a:spcBef>
                <a:spcPts val="600"/>
              </a:spcBef>
            </a:pPr>
            <a:r>
              <a:rPr lang="en-IN" dirty="0"/>
              <a:t>	Apache Ranger</a:t>
            </a:r>
          </a:p>
          <a:p>
            <a:pPr>
              <a:spcBef>
                <a:spcPts val="600"/>
              </a:spcBef>
            </a:pPr>
            <a:r>
              <a:rPr lang="en-IN" dirty="0"/>
              <a:t>	AWS Lake Formation</a:t>
            </a:r>
          </a:p>
          <a:p>
            <a:pPr>
              <a:spcBef>
                <a:spcPts val="600"/>
              </a:spcBef>
            </a:pPr>
            <a:r>
              <a:rPr lang="en-IN" b="1" dirty="0"/>
              <a:t>10 Standard SQL Support</a:t>
            </a:r>
          </a:p>
          <a:p>
            <a:pPr>
              <a:spcBef>
                <a:spcPts val="600"/>
              </a:spcBef>
            </a:pPr>
            <a:r>
              <a:rPr lang="en-IN" dirty="0"/>
              <a:t>	BI teams require SQL.</a:t>
            </a:r>
          </a:p>
          <a:p>
            <a:pPr>
              <a:spcBef>
                <a:spcPts val="600"/>
              </a:spcBef>
            </a:pPr>
            <a:r>
              <a:rPr lang="en-IN" dirty="0"/>
              <a:t>	Lakehouse engines support:</a:t>
            </a:r>
          </a:p>
          <a:p>
            <a:pPr>
              <a:spcBef>
                <a:spcPts val="600"/>
              </a:spcBef>
            </a:pPr>
            <a:r>
              <a:rPr lang="en-IN" dirty="0"/>
              <a:t>	ANSI SQL</a:t>
            </a:r>
          </a:p>
          <a:p>
            <a:pPr>
              <a:spcBef>
                <a:spcPts val="600"/>
              </a:spcBef>
            </a:pPr>
            <a:r>
              <a:rPr lang="en-IN" dirty="0"/>
              <a:t>	DDL/DML</a:t>
            </a:r>
          </a:p>
          <a:p>
            <a:pPr>
              <a:spcBef>
                <a:spcPts val="600"/>
              </a:spcBef>
            </a:pPr>
            <a:r>
              <a:rPr lang="en-IN" dirty="0"/>
              <a:t>	MERGE, UPDATE, DELETE directly on tables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01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Introduction to Databricks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dirty="0"/>
              <a:t>	Databricks is a unified data analytics and AI platform built on top of Apache Spark.</a:t>
            </a:r>
          </a:p>
          <a:p>
            <a:pPr>
              <a:spcBef>
                <a:spcPts val="600"/>
              </a:spcBef>
            </a:pPr>
            <a:r>
              <a:rPr lang="en-US" dirty="0"/>
              <a:t>	Provides a collaborative environment for data engineering, data science, machine learning, and analytics.</a:t>
            </a:r>
          </a:p>
          <a:p>
            <a:pPr>
              <a:spcBef>
                <a:spcPts val="600"/>
              </a:spcBef>
            </a:pPr>
            <a:r>
              <a:rPr lang="en-US" dirty="0"/>
              <a:t>	Founded by the creators of Apache Spark.</a:t>
            </a:r>
          </a:p>
          <a:p>
            <a:pPr>
              <a:spcBef>
                <a:spcPts val="600"/>
              </a:spcBef>
            </a:pPr>
            <a:r>
              <a:rPr lang="en-US" dirty="0"/>
              <a:t>	Supports multiple languages: Python, SQL, R, Scala, Java.</a:t>
            </a:r>
          </a:p>
          <a:p>
            <a:pPr>
              <a:spcBef>
                <a:spcPts val="600"/>
              </a:spcBef>
            </a:pPr>
            <a:r>
              <a:rPr lang="en-US" dirty="0"/>
              <a:t>	Available on major clouds: Azure, AWS, Google Cloud.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Why Databricks?</a:t>
            </a:r>
          </a:p>
          <a:p>
            <a:pPr>
              <a:spcBef>
                <a:spcPts val="600"/>
              </a:spcBef>
            </a:pPr>
            <a:r>
              <a:rPr lang="en-US" dirty="0"/>
              <a:t>	Traditional data architectures are complex, slow, and expensive.</a:t>
            </a:r>
          </a:p>
          <a:p>
            <a:pPr>
              <a:spcBef>
                <a:spcPts val="600"/>
              </a:spcBef>
            </a:pPr>
            <a:r>
              <a:rPr lang="en-US" dirty="0"/>
              <a:t>	Data exists in multiple systems (data warehouse, data lake, ETL pipelines, ML environments).</a:t>
            </a:r>
          </a:p>
          <a:p>
            <a:pPr>
              <a:spcBef>
                <a:spcPts val="600"/>
              </a:spcBef>
            </a:pPr>
            <a:r>
              <a:rPr lang="en-US" dirty="0"/>
              <a:t>Difficulty in:</a:t>
            </a:r>
          </a:p>
          <a:p>
            <a:pPr>
              <a:spcBef>
                <a:spcPts val="600"/>
              </a:spcBef>
            </a:pPr>
            <a:r>
              <a:rPr lang="en-US" dirty="0"/>
              <a:t>	Handling unstructured data</a:t>
            </a:r>
          </a:p>
          <a:p>
            <a:pPr>
              <a:spcBef>
                <a:spcPts val="600"/>
              </a:spcBef>
            </a:pPr>
            <a:r>
              <a:rPr lang="en-US" dirty="0"/>
              <a:t>	Scaling big data</a:t>
            </a:r>
          </a:p>
          <a:p>
            <a:pPr>
              <a:spcBef>
                <a:spcPts val="600"/>
              </a:spcBef>
            </a:pPr>
            <a:r>
              <a:rPr lang="en-US" dirty="0"/>
              <a:t>	Operationalizing machine learning</a:t>
            </a:r>
          </a:p>
          <a:p>
            <a:pPr>
              <a:spcBef>
                <a:spcPts val="600"/>
              </a:spcBef>
            </a:pPr>
            <a:r>
              <a:rPr lang="en-US" dirty="0"/>
              <a:t>	Databricks solves these problems with a Lakehouse Architecture.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9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Key Components of Databricks</a:t>
            </a:r>
          </a:p>
          <a:p>
            <a:pPr>
              <a:spcBef>
                <a:spcPts val="600"/>
              </a:spcBef>
            </a:pPr>
            <a:r>
              <a:rPr lang="en-IN" dirty="0"/>
              <a:t>	Databricks Workspace: Interface for notebooks, repos, workflows.</a:t>
            </a:r>
          </a:p>
          <a:p>
            <a:pPr>
              <a:spcBef>
                <a:spcPts val="600"/>
              </a:spcBef>
            </a:pPr>
            <a:r>
              <a:rPr lang="en-IN" dirty="0"/>
              <a:t>	Databricks Runtime: Optimized Spark cluster engine.</a:t>
            </a:r>
          </a:p>
          <a:p>
            <a:pPr>
              <a:spcBef>
                <a:spcPts val="600"/>
              </a:spcBef>
            </a:pPr>
            <a:r>
              <a:rPr lang="en-IN" dirty="0"/>
              <a:t>	Delta Lake: Storage layer enabling ACID transactions on data lakes.</a:t>
            </a:r>
          </a:p>
          <a:p>
            <a:pPr>
              <a:spcBef>
                <a:spcPts val="600"/>
              </a:spcBef>
            </a:pPr>
            <a:r>
              <a:rPr lang="en-IN" dirty="0"/>
              <a:t>	Unity </a:t>
            </a:r>
            <a:r>
              <a:rPr lang="en-IN" dirty="0" err="1"/>
              <a:t>Catalog</a:t>
            </a:r>
            <a:r>
              <a:rPr lang="en-IN" dirty="0"/>
              <a:t>: Centralized governance for data, models, and AI.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MLflow</a:t>
            </a:r>
            <a:r>
              <a:rPr lang="en-IN" dirty="0"/>
              <a:t>: Machine learning lifecycle platform.</a:t>
            </a:r>
          </a:p>
          <a:p>
            <a:pPr>
              <a:spcBef>
                <a:spcPts val="600"/>
              </a:spcBef>
            </a:pPr>
            <a:r>
              <a:rPr lang="en-IN" dirty="0"/>
              <a:t>	Databricks SQL: BI engine for SQL analytics.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Databricks Lakehouse Platform</a:t>
            </a:r>
          </a:p>
          <a:p>
            <a:pPr>
              <a:spcBef>
                <a:spcPts val="600"/>
              </a:spcBef>
            </a:pPr>
            <a:r>
              <a:rPr lang="en-IN" dirty="0"/>
              <a:t>	The Lakehouse combines the best of:</a:t>
            </a:r>
          </a:p>
          <a:p>
            <a:pPr>
              <a:spcBef>
                <a:spcPts val="600"/>
              </a:spcBef>
            </a:pPr>
            <a:r>
              <a:rPr lang="en-IN" dirty="0"/>
              <a:t>	Data Lakes → Scalability, low cost</a:t>
            </a:r>
          </a:p>
          <a:p>
            <a:pPr>
              <a:spcBef>
                <a:spcPts val="600"/>
              </a:spcBef>
            </a:pPr>
            <a:r>
              <a:rPr lang="en-IN" dirty="0"/>
              <a:t>	Data Warehouses → ACID transactions, governance, BI performance</a:t>
            </a:r>
          </a:p>
          <a:p>
            <a:pPr>
              <a:spcBef>
                <a:spcPts val="600"/>
              </a:spcBef>
            </a:pPr>
            <a:r>
              <a:rPr lang="en-IN" dirty="0"/>
              <a:t>Core principles:</a:t>
            </a:r>
          </a:p>
          <a:p>
            <a:pPr>
              <a:spcBef>
                <a:spcPts val="600"/>
              </a:spcBef>
            </a:pPr>
            <a:r>
              <a:rPr lang="en-IN" dirty="0"/>
              <a:t>	Open Storage Format → Delta Lake</a:t>
            </a:r>
          </a:p>
          <a:p>
            <a:pPr>
              <a:spcBef>
                <a:spcPts val="600"/>
              </a:spcBef>
            </a:pPr>
            <a:r>
              <a:rPr lang="en-IN" dirty="0"/>
              <a:t>	Governance + Security → Unity </a:t>
            </a:r>
            <a:r>
              <a:rPr lang="en-IN" dirty="0" err="1"/>
              <a:t>Catalog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High Performance → Photon Engine, optimized Spark</a:t>
            </a:r>
          </a:p>
          <a:p>
            <a:pPr>
              <a:spcBef>
                <a:spcPts val="600"/>
              </a:spcBef>
            </a:pPr>
            <a:r>
              <a:rPr lang="en-IN" dirty="0"/>
              <a:t>	Support for All Workloads → Batch, streaming, ML, BI</a:t>
            </a:r>
          </a:p>
        </p:txBody>
      </p:sp>
    </p:spTree>
    <p:extLst>
      <p:ext uri="{BB962C8B-B14F-4D97-AF65-F5344CB8AC3E}">
        <p14:creationId xmlns:p14="http://schemas.microsoft.com/office/powerpoint/2010/main" val="2205328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What is Delta Lake?</a:t>
            </a:r>
          </a:p>
          <a:p>
            <a:pPr>
              <a:spcBef>
                <a:spcPts val="600"/>
              </a:spcBef>
            </a:pPr>
            <a:r>
              <a:rPr lang="en-IN" dirty="0"/>
              <a:t>	Open-source storage layer from Databricks.</a:t>
            </a:r>
          </a:p>
          <a:p>
            <a:pPr>
              <a:spcBef>
                <a:spcPts val="600"/>
              </a:spcBef>
            </a:pPr>
            <a:r>
              <a:rPr lang="en-IN" dirty="0"/>
              <a:t>	Enables ACID transactions on data lakes.</a:t>
            </a:r>
          </a:p>
          <a:p>
            <a:pPr>
              <a:spcBef>
                <a:spcPts val="600"/>
              </a:spcBef>
            </a:pPr>
            <a:r>
              <a:rPr lang="en-IN" dirty="0"/>
              <a:t>	Solves problems such as:</a:t>
            </a:r>
          </a:p>
          <a:p>
            <a:pPr>
              <a:spcBef>
                <a:spcPts val="600"/>
              </a:spcBef>
            </a:pPr>
            <a:r>
              <a:rPr lang="en-IN" dirty="0"/>
              <a:t>	Dirty reads</a:t>
            </a:r>
          </a:p>
          <a:p>
            <a:pPr>
              <a:spcBef>
                <a:spcPts val="600"/>
              </a:spcBef>
            </a:pPr>
            <a:r>
              <a:rPr lang="en-IN" dirty="0"/>
              <a:t>	Schema inconsistencies</a:t>
            </a:r>
          </a:p>
          <a:p>
            <a:pPr>
              <a:spcBef>
                <a:spcPts val="600"/>
              </a:spcBef>
            </a:pPr>
            <a:r>
              <a:rPr lang="en-IN" dirty="0"/>
              <a:t>	Slow query performance</a:t>
            </a:r>
          </a:p>
          <a:p>
            <a:pPr>
              <a:spcBef>
                <a:spcPts val="600"/>
              </a:spcBef>
            </a:pPr>
            <a:r>
              <a:rPr lang="en-IN" dirty="0"/>
              <a:t>	Data corruption</a:t>
            </a:r>
          </a:p>
          <a:p>
            <a:endParaRPr lang="en-IN" b="1" dirty="0"/>
          </a:p>
          <a:p>
            <a:r>
              <a:rPr lang="en-IN" b="1" dirty="0"/>
              <a:t>Features</a:t>
            </a:r>
            <a:endParaRPr lang="en-IN" dirty="0"/>
          </a:p>
          <a:p>
            <a:r>
              <a:rPr lang="en-IN" dirty="0"/>
              <a:t>	Time Travel</a:t>
            </a:r>
          </a:p>
          <a:p>
            <a:r>
              <a:rPr lang="en-IN" dirty="0"/>
              <a:t>	Schema Enforcement</a:t>
            </a:r>
          </a:p>
          <a:p>
            <a:r>
              <a:rPr lang="en-IN" dirty="0"/>
              <a:t>	Schema Evolution</a:t>
            </a:r>
          </a:p>
          <a:p>
            <a:r>
              <a:rPr lang="en-IN" dirty="0"/>
              <a:t>	MERGE, UPDATE, DELETE</a:t>
            </a:r>
          </a:p>
          <a:p>
            <a:r>
              <a:rPr lang="en-IN" dirty="0"/>
              <a:t>	Auto Optimize &amp; Z-Ordering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808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Databricks Architecture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0685282-5398-DA9B-2D41-6151EF0A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8" y="875675"/>
            <a:ext cx="9753600" cy="571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940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Databricks Architecture</a:t>
            </a:r>
          </a:p>
          <a:p>
            <a:pPr>
              <a:spcBef>
                <a:spcPts val="600"/>
              </a:spcBef>
            </a:pPr>
            <a:r>
              <a:rPr lang="en-IN" b="1" dirty="0"/>
              <a:t>Layers:</a:t>
            </a:r>
          </a:p>
          <a:p>
            <a:pPr>
              <a:spcBef>
                <a:spcPts val="600"/>
              </a:spcBef>
            </a:pPr>
            <a:r>
              <a:rPr lang="en-IN" b="1" dirty="0"/>
              <a:t>	Storage Layer → Cloud Object Storage (S3, ADLS, GCS) with Delta Lake</a:t>
            </a:r>
          </a:p>
          <a:p>
            <a:pPr>
              <a:spcBef>
                <a:spcPts val="600"/>
              </a:spcBef>
            </a:pPr>
            <a:r>
              <a:rPr lang="en-IN" b="1" dirty="0"/>
              <a:t>	Compute Layer → Clusters (Spark, Photon)</a:t>
            </a:r>
          </a:p>
          <a:p>
            <a:pPr>
              <a:spcBef>
                <a:spcPts val="600"/>
              </a:spcBef>
            </a:pPr>
            <a:r>
              <a:rPr lang="en-IN" b="1" dirty="0"/>
              <a:t>	Governance Layer → Unity </a:t>
            </a:r>
            <a:r>
              <a:rPr lang="en-IN" b="1" dirty="0" err="1"/>
              <a:t>Catalog</a:t>
            </a: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	Consumption Layer → Notebooks, Databricks SQL, BI tools (</a:t>
            </a:r>
            <a:r>
              <a:rPr lang="en-IN" b="1" dirty="0" err="1"/>
              <a:t>PowerBI</a:t>
            </a:r>
            <a:r>
              <a:rPr lang="en-IN" b="1" dirty="0"/>
              <a:t>, Tableau)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Databricks Notebooks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Interactive environment for: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Data exploration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ETL pipelines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Machine learning models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Visualizations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Supports multiple languages in a single notebook.</a:t>
            </a:r>
          </a:p>
          <a:p>
            <a:pPr>
              <a:spcBef>
                <a:spcPts val="600"/>
              </a:spcBef>
            </a:pPr>
            <a:r>
              <a:rPr lang="en-IN" b="1" dirty="0"/>
              <a:t>	Version control using Repos + GitHub/Azure DevOps.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41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Databricks Architecture</a:t>
            </a:r>
          </a:p>
          <a:p>
            <a:pPr>
              <a:spcBef>
                <a:spcPts val="600"/>
              </a:spcBef>
            </a:pPr>
            <a:r>
              <a:rPr lang="en-IN" b="1" dirty="0"/>
              <a:t>Databricks Clusters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Clusters are the compute engines.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Types of clusters: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	Interactive → For development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	Job clusters → Auto-spin for ETL jobs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		All-Purpose Clusters → Multi-user</a:t>
            </a:r>
          </a:p>
          <a:p>
            <a:pPr>
              <a:spcBef>
                <a:spcPts val="600"/>
              </a:spcBef>
            </a:pPr>
            <a:r>
              <a:rPr lang="en-IN" b="1" dirty="0"/>
              <a:t>	Autoscaling supported.</a:t>
            </a:r>
          </a:p>
          <a:p>
            <a:pPr>
              <a:spcBef>
                <a:spcPts val="600"/>
              </a:spcBef>
            </a:pPr>
            <a:r>
              <a:rPr lang="en-IN" b="1" dirty="0"/>
              <a:t>	Databricks Runtime accelerates Spark performance.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972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Unity Catalog – Governance</a:t>
            </a:r>
          </a:p>
          <a:p>
            <a:pPr>
              <a:spcBef>
                <a:spcPts val="600"/>
              </a:spcBef>
            </a:pPr>
            <a:r>
              <a:rPr lang="en-US" dirty="0"/>
              <a:t>	Platform for:</a:t>
            </a:r>
          </a:p>
          <a:p>
            <a:pPr>
              <a:spcBef>
                <a:spcPts val="600"/>
              </a:spcBef>
            </a:pPr>
            <a:r>
              <a:rPr lang="en-US" dirty="0"/>
              <a:t>		Data discovery</a:t>
            </a:r>
          </a:p>
          <a:p>
            <a:pPr>
              <a:spcBef>
                <a:spcPts val="600"/>
              </a:spcBef>
            </a:pPr>
            <a:r>
              <a:rPr lang="en-US" dirty="0"/>
              <a:t>		Access control</a:t>
            </a:r>
          </a:p>
          <a:p>
            <a:pPr>
              <a:spcBef>
                <a:spcPts val="600"/>
              </a:spcBef>
            </a:pPr>
            <a:r>
              <a:rPr lang="en-US" dirty="0"/>
              <a:t>		Lineage</a:t>
            </a:r>
          </a:p>
          <a:p>
            <a:pPr>
              <a:spcBef>
                <a:spcPts val="600"/>
              </a:spcBef>
            </a:pPr>
            <a:r>
              <a:rPr lang="en-US" dirty="0"/>
              <a:t>		Security</a:t>
            </a:r>
          </a:p>
          <a:p>
            <a:pPr>
              <a:spcBef>
                <a:spcPts val="600"/>
              </a:spcBef>
            </a:pPr>
            <a:r>
              <a:rPr lang="en-US" dirty="0"/>
              <a:t>		Auditing</a:t>
            </a:r>
          </a:p>
          <a:p>
            <a:pPr>
              <a:spcBef>
                <a:spcPts val="600"/>
              </a:spcBef>
            </a:pPr>
            <a:r>
              <a:rPr lang="en-US" dirty="0"/>
              <a:t>	Provides fine-grained access down to column-level.</a:t>
            </a:r>
          </a:p>
          <a:p>
            <a:pPr>
              <a:spcBef>
                <a:spcPts val="600"/>
              </a:spcBef>
            </a:pPr>
            <a:r>
              <a:rPr lang="en-US" dirty="0"/>
              <a:t>	Governs:</a:t>
            </a:r>
          </a:p>
          <a:p>
            <a:pPr>
              <a:spcBef>
                <a:spcPts val="600"/>
              </a:spcBef>
            </a:pPr>
            <a:r>
              <a:rPr lang="en-US" dirty="0"/>
              <a:t>		Tables</a:t>
            </a:r>
          </a:p>
          <a:p>
            <a:pPr>
              <a:spcBef>
                <a:spcPts val="600"/>
              </a:spcBef>
            </a:pPr>
            <a:r>
              <a:rPr lang="en-US" dirty="0"/>
              <a:t>		Files</a:t>
            </a:r>
          </a:p>
          <a:p>
            <a:pPr>
              <a:spcBef>
                <a:spcPts val="600"/>
              </a:spcBef>
            </a:pPr>
            <a:r>
              <a:rPr lang="en-US" dirty="0"/>
              <a:t>		ML Models</a:t>
            </a:r>
          </a:p>
          <a:p>
            <a:pPr>
              <a:spcBef>
                <a:spcPts val="600"/>
              </a:spcBef>
            </a:pPr>
            <a:r>
              <a:rPr lang="en-US" dirty="0"/>
              <a:t>		Dashboards</a:t>
            </a:r>
          </a:p>
          <a:p>
            <a:pPr>
              <a:spcBef>
                <a:spcPts val="600"/>
              </a:spcBef>
            </a:pPr>
            <a:r>
              <a:rPr lang="en-US" dirty="0"/>
              <a:t>		Functions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541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Databricks for Machine Learning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MLflow</a:t>
            </a:r>
            <a:r>
              <a:rPr lang="en-IN" dirty="0"/>
              <a:t> built-in for lifecycle:</a:t>
            </a:r>
          </a:p>
          <a:p>
            <a:pPr>
              <a:spcBef>
                <a:spcPts val="600"/>
              </a:spcBef>
            </a:pPr>
            <a:r>
              <a:rPr lang="en-IN" dirty="0"/>
              <a:t>	Experiment Tracking</a:t>
            </a:r>
          </a:p>
          <a:p>
            <a:pPr>
              <a:spcBef>
                <a:spcPts val="600"/>
              </a:spcBef>
            </a:pPr>
            <a:r>
              <a:rPr lang="en-IN" dirty="0"/>
              <a:t>	Model Registry</a:t>
            </a:r>
          </a:p>
          <a:p>
            <a:pPr>
              <a:spcBef>
                <a:spcPts val="600"/>
              </a:spcBef>
            </a:pPr>
            <a:r>
              <a:rPr lang="en-IN" dirty="0"/>
              <a:t>	Deployment</a:t>
            </a:r>
          </a:p>
          <a:p>
            <a:pPr>
              <a:spcBef>
                <a:spcPts val="600"/>
              </a:spcBef>
            </a:pPr>
            <a:r>
              <a:rPr lang="en-IN" dirty="0" err="1"/>
              <a:t>AutoML</a:t>
            </a:r>
            <a:r>
              <a:rPr lang="en-IN" dirty="0"/>
              <a:t> for quick model development.</a:t>
            </a:r>
          </a:p>
          <a:p>
            <a:pPr>
              <a:spcBef>
                <a:spcPts val="600"/>
              </a:spcBef>
            </a:pPr>
            <a:r>
              <a:rPr lang="en-IN" dirty="0"/>
              <a:t>Supports distributed training frameworks:</a:t>
            </a:r>
          </a:p>
          <a:p>
            <a:pPr>
              <a:spcBef>
                <a:spcPts val="600"/>
              </a:spcBef>
            </a:pPr>
            <a:r>
              <a:rPr lang="en-IN" dirty="0"/>
              <a:t>	TensorFlow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PyTorch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Scikit-learn</a:t>
            </a:r>
          </a:p>
          <a:p>
            <a:pPr>
              <a:spcBef>
                <a:spcPts val="600"/>
              </a:spcBef>
            </a:pPr>
            <a:r>
              <a:rPr lang="en-IN" dirty="0"/>
              <a:t>Feature Store for feature versioning and reuse.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933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Databricks SQL</a:t>
            </a:r>
          </a:p>
          <a:p>
            <a:pPr>
              <a:spcBef>
                <a:spcPts val="600"/>
              </a:spcBef>
            </a:pPr>
            <a:r>
              <a:rPr lang="en-IN" dirty="0"/>
              <a:t>	High-performance SQL warehousing layer.</a:t>
            </a:r>
          </a:p>
          <a:p>
            <a:pPr>
              <a:spcBef>
                <a:spcPts val="600"/>
              </a:spcBef>
            </a:pPr>
            <a:r>
              <a:rPr lang="en-IN" dirty="0"/>
              <a:t>	Photon query engine → extremely fast.</a:t>
            </a:r>
          </a:p>
          <a:p>
            <a:pPr>
              <a:spcBef>
                <a:spcPts val="600"/>
              </a:spcBef>
            </a:pPr>
            <a:r>
              <a:rPr lang="en-IN" dirty="0"/>
              <a:t>	Enables dashboards and BI workloads.</a:t>
            </a:r>
          </a:p>
          <a:p>
            <a:pPr>
              <a:spcBef>
                <a:spcPts val="600"/>
              </a:spcBef>
            </a:pPr>
            <a:r>
              <a:rPr lang="en-IN" dirty="0"/>
              <a:t>	Integrates with:</a:t>
            </a:r>
          </a:p>
          <a:p>
            <a:pPr>
              <a:spcBef>
                <a:spcPts val="600"/>
              </a:spcBef>
            </a:pPr>
            <a:r>
              <a:rPr lang="en-IN" dirty="0"/>
              <a:t>		Power BI</a:t>
            </a:r>
          </a:p>
          <a:p>
            <a:pPr>
              <a:spcBef>
                <a:spcPts val="600"/>
              </a:spcBef>
            </a:pPr>
            <a:r>
              <a:rPr lang="en-IN" dirty="0"/>
              <a:t>		Tableau</a:t>
            </a:r>
          </a:p>
          <a:p>
            <a:pPr>
              <a:spcBef>
                <a:spcPts val="600"/>
              </a:spcBef>
            </a:pPr>
            <a:r>
              <a:rPr lang="en-IN" dirty="0"/>
              <a:t>		Looker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625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Use Cases</a:t>
            </a:r>
          </a:p>
          <a:p>
            <a:pPr>
              <a:spcBef>
                <a:spcPts val="600"/>
              </a:spcBef>
            </a:pPr>
            <a:r>
              <a:rPr lang="en-IN" dirty="0"/>
              <a:t>	ETL / ELT Pipelines</a:t>
            </a:r>
          </a:p>
          <a:p>
            <a:pPr>
              <a:spcBef>
                <a:spcPts val="600"/>
              </a:spcBef>
            </a:pPr>
            <a:r>
              <a:rPr lang="en-IN" dirty="0"/>
              <a:t>		Ingesting raw data (batch or streaming)</a:t>
            </a:r>
          </a:p>
          <a:p>
            <a:pPr>
              <a:spcBef>
                <a:spcPts val="600"/>
              </a:spcBef>
            </a:pPr>
            <a:r>
              <a:rPr lang="en-IN" dirty="0"/>
              <a:t>		Transformation using Spark</a:t>
            </a:r>
          </a:p>
          <a:p>
            <a:pPr>
              <a:spcBef>
                <a:spcPts val="600"/>
              </a:spcBef>
            </a:pPr>
            <a:r>
              <a:rPr lang="en-IN" dirty="0"/>
              <a:t>		Storing in Delta Lake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	Real-Time Analytics</a:t>
            </a:r>
          </a:p>
          <a:p>
            <a:pPr>
              <a:spcBef>
                <a:spcPts val="600"/>
              </a:spcBef>
            </a:pPr>
            <a:r>
              <a:rPr lang="en-IN" dirty="0"/>
              <a:t>		Structured Streaming</a:t>
            </a:r>
          </a:p>
          <a:p>
            <a:pPr>
              <a:spcBef>
                <a:spcPts val="600"/>
              </a:spcBef>
            </a:pPr>
            <a:r>
              <a:rPr lang="en-IN" dirty="0"/>
              <a:t>		IoT data pipelines</a:t>
            </a:r>
          </a:p>
          <a:p>
            <a:pPr>
              <a:spcBef>
                <a:spcPts val="600"/>
              </a:spcBef>
            </a:pPr>
            <a:r>
              <a:rPr lang="en-IN" dirty="0"/>
              <a:t>	Data Science &amp; ML</a:t>
            </a:r>
          </a:p>
          <a:p>
            <a:pPr>
              <a:spcBef>
                <a:spcPts val="600"/>
              </a:spcBef>
            </a:pPr>
            <a:r>
              <a:rPr lang="en-IN" dirty="0"/>
              <a:t>		Feature engineering</a:t>
            </a:r>
          </a:p>
          <a:p>
            <a:pPr>
              <a:spcBef>
                <a:spcPts val="600"/>
              </a:spcBef>
            </a:pPr>
            <a:r>
              <a:rPr lang="en-IN" dirty="0"/>
              <a:t>		Training models at scale</a:t>
            </a:r>
          </a:p>
          <a:p>
            <a:pPr>
              <a:spcBef>
                <a:spcPts val="600"/>
              </a:spcBef>
            </a:pPr>
            <a:r>
              <a:rPr lang="en-IN" dirty="0"/>
              <a:t>	BI and Reporting</a:t>
            </a:r>
          </a:p>
          <a:p>
            <a:pPr>
              <a:spcBef>
                <a:spcPts val="600"/>
              </a:spcBef>
            </a:pPr>
            <a:r>
              <a:rPr lang="en-IN" dirty="0"/>
              <a:t>		Dashboards</a:t>
            </a:r>
          </a:p>
          <a:p>
            <a:pPr>
              <a:spcBef>
                <a:spcPts val="600"/>
              </a:spcBef>
            </a:pPr>
            <a:r>
              <a:rPr lang="en-IN" dirty="0"/>
              <a:t>		SQL data warehouse workloads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317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Industry Examples</a:t>
            </a:r>
          </a:p>
          <a:p>
            <a:pPr>
              <a:spcBef>
                <a:spcPts val="600"/>
              </a:spcBef>
            </a:pPr>
            <a:r>
              <a:rPr lang="en-US" dirty="0"/>
              <a:t>	Retail: Recommendation engines</a:t>
            </a:r>
          </a:p>
          <a:p>
            <a:pPr>
              <a:spcBef>
                <a:spcPts val="600"/>
              </a:spcBef>
            </a:pPr>
            <a:r>
              <a:rPr lang="en-US" dirty="0"/>
              <a:t>	Banking: Fraud detection</a:t>
            </a:r>
          </a:p>
          <a:p>
            <a:pPr>
              <a:spcBef>
                <a:spcPts val="600"/>
              </a:spcBef>
            </a:pPr>
            <a:r>
              <a:rPr lang="en-US" dirty="0"/>
              <a:t>	Healthcare: Predictive analytics</a:t>
            </a:r>
          </a:p>
          <a:p>
            <a:pPr>
              <a:spcBef>
                <a:spcPts val="600"/>
              </a:spcBef>
            </a:pPr>
            <a:r>
              <a:rPr lang="en-US" dirty="0"/>
              <a:t>	Manufacturing: IoT device monitoring</a:t>
            </a:r>
          </a:p>
          <a:p>
            <a:pPr>
              <a:spcBef>
                <a:spcPts val="600"/>
              </a:spcBef>
            </a:pPr>
            <a:r>
              <a:rPr lang="en-US" dirty="0"/>
              <a:t>	Government: Compliance reporting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791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67572"/>
            <a:ext cx="10679503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Databricks Advantages</a:t>
            </a:r>
          </a:p>
          <a:p>
            <a:pPr>
              <a:spcBef>
                <a:spcPts val="600"/>
              </a:spcBef>
            </a:pPr>
            <a:r>
              <a:rPr lang="en-IN" dirty="0"/>
              <a:t>	Unified platform → No siloed systems</a:t>
            </a:r>
          </a:p>
          <a:p>
            <a:pPr>
              <a:spcBef>
                <a:spcPts val="600"/>
              </a:spcBef>
            </a:pPr>
            <a:r>
              <a:rPr lang="en-IN" dirty="0"/>
              <a:t>	Faster performance with Photon Engine</a:t>
            </a:r>
          </a:p>
          <a:p>
            <a:pPr>
              <a:spcBef>
                <a:spcPts val="600"/>
              </a:spcBef>
            </a:pPr>
            <a:r>
              <a:rPr lang="en-IN" dirty="0"/>
              <a:t>	Open and enterprise-ready (Delta Lake, </a:t>
            </a:r>
            <a:r>
              <a:rPr lang="en-IN" dirty="0" err="1"/>
              <a:t>MLflow</a:t>
            </a:r>
            <a:r>
              <a:rPr lang="en-IN" dirty="0"/>
              <a:t>)</a:t>
            </a:r>
          </a:p>
          <a:p>
            <a:pPr>
              <a:spcBef>
                <a:spcPts val="600"/>
              </a:spcBef>
            </a:pPr>
            <a:r>
              <a:rPr lang="en-IN" dirty="0"/>
              <a:t>	Best-in-class governance (Unity </a:t>
            </a:r>
            <a:r>
              <a:rPr lang="en-IN" dirty="0" err="1"/>
              <a:t>Catalog</a:t>
            </a:r>
            <a:r>
              <a:rPr lang="en-IN" dirty="0"/>
              <a:t>)</a:t>
            </a:r>
          </a:p>
          <a:p>
            <a:pPr>
              <a:spcBef>
                <a:spcPts val="600"/>
              </a:spcBef>
            </a:pPr>
            <a:r>
              <a:rPr lang="en-IN" dirty="0"/>
              <a:t>	Cost-efficient &amp; elastic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Databricks vs Traditional Systems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1A422D-4908-4223-EA0B-7DD7A4DB0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424969"/>
              </p:ext>
            </p:extLst>
          </p:nvPr>
        </p:nvGraphicFramePr>
        <p:xfrm>
          <a:off x="630936" y="3344577"/>
          <a:ext cx="10131424" cy="2834640"/>
        </p:xfrm>
        <a:graphic>
          <a:graphicData uri="http://schemas.openxmlformats.org/drawingml/2006/table">
            <a:tbl>
              <a:tblPr/>
              <a:tblGrid>
                <a:gridCol w="2532856">
                  <a:extLst>
                    <a:ext uri="{9D8B030D-6E8A-4147-A177-3AD203B41FA5}">
                      <a16:colId xmlns:a16="http://schemas.microsoft.com/office/drawing/2014/main" val="411335668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1335499456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3731738341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40584294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Databricks 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48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Handles structured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79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Handles unstructured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331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Supports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595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Supports 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81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ACID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784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Cost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+ 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134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426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76716"/>
            <a:ext cx="10679503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Databricks architecture is split into two logical layers: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Control Plane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Managed completely by Databricks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Stores </a:t>
            </a:r>
            <a:r>
              <a:rPr lang="en-US" b="1" dirty="0"/>
              <a:t>meta-information</a:t>
            </a:r>
            <a:r>
              <a:rPr lang="en-US" dirty="0"/>
              <a:t>, </a:t>
            </a:r>
            <a:r>
              <a:rPr lang="en-US" b="1" dirty="0"/>
              <a:t>notebooks</a:t>
            </a:r>
            <a:r>
              <a:rPr lang="en-US" dirty="0"/>
              <a:t>, </a:t>
            </a:r>
            <a:r>
              <a:rPr lang="en-US" b="1" dirty="0"/>
              <a:t>job configurations</a:t>
            </a:r>
            <a:r>
              <a:rPr lang="en-US" dirty="0"/>
              <a:t>, etc.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Data Plane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Runs in your cloud account (AWS / Azure / GCP)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Your actual data stays here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All compute happens here (clusters, SQL warehouses)</a:t>
            </a:r>
          </a:p>
          <a:p>
            <a:r>
              <a:rPr lang="en-US" dirty="0"/>
              <a:t>This separation ensures </a:t>
            </a:r>
            <a:r>
              <a:rPr lang="en-US" b="1" dirty="0"/>
              <a:t>security</a:t>
            </a:r>
            <a:r>
              <a:rPr lang="en-US" dirty="0"/>
              <a:t>, </a:t>
            </a:r>
            <a:r>
              <a:rPr lang="en-US" b="1" dirty="0"/>
              <a:t>privacy</a:t>
            </a:r>
            <a:r>
              <a:rPr lang="en-US" dirty="0"/>
              <a:t>, and </a:t>
            </a:r>
            <a:r>
              <a:rPr lang="en-US" b="1" dirty="0"/>
              <a:t>enterprise control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pic>
        <p:nvPicPr>
          <p:cNvPr id="15362" name="Picture 2" descr="High-level architecture | Databricks on AWS">
            <a:extLst>
              <a:ext uri="{FF2B5EF4-FFF2-40B4-BE49-F238E27FC236}">
                <a16:creationId xmlns:a16="http://schemas.microsoft.com/office/drawing/2014/main" id="{FF6BD9F6-9717-FE3C-363D-CA1A17F6B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17" y="3429000"/>
            <a:ext cx="8562975" cy="312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884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76716"/>
            <a:ext cx="10679503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Why Split Architecture?</a:t>
            </a:r>
          </a:p>
          <a:p>
            <a:pPr>
              <a:spcBef>
                <a:spcPts val="600"/>
              </a:spcBef>
            </a:pPr>
            <a:r>
              <a:rPr lang="en-US" b="1" dirty="0"/>
              <a:t>Benefits: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Security:</a:t>
            </a:r>
            <a:r>
              <a:rPr lang="en-US" dirty="0"/>
              <a:t> Databricks never stores or accesses your business data.</a:t>
            </a:r>
          </a:p>
          <a:p>
            <a:pPr>
              <a:spcBef>
                <a:spcPts val="600"/>
              </a:spcBef>
            </a:pPr>
            <a:r>
              <a:rPr lang="en-US" b="1" dirty="0"/>
              <a:t>	Scalability:</a:t>
            </a:r>
            <a:r>
              <a:rPr lang="en-US" dirty="0"/>
              <a:t> Compute autoscaling happens independently.</a:t>
            </a:r>
          </a:p>
          <a:p>
            <a:pPr>
              <a:spcBef>
                <a:spcPts val="600"/>
              </a:spcBef>
            </a:pPr>
            <a:r>
              <a:rPr lang="en-US" b="1" dirty="0"/>
              <a:t>	Governance:</a:t>
            </a:r>
            <a:r>
              <a:rPr lang="en-US" dirty="0"/>
              <a:t> Central identity &amp; access control through Control Plane.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	Flexibility:</a:t>
            </a:r>
            <a:r>
              <a:rPr lang="en-US" dirty="0"/>
              <a:t> You choose storage, networking, encryption in Data Plane.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What is the Control Plane?</a:t>
            </a:r>
          </a:p>
          <a:p>
            <a:pPr>
              <a:spcBef>
                <a:spcPts val="600"/>
              </a:spcBef>
            </a:pPr>
            <a:r>
              <a:rPr lang="en-US" dirty="0"/>
              <a:t>The Databricks </a:t>
            </a:r>
            <a:r>
              <a:rPr lang="en-US" b="1" dirty="0"/>
              <a:t>Control Plane</a:t>
            </a:r>
            <a:r>
              <a:rPr lang="en-US" dirty="0"/>
              <a:t> is the fully managed SaaS layer responsible for:</a:t>
            </a:r>
          </a:p>
          <a:p>
            <a:pPr>
              <a:spcBef>
                <a:spcPts val="600"/>
              </a:spcBef>
            </a:pPr>
            <a:r>
              <a:rPr lang="en-US" dirty="0"/>
              <a:t>	User authentication</a:t>
            </a:r>
          </a:p>
          <a:p>
            <a:pPr>
              <a:spcBef>
                <a:spcPts val="600"/>
              </a:spcBef>
            </a:pPr>
            <a:r>
              <a:rPr lang="en-US" dirty="0"/>
              <a:t>	Workspace UI &amp; notebooks</a:t>
            </a:r>
          </a:p>
          <a:p>
            <a:pPr>
              <a:spcBef>
                <a:spcPts val="600"/>
              </a:spcBef>
            </a:pPr>
            <a:r>
              <a:rPr lang="en-US" dirty="0"/>
              <a:t>	Cluster configuration</a:t>
            </a:r>
          </a:p>
          <a:p>
            <a:pPr>
              <a:spcBef>
                <a:spcPts val="600"/>
              </a:spcBef>
            </a:pPr>
            <a:r>
              <a:rPr lang="en-US" dirty="0"/>
              <a:t>	Job scheduling</a:t>
            </a:r>
          </a:p>
          <a:p>
            <a:pPr>
              <a:spcBef>
                <a:spcPts val="600"/>
              </a:spcBef>
            </a:pPr>
            <a:r>
              <a:rPr lang="en-US" dirty="0"/>
              <a:t>	SQL endpoints &amp; dashboard metadata</a:t>
            </a:r>
          </a:p>
          <a:p>
            <a:pPr>
              <a:spcBef>
                <a:spcPts val="600"/>
              </a:spcBef>
            </a:pPr>
            <a:r>
              <a:rPr lang="en-US" dirty="0"/>
              <a:t>	Model registry (</a:t>
            </a:r>
            <a:r>
              <a:rPr lang="en-US" dirty="0" err="1"/>
              <a:t>MLflow</a:t>
            </a:r>
            <a:r>
              <a:rPr lang="en-US" dirty="0"/>
              <a:t> metadata)</a:t>
            </a:r>
          </a:p>
          <a:p>
            <a:pPr>
              <a:spcBef>
                <a:spcPts val="600"/>
              </a:spcBef>
            </a:pPr>
            <a:r>
              <a:rPr lang="en-US" dirty="0"/>
              <a:t>	Notebooks storage (encrypted)</a:t>
            </a:r>
          </a:p>
          <a:p>
            <a:pPr>
              <a:spcBef>
                <a:spcPts val="600"/>
              </a:spcBef>
            </a:pPr>
            <a:r>
              <a:rPr lang="en-US" dirty="0"/>
              <a:t>It </a:t>
            </a:r>
            <a:r>
              <a:rPr lang="en-US" b="1" dirty="0"/>
              <a:t>does not process your data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838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76716"/>
            <a:ext cx="1067950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Control Plane Responsibilities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Cluster Manager:</a:t>
            </a:r>
            <a:r>
              <a:rPr lang="en-IN" dirty="0"/>
              <a:t> Creates, starts, stops compute clusters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Notebook Management:</a:t>
            </a:r>
            <a:r>
              <a:rPr lang="en-IN" dirty="0"/>
              <a:t> Stores notebook code and revisions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Job Orchestration:</a:t>
            </a:r>
            <a:r>
              <a:rPr lang="en-IN" dirty="0"/>
              <a:t> Workflow scheduler for ETL/ML jobs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REST APIs &amp; UI:</a:t>
            </a:r>
            <a:r>
              <a:rPr lang="en-IN" dirty="0"/>
              <a:t> All UI interactions go through the control plane</a:t>
            </a:r>
          </a:p>
          <a:p>
            <a:pPr>
              <a:spcBef>
                <a:spcPts val="600"/>
              </a:spcBef>
            </a:pPr>
            <a:r>
              <a:rPr lang="en-IN" b="1" dirty="0"/>
              <a:t>	Unity </a:t>
            </a:r>
            <a:r>
              <a:rPr lang="en-IN" b="1" dirty="0" err="1"/>
              <a:t>Catalog</a:t>
            </a:r>
            <a:r>
              <a:rPr lang="en-IN" b="1" dirty="0"/>
              <a:t> Governance:</a:t>
            </a:r>
            <a:r>
              <a:rPr lang="en-IN" dirty="0"/>
              <a:t> Central location for permissions &amp; lineage</a:t>
            </a:r>
          </a:p>
          <a:p>
            <a:pPr>
              <a:spcBef>
                <a:spcPts val="600"/>
              </a:spcBef>
            </a:pPr>
            <a:r>
              <a:rPr lang="en-IN" b="1" dirty="0"/>
              <a:t>	Secrets Management:</a:t>
            </a:r>
            <a:r>
              <a:rPr lang="en-IN" dirty="0"/>
              <a:t> Secure storage of tokens, passwords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What the Control Plane Contains</a:t>
            </a:r>
            <a:endParaRPr lang="en-IN" b="1" dirty="0"/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AB771B-C149-96C8-E6B5-54346B968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375510"/>
              </p:ext>
            </p:extLst>
          </p:nvPr>
        </p:nvGraphicFramePr>
        <p:xfrm>
          <a:off x="521552" y="3429000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8516833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85143534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Stored in Control Plane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0789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Notebooks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413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Job definitions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9637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Metadata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9673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SQL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0764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039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Cluster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067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52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76716"/>
            <a:ext cx="10679503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What is the Data Plane?</a:t>
            </a:r>
          </a:p>
          <a:p>
            <a:pPr>
              <a:spcBef>
                <a:spcPts val="600"/>
              </a:spcBef>
            </a:pPr>
            <a:r>
              <a:rPr lang="en-US" dirty="0"/>
              <a:t>	The Data Plane refers to the environment inside your own cloud account where:</a:t>
            </a:r>
          </a:p>
          <a:p>
            <a:pPr>
              <a:spcBef>
                <a:spcPts val="600"/>
              </a:spcBef>
            </a:pPr>
            <a:r>
              <a:rPr lang="en-US" dirty="0"/>
              <a:t>	Compute clusters run</a:t>
            </a:r>
          </a:p>
          <a:p>
            <a:pPr>
              <a:spcBef>
                <a:spcPts val="600"/>
              </a:spcBef>
            </a:pPr>
            <a:r>
              <a:rPr lang="en-US" dirty="0"/>
              <a:t>	SQL warehouses run</a:t>
            </a:r>
          </a:p>
          <a:p>
            <a:pPr>
              <a:spcBef>
                <a:spcPts val="600"/>
              </a:spcBef>
            </a:pPr>
            <a:r>
              <a:rPr lang="en-US" dirty="0"/>
              <a:t>	Your actual data lives (ADLS / S3 / GCS)</a:t>
            </a:r>
          </a:p>
          <a:p>
            <a:pPr>
              <a:spcBef>
                <a:spcPts val="600"/>
              </a:spcBef>
            </a:pPr>
            <a:r>
              <a:rPr lang="en-US" dirty="0"/>
              <a:t>	Delta Lake tables are stored</a:t>
            </a:r>
          </a:p>
          <a:p>
            <a:pPr>
              <a:spcBef>
                <a:spcPts val="600"/>
              </a:spcBef>
            </a:pPr>
            <a:r>
              <a:rPr lang="en-US" dirty="0"/>
              <a:t>	ETL processing happens</a:t>
            </a:r>
          </a:p>
          <a:p>
            <a:pPr>
              <a:spcBef>
                <a:spcPts val="600"/>
              </a:spcBef>
            </a:pPr>
            <a:r>
              <a:rPr lang="en-US" dirty="0"/>
              <a:t>This ensures your data never leaves your cloud boundary.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Data Plane Responsibilities</a:t>
            </a:r>
          </a:p>
          <a:p>
            <a:pPr>
              <a:spcBef>
                <a:spcPts val="600"/>
              </a:spcBef>
            </a:pPr>
            <a:r>
              <a:rPr lang="en-US" dirty="0"/>
              <a:t>	Running Spark compute clusters</a:t>
            </a:r>
          </a:p>
          <a:p>
            <a:pPr>
              <a:spcBef>
                <a:spcPts val="600"/>
              </a:spcBef>
            </a:pPr>
            <a:r>
              <a:rPr lang="en-US" dirty="0"/>
              <a:t>	Processing ETL / batch / streaming workloads</a:t>
            </a:r>
          </a:p>
          <a:p>
            <a:pPr>
              <a:spcBef>
                <a:spcPts val="600"/>
              </a:spcBef>
            </a:pPr>
            <a:r>
              <a:rPr lang="en-US" dirty="0"/>
              <a:t>	Storing and reading data from:</a:t>
            </a:r>
          </a:p>
          <a:p>
            <a:pPr>
              <a:spcBef>
                <a:spcPts val="600"/>
              </a:spcBef>
            </a:pPr>
            <a:r>
              <a:rPr lang="en-US" dirty="0"/>
              <a:t>	Data Lakes (Delta Lake)</a:t>
            </a:r>
          </a:p>
          <a:p>
            <a:pPr>
              <a:spcBef>
                <a:spcPts val="600"/>
              </a:spcBef>
            </a:pPr>
            <a:r>
              <a:rPr lang="en-US" dirty="0"/>
              <a:t>	Parquet / CSV / JSON</a:t>
            </a:r>
          </a:p>
          <a:p>
            <a:pPr>
              <a:spcBef>
                <a:spcPts val="600"/>
              </a:spcBef>
            </a:pPr>
            <a:r>
              <a:rPr lang="en-US" dirty="0"/>
              <a:t>	External Databases</a:t>
            </a:r>
          </a:p>
          <a:p>
            <a:pPr>
              <a:spcBef>
                <a:spcPts val="600"/>
              </a:spcBef>
            </a:pPr>
            <a:r>
              <a:rPr lang="en-US" dirty="0"/>
              <a:t>	ML training using distributed compute</a:t>
            </a:r>
          </a:p>
          <a:p>
            <a:pPr>
              <a:spcBef>
                <a:spcPts val="600"/>
              </a:spcBef>
            </a:pPr>
            <a:r>
              <a:rPr lang="en-US" dirty="0"/>
              <a:t>	Execution of Databricks SQL queries</a:t>
            </a:r>
          </a:p>
        </p:txBody>
      </p:sp>
    </p:spTree>
    <p:extLst>
      <p:ext uri="{BB962C8B-B14F-4D97-AF65-F5344CB8AC3E}">
        <p14:creationId xmlns:p14="http://schemas.microsoft.com/office/powerpoint/2010/main" val="1551766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76716"/>
            <a:ext cx="10679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What the Data Plane Contains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E76C4E-10B9-9B06-D8B7-AC5A5A6B7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591328"/>
              </p:ext>
            </p:extLst>
          </p:nvPr>
        </p:nvGraphicFramePr>
        <p:xfrm>
          <a:off x="612992" y="731520"/>
          <a:ext cx="10131424" cy="292608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260138298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12690798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Stored/Executed in Data Plane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882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Business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931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Delta Lake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8871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Clusters (Spark/Photon)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4487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SQL Warehouse compute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348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Unity Catalog–governed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✔️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5735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Notebooks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6554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95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3FD377-933D-2040-7FCD-AEA16F8B2921}"/>
              </a:ext>
            </a:extLst>
          </p:cNvPr>
          <p:cNvSpPr txBox="1"/>
          <p:nvPr/>
        </p:nvSpPr>
        <p:spPr>
          <a:xfrm>
            <a:off x="612992" y="3847838"/>
            <a:ext cx="79823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COMMUNICATION BETWEEN PLANES</a:t>
            </a:r>
          </a:p>
          <a:p>
            <a:endParaRPr lang="en-IN" dirty="0"/>
          </a:p>
          <a:p>
            <a:r>
              <a:rPr lang="en-IN" dirty="0"/>
              <a:t>	</a:t>
            </a:r>
            <a:r>
              <a:rPr lang="en-US" dirty="0"/>
              <a:t>Control Plane sends → “Run this notebook code”</a:t>
            </a:r>
          </a:p>
          <a:p>
            <a:r>
              <a:rPr lang="en-US" dirty="0"/>
              <a:t>	Data Plane executes → Spark/SQL engine</a:t>
            </a:r>
          </a:p>
          <a:p>
            <a:r>
              <a:rPr lang="en-US" dirty="0"/>
              <a:t>	Results (not the full data) return to the Control Plane for display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938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76716"/>
            <a:ext cx="10679503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What is DBFS?</a:t>
            </a:r>
          </a:p>
          <a:p>
            <a:pPr>
              <a:spcBef>
                <a:spcPts val="600"/>
              </a:spcBef>
            </a:pPr>
            <a:r>
              <a:rPr lang="en-US" dirty="0"/>
              <a:t>	DBFS = Databricks File System</a:t>
            </a:r>
          </a:p>
          <a:p>
            <a:pPr>
              <a:spcBef>
                <a:spcPts val="600"/>
              </a:spcBef>
            </a:pPr>
            <a:r>
              <a:rPr lang="en-US" dirty="0"/>
              <a:t>	A virtual, distributed filesystem built on top of cloud storage:</a:t>
            </a:r>
          </a:p>
          <a:p>
            <a:pPr>
              <a:spcBef>
                <a:spcPts val="600"/>
              </a:spcBef>
            </a:pPr>
            <a:r>
              <a:rPr lang="en-US" dirty="0"/>
              <a:t>		Azure → ADLS Gen2</a:t>
            </a:r>
          </a:p>
          <a:p>
            <a:pPr>
              <a:spcBef>
                <a:spcPts val="600"/>
              </a:spcBef>
            </a:pPr>
            <a:r>
              <a:rPr lang="en-US" dirty="0"/>
              <a:t>		AWS → S3</a:t>
            </a:r>
          </a:p>
          <a:p>
            <a:pPr>
              <a:spcBef>
                <a:spcPts val="600"/>
              </a:spcBef>
            </a:pPr>
            <a:r>
              <a:rPr lang="en-US" dirty="0"/>
              <a:t>		GCP → GCS</a:t>
            </a:r>
          </a:p>
          <a:p>
            <a:pPr>
              <a:spcBef>
                <a:spcPts val="600"/>
              </a:spcBef>
            </a:pPr>
            <a:r>
              <a:rPr lang="en-US" dirty="0"/>
              <a:t>	Provides a POSIX-like interface to cloud data:</a:t>
            </a:r>
          </a:p>
          <a:p>
            <a:pPr>
              <a:spcBef>
                <a:spcPts val="600"/>
              </a:spcBef>
            </a:pPr>
            <a:r>
              <a:rPr lang="en-US" dirty="0"/>
              <a:t>		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mnt</a:t>
            </a:r>
            <a:r>
              <a:rPr lang="en-US" dirty="0"/>
              <a:t>/data/file.csv</a:t>
            </a:r>
          </a:p>
          <a:p>
            <a:pPr>
              <a:spcBef>
                <a:spcPts val="600"/>
              </a:spcBef>
            </a:pPr>
            <a:r>
              <a:rPr lang="en-US" dirty="0"/>
              <a:t>		/</a:t>
            </a:r>
            <a:r>
              <a:rPr lang="en-US" dirty="0" err="1"/>
              <a:t>dbfs</a:t>
            </a:r>
            <a:r>
              <a:rPr lang="en-US" dirty="0"/>
              <a:t>/</a:t>
            </a:r>
            <a:r>
              <a:rPr lang="en-US" dirty="0" err="1"/>
              <a:t>mnt</a:t>
            </a:r>
            <a:r>
              <a:rPr lang="en-US" dirty="0"/>
              <a:t>/data/file.csv</a:t>
            </a:r>
          </a:p>
          <a:p>
            <a:pPr>
              <a:spcBef>
                <a:spcPts val="600"/>
              </a:spcBef>
            </a:pPr>
            <a:r>
              <a:rPr lang="en-US" dirty="0"/>
              <a:t>Why DBFS Is Important</a:t>
            </a:r>
          </a:p>
          <a:p>
            <a:pPr>
              <a:spcBef>
                <a:spcPts val="600"/>
              </a:spcBef>
            </a:pPr>
            <a:r>
              <a:rPr lang="en-US" dirty="0"/>
              <a:t>	Simplifies reading and writing files from Databricks notebooks</a:t>
            </a:r>
          </a:p>
          <a:p>
            <a:pPr>
              <a:spcBef>
                <a:spcPts val="600"/>
              </a:spcBef>
            </a:pPr>
            <a:r>
              <a:rPr lang="en-US" dirty="0"/>
              <a:t>	Works seamlessly with Spark APIs (CSV, Parquet, Delta)</a:t>
            </a:r>
          </a:p>
          <a:p>
            <a:pPr>
              <a:spcBef>
                <a:spcPts val="600"/>
              </a:spcBef>
            </a:pPr>
            <a:r>
              <a:rPr lang="en-US" dirty="0"/>
              <a:t>	Allows mounting external cloud storage to easier paths</a:t>
            </a:r>
          </a:p>
          <a:p>
            <a:pPr>
              <a:spcBef>
                <a:spcPts val="600"/>
              </a:spcBef>
            </a:pPr>
            <a:r>
              <a:rPr lang="en-US" dirty="0"/>
              <a:t>Enables:</a:t>
            </a:r>
          </a:p>
          <a:p>
            <a:pPr>
              <a:spcBef>
                <a:spcPts val="600"/>
              </a:spcBef>
            </a:pPr>
            <a:r>
              <a:rPr lang="en-US" dirty="0"/>
              <a:t>	ETL processing</a:t>
            </a:r>
          </a:p>
          <a:p>
            <a:pPr>
              <a:spcBef>
                <a:spcPts val="600"/>
              </a:spcBef>
            </a:pPr>
            <a:r>
              <a:rPr lang="en-US" dirty="0"/>
              <a:t>	Machine Learning workflows</a:t>
            </a:r>
          </a:p>
          <a:p>
            <a:pPr>
              <a:spcBef>
                <a:spcPts val="600"/>
              </a:spcBef>
            </a:pPr>
            <a:r>
              <a:rPr lang="en-US" dirty="0"/>
              <a:t>	Storage for temp files &amp; artifacts</a:t>
            </a:r>
          </a:p>
          <a:p>
            <a:pPr>
              <a:spcBef>
                <a:spcPts val="600"/>
              </a:spcBef>
            </a:pPr>
            <a:r>
              <a:rPr lang="en-US" dirty="0"/>
              <a:t>	Notebook datasets and shared files</a:t>
            </a:r>
          </a:p>
        </p:txBody>
      </p:sp>
    </p:spTree>
    <p:extLst>
      <p:ext uri="{BB962C8B-B14F-4D97-AF65-F5344CB8AC3E}">
        <p14:creationId xmlns:p14="http://schemas.microsoft.com/office/powerpoint/2010/main" val="36558638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21552" y="276716"/>
            <a:ext cx="10679503" cy="592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Components:</a:t>
            </a:r>
          </a:p>
          <a:p>
            <a:pPr>
              <a:spcBef>
                <a:spcPts val="600"/>
              </a:spcBef>
            </a:pPr>
            <a:r>
              <a:rPr lang="en-US" dirty="0"/>
              <a:t>	DBFS Root → Managed by Databricks (temporary storage)</a:t>
            </a:r>
          </a:p>
          <a:p>
            <a:pPr>
              <a:spcBef>
                <a:spcPts val="600"/>
              </a:spcBef>
            </a:pPr>
            <a:r>
              <a:rPr lang="en-US" dirty="0"/>
              <a:t>	</a:t>
            </a:r>
            <a:r>
              <a:rPr lang="en-US" dirty="0" err="1"/>
              <a:t>FileStore</a:t>
            </a:r>
            <a:r>
              <a:rPr lang="en-US" dirty="0"/>
              <a:t> → UI uploads, images, dataset sharing</a:t>
            </a:r>
          </a:p>
          <a:p>
            <a:pPr>
              <a:spcBef>
                <a:spcPts val="600"/>
              </a:spcBef>
            </a:pPr>
            <a:r>
              <a:rPr lang="en-US" dirty="0"/>
              <a:t>	Mount Points → Mapped cloud storage (S3/ADLS/GCS)</a:t>
            </a:r>
          </a:p>
          <a:p>
            <a:pPr>
              <a:spcBef>
                <a:spcPts val="600"/>
              </a:spcBef>
            </a:pPr>
            <a:r>
              <a:rPr lang="en-US" dirty="0"/>
              <a:t>	Local driver path → /</a:t>
            </a:r>
            <a:r>
              <a:rPr lang="en-US" dirty="0" err="1"/>
              <a:t>dbfs</a:t>
            </a:r>
            <a:r>
              <a:rPr lang="en-US" dirty="0"/>
              <a:t>/... for local file access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r>
              <a:rPr lang="en-US" b="1" dirty="0"/>
              <a:t>DBFS Mount Points</a:t>
            </a:r>
          </a:p>
          <a:p>
            <a:r>
              <a:rPr lang="en-US" dirty="0"/>
              <a:t>	Mount external storage for easy access:</a:t>
            </a:r>
          </a:p>
          <a:p>
            <a:pPr>
              <a:spcBef>
                <a:spcPts val="600"/>
              </a:spcBef>
            </a:pPr>
            <a:r>
              <a:rPr lang="en-US" dirty="0"/>
              <a:t>Example	</a:t>
            </a:r>
          </a:p>
          <a:p>
            <a:pPr>
              <a:spcBef>
                <a:spcPts val="600"/>
              </a:spcBef>
            </a:pPr>
            <a:r>
              <a:rPr lang="en-US" dirty="0"/>
              <a:t>	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mnt</a:t>
            </a:r>
            <a:r>
              <a:rPr lang="en-US" dirty="0"/>
              <a:t>/raw-data</a:t>
            </a:r>
          </a:p>
          <a:p>
            <a:pPr>
              <a:spcBef>
                <a:spcPts val="600"/>
              </a:spcBef>
            </a:pPr>
            <a:r>
              <a:rPr lang="en-US" dirty="0"/>
              <a:t>	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mnt</a:t>
            </a:r>
            <a:r>
              <a:rPr lang="en-US" dirty="0"/>
              <a:t>/delta/sales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Simplifies file operations</a:t>
            </a:r>
          </a:p>
          <a:p>
            <a:r>
              <a:rPr lang="en-US" dirty="0"/>
              <a:t>	Centralized data access</a:t>
            </a:r>
          </a:p>
          <a:p>
            <a:r>
              <a:rPr lang="en-US"/>
              <a:t>	Works </a:t>
            </a:r>
            <a:r>
              <a:rPr lang="en-US" dirty="0"/>
              <a:t>with Spark &amp; ML workflows seamlessly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8709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is a Workspace (</a:t>
            </a:r>
            <a:r>
              <a:rPr lang="en-IN" dirty="0" err="1"/>
              <a:t>WorkSpark</a:t>
            </a:r>
            <a:r>
              <a:rPr lang="en-IN" dirty="0"/>
              <a:t>) in Databricks?</a:t>
            </a:r>
          </a:p>
          <a:p>
            <a:endParaRPr lang="en-IN" dirty="0"/>
          </a:p>
          <a:p>
            <a:r>
              <a:rPr lang="en-IN" dirty="0"/>
              <a:t>In Databricks, the Workspace is the main user interface where 	you develop, manage, and collaborate on data engineering, data  science, machine learning, and analytics tasks.</a:t>
            </a:r>
          </a:p>
          <a:p>
            <a:endParaRPr lang="en-IN" dirty="0"/>
          </a:p>
          <a:p>
            <a:r>
              <a:rPr lang="en-IN" dirty="0"/>
              <a:t>Think of it like a virtual office where all tools, notebooks, datasets, clusters, jobs, dashboards, and users come together.</a:t>
            </a:r>
          </a:p>
          <a:p>
            <a:endParaRPr lang="en-IN" dirty="0"/>
          </a:p>
          <a:p>
            <a:r>
              <a:rPr lang="en-IN" dirty="0"/>
              <a:t>What Does the Databricks Workspace Contain?</a:t>
            </a:r>
          </a:p>
          <a:p>
            <a:r>
              <a:rPr lang="en-IN" dirty="0"/>
              <a:t>The workspace consists of the following major components:</a:t>
            </a:r>
          </a:p>
          <a:p>
            <a:endParaRPr lang="en-IN" dirty="0"/>
          </a:p>
          <a:p>
            <a:r>
              <a:rPr lang="en-IN" b="1" dirty="0"/>
              <a:t>Notebooks</a:t>
            </a:r>
          </a:p>
          <a:p>
            <a:r>
              <a:rPr lang="en-IN" dirty="0"/>
              <a:t>	Interactive environment to write Python, SQL, Scala, R, or Markdown.</a:t>
            </a:r>
          </a:p>
          <a:p>
            <a:r>
              <a:rPr lang="en-IN" dirty="0"/>
              <a:t>	Used for ETL pipelines, data analysis, ML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  <a:p>
            <a:r>
              <a:rPr lang="en-IN" dirty="0"/>
              <a:t>	Supports visualizations, widgets, commands, charts.</a:t>
            </a:r>
          </a:p>
          <a:p>
            <a:endParaRPr lang="en-IN" dirty="0"/>
          </a:p>
          <a:p>
            <a:r>
              <a:rPr lang="en-IN" b="1" dirty="0"/>
              <a:t>Repos (Git Integration)</a:t>
            </a:r>
          </a:p>
          <a:p>
            <a:r>
              <a:rPr lang="en-IN" dirty="0"/>
              <a:t>	Connects workspace with GitHub, GitLab, Azure DevOps, Bitbucket.</a:t>
            </a:r>
          </a:p>
          <a:p>
            <a:r>
              <a:rPr lang="en-IN" dirty="0"/>
              <a:t>	Helps version control your notebooks and code.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9984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Clusters</a:t>
            </a:r>
          </a:p>
          <a:p>
            <a:r>
              <a:rPr lang="en-IN" dirty="0"/>
              <a:t>	Compute engines where Spark code runs.</a:t>
            </a:r>
          </a:p>
          <a:p>
            <a:r>
              <a:rPr lang="en-IN" dirty="0"/>
              <a:t>	Types:</a:t>
            </a:r>
          </a:p>
          <a:p>
            <a:r>
              <a:rPr lang="en-IN" dirty="0"/>
              <a:t>		Interactive clusters (for notebooks)</a:t>
            </a:r>
          </a:p>
          <a:p>
            <a:r>
              <a:rPr lang="en-IN" dirty="0"/>
              <a:t>		Job clusters (for scheduled workflows)</a:t>
            </a:r>
          </a:p>
          <a:p>
            <a:r>
              <a:rPr lang="en-IN" dirty="0"/>
              <a:t>		High-concurrency clusters</a:t>
            </a:r>
          </a:p>
          <a:p>
            <a:r>
              <a:rPr lang="en-IN" b="1" dirty="0"/>
              <a:t>Jobs</a:t>
            </a:r>
          </a:p>
          <a:p>
            <a:r>
              <a:rPr lang="en-IN" dirty="0"/>
              <a:t>	Workflows to schedule notebooks, JARs, Python scripts.</a:t>
            </a:r>
          </a:p>
          <a:p>
            <a:r>
              <a:rPr lang="en-IN" dirty="0"/>
              <a:t>	Supports:</a:t>
            </a:r>
          </a:p>
          <a:p>
            <a:r>
              <a:rPr lang="en-IN" dirty="0"/>
              <a:t>		Multi-task workflows</a:t>
            </a:r>
          </a:p>
          <a:p>
            <a:r>
              <a:rPr lang="en-IN" dirty="0"/>
              <a:t>		Notifications</a:t>
            </a:r>
          </a:p>
          <a:p>
            <a:r>
              <a:rPr lang="en-IN" dirty="0"/>
              <a:t>		Retry policies</a:t>
            </a:r>
          </a:p>
          <a:p>
            <a:endParaRPr lang="en-IN" dirty="0"/>
          </a:p>
          <a:p>
            <a:r>
              <a:rPr lang="en-US" b="1" dirty="0"/>
              <a:t>DBFS (Databricks File System)</a:t>
            </a:r>
          </a:p>
          <a:p>
            <a:r>
              <a:rPr lang="en-US" dirty="0"/>
              <a:t>	Distributed file storage built on top of cloud storage.</a:t>
            </a:r>
          </a:p>
          <a:p>
            <a:r>
              <a:rPr lang="en-US" dirty="0"/>
              <a:t>	Used to store:</a:t>
            </a:r>
          </a:p>
          <a:p>
            <a:r>
              <a:rPr lang="en-US" dirty="0"/>
              <a:t>		Data files</a:t>
            </a:r>
          </a:p>
          <a:p>
            <a:r>
              <a:rPr lang="en-US" dirty="0"/>
              <a:t>		Delta tables</a:t>
            </a:r>
          </a:p>
          <a:p>
            <a:r>
              <a:rPr lang="en-US" dirty="0"/>
              <a:t>		Libraries</a:t>
            </a:r>
          </a:p>
          <a:p>
            <a:r>
              <a:rPr lang="en-US" dirty="0"/>
              <a:t>		Model files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4637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Unity </a:t>
            </a:r>
            <a:r>
              <a:rPr lang="en-IN" dirty="0" err="1"/>
              <a:t>Catalog</a:t>
            </a:r>
            <a:r>
              <a:rPr lang="en-IN" dirty="0"/>
              <a:t> (If enabled)</a:t>
            </a:r>
          </a:p>
          <a:p>
            <a:r>
              <a:rPr lang="en-IN" dirty="0"/>
              <a:t>	Central governance layer.</a:t>
            </a:r>
          </a:p>
          <a:p>
            <a:r>
              <a:rPr lang="en-IN" dirty="0"/>
              <a:t>	Manages:</a:t>
            </a:r>
          </a:p>
          <a:p>
            <a:r>
              <a:rPr lang="en-IN" dirty="0"/>
              <a:t>		Users</a:t>
            </a:r>
          </a:p>
          <a:p>
            <a:r>
              <a:rPr lang="en-IN" dirty="0"/>
              <a:t>		Permissions</a:t>
            </a:r>
          </a:p>
          <a:p>
            <a:r>
              <a:rPr lang="en-IN" dirty="0"/>
              <a:t>		Data lineage</a:t>
            </a:r>
          </a:p>
          <a:p>
            <a:r>
              <a:rPr lang="en-IN" dirty="0"/>
              <a:t>		Tables, schemas, volumes</a:t>
            </a:r>
          </a:p>
          <a:p>
            <a:r>
              <a:rPr lang="en-IN" dirty="0"/>
              <a:t>		External storage locations</a:t>
            </a:r>
          </a:p>
          <a:p>
            <a:endParaRPr lang="en-IN" dirty="0"/>
          </a:p>
          <a:p>
            <a:r>
              <a:rPr lang="en-IN" dirty="0" err="1"/>
              <a:t>MLflow</a:t>
            </a:r>
            <a:endParaRPr lang="en-IN" dirty="0"/>
          </a:p>
          <a:p>
            <a:r>
              <a:rPr lang="en-IN" dirty="0"/>
              <a:t>	Used for:</a:t>
            </a:r>
          </a:p>
          <a:p>
            <a:r>
              <a:rPr lang="en-IN" dirty="0"/>
              <a:t>		Experiment tracking</a:t>
            </a:r>
          </a:p>
          <a:p>
            <a:r>
              <a:rPr lang="en-IN" dirty="0"/>
              <a:t>		Model versioning</a:t>
            </a:r>
          </a:p>
          <a:p>
            <a:r>
              <a:rPr lang="en-IN" dirty="0"/>
              <a:t>		Model registry</a:t>
            </a:r>
          </a:p>
          <a:p>
            <a:r>
              <a:rPr lang="en-IN" dirty="0"/>
              <a:t>		Deploying ML models</a:t>
            </a:r>
          </a:p>
          <a:p>
            <a:endParaRPr lang="en-IN" dirty="0"/>
          </a:p>
          <a:p>
            <a:r>
              <a:rPr lang="en-IN" dirty="0"/>
              <a:t>Libraries</a:t>
            </a:r>
          </a:p>
          <a:p>
            <a:r>
              <a:rPr lang="en-IN" dirty="0"/>
              <a:t>	External packages for clusters:</a:t>
            </a:r>
          </a:p>
          <a:p>
            <a:r>
              <a:rPr lang="en-IN" dirty="0"/>
              <a:t>	Python wheels</a:t>
            </a:r>
          </a:p>
          <a:p>
            <a:r>
              <a:rPr lang="en-IN" dirty="0"/>
              <a:t>	JAR files</a:t>
            </a:r>
          </a:p>
          <a:p>
            <a:r>
              <a:rPr lang="en-IN" dirty="0"/>
              <a:t>	Maven libraries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8939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Dashboards (Databricks SQL)</a:t>
            </a:r>
          </a:p>
          <a:p>
            <a:r>
              <a:rPr lang="en-IN" dirty="0"/>
              <a:t>	Visual analytics layer.</a:t>
            </a:r>
          </a:p>
          <a:p>
            <a:r>
              <a:rPr lang="en-IN" dirty="0"/>
              <a:t>	Create dashboards using SQL queries.</a:t>
            </a:r>
          </a:p>
          <a:p>
            <a:r>
              <a:rPr lang="en-IN" dirty="0"/>
              <a:t>	Connects to:</a:t>
            </a:r>
          </a:p>
          <a:p>
            <a:r>
              <a:rPr lang="en-IN" dirty="0"/>
              <a:t>		Lakehouse tables</a:t>
            </a:r>
          </a:p>
          <a:p>
            <a:r>
              <a:rPr lang="en-IN" dirty="0"/>
              <a:t>		Delta tables</a:t>
            </a:r>
          </a:p>
          <a:p>
            <a:r>
              <a:rPr lang="en-IN" dirty="0"/>
              <a:t>		External data sources</a:t>
            </a:r>
          </a:p>
          <a:p>
            <a:endParaRPr lang="en-IN" dirty="0"/>
          </a:p>
          <a:p>
            <a:r>
              <a:rPr lang="en-IN" b="1" dirty="0"/>
              <a:t>Data Explorer</a:t>
            </a:r>
          </a:p>
          <a:p>
            <a:r>
              <a:rPr lang="en-IN" dirty="0"/>
              <a:t>	Browser for:</a:t>
            </a:r>
          </a:p>
          <a:p>
            <a:r>
              <a:rPr lang="en-IN" dirty="0"/>
              <a:t>		</a:t>
            </a:r>
            <a:r>
              <a:rPr lang="en-IN" dirty="0" err="1"/>
              <a:t>Catalogs</a:t>
            </a:r>
            <a:endParaRPr lang="en-IN" dirty="0"/>
          </a:p>
          <a:p>
            <a:r>
              <a:rPr lang="en-IN" dirty="0"/>
              <a:t>		Schemas</a:t>
            </a:r>
          </a:p>
          <a:p>
            <a:r>
              <a:rPr lang="en-IN" dirty="0"/>
              <a:t>		Tables</a:t>
            </a:r>
          </a:p>
          <a:p>
            <a:r>
              <a:rPr lang="en-IN" dirty="0"/>
              <a:t>		Views</a:t>
            </a:r>
          </a:p>
          <a:p>
            <a:r>
              <a:rPr lang="en-IN" dirty="0"/>
              <a:t>		Table details (schema, history, permissions)</a:t>
            </a:r>
          </a:p>
          <a:p>
            <a:endParaRPr lang="en-IN" dirty="0"/>
          </a:p>
          <a:p>
            <a:r>
              <a:rPr lang="en-IN" b="1" dirty="0"/>
              <a:t> SQL Warehouses</a:t>
            </a:r>
          </a:p>
          <a:p>
            <a:r>
              <a:rPr lang="en-IN" dirty="0"/>
              <a:t>	Dedicated SQL compute for BI workloads.</a:t>
            </a:r>
          </a:p>
          <a:p>
            <a:r>
              <a:rPr lang="en-IN" dirty="0"/>
              <a:t>	Used in Databricks SQL workspace.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407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is a </a:t>
            </a:r>
            <a:r>
              <a:rPr lang="en-IN" b="1" dirty="0" err="1"/>
              <a:t>Catalog</a:t>
            </a:r>
            <a:r>
              <a:rPr lang="en-IN" b="1" dirty="0"/>
              <a:t> in Databricks?</a:t>
            </a:r>
          </a:p>
          <a:p>
            <a:endParaRPr lang="en-IN" dirty="0"/>
          </a:p>
          <a:p>
            <a:r>
              <a:rPr lang="en-IN" dirty="0"/>
              <a:t>A </a:t>
            </a:r>
            <a:r>
              <a:rPr lang="en-IN" dirty="0" err="1"/>
              <a:t>Catalog</a:t>
            </a:r>
            <a:r>
              <a:rPr lang="en-IN" dirty="0"/>
              <a:t> in Databricks is the top-level container for organizing data in the Databricks Lakehouse.</a:t>
            </a:r>
          </a:p>
          <a:p>
            <a:endParaRPr lang="en-IN" dirty="0"/>
          </a:p>
          <a:p>
            <a:r>
              <a:rPr lang="en-IN" dirty="0"/>
              <a:t>Think of a </a:t>
            </a:r>
            <a:r>
              <a:rPr lang="en-IN" dirty="0" err="1"/>
              <a:t>Catalog</a:t>
            </a:r>
            <a:r>
              <a:rPr lang="en-IN" dirty="0"/>
              <a:t> like a drive in a computer (e.g., C:, D:)</a:t>
            </a:r>
          </a:p>
          <a:p>
            <a:r>
              <a:rPr lang="en-IN" dirty="0"/>
              <a:t>Inside a </a:t>
            </a:r>
            <a:r>
              <a:rPr lang="en-IN" dirty="0" err="1"/>
              <a:t>catalog</a:t>
            </a:r>
            <a:r>
              <a:rPr lang="en-IN" dirty="0"/>
              <a:t>, you have Schemas, and inside schemas you have Tables / Views / Volumes.</a:t>
            </a:r>
          </a:p>
          <a:p>
            <a:endParaRPr lang="en-IN" dirty="0"/>
          </a:p>
          <a:p>
            <a:r>
              <a:rPr lang="en-IN" dirty="0"/>
              <a:t>So the hierarchy is:</a:t>
            </a:r>
          </a:p>
          <a:p>
            <a:r>
              <a:rPr lang="en-IN" dirty="0" err="1"/>
              <a:t>Catalog</a:t>
            </a:r>
            <a:r>
              <a:rPr lang="en-IN" dirty="0"/>
              <a:t> </a:t>
            </a:r>
          </a:p>
          <a:p>
            <a:r>
              <a:rPr lang="en-IN" dirty="0"/>
              <a:t>   └── Schema (Database)</a:t>
            </a:r>
          </a:p>
          <a:p>
            <a:r>
              <a:rPr lang="en-IN" dirty="0"/>
              <a:t>         └── Tables / Views / Functions / Volumes</a:t>
            </a:r>
          </a:p>
          <a:p>
            <a:endParaRPr lang="en-IN" dirty="0"/>
          </a:p>
          <a:p>
            <a:r>
              <a:rPr lang="en-US" b="1" dirty="0"/>
              <a:t>Why does Databricks use catalogs?</a:t>
            </a:r>
          </a:p>
          <a:p>
            <a:r>
              <a:rPr lang="en-US" dirty="0"/>
              <a:t>To provide:</a:t>
            </a:r>
          </a:p>
          <a:p>
            <a:r>
              <a:rPr lang="en-US" dirty="0"/>
              <a:t>	Central management of all data</a:t>
            </a:r>
          </a:p>
          <a:p>
            <a:r>
              <a:rPr lang="en-US" dirty="0"/>
              <a:t>	Governance (permissions, data access control)</a:t>
            </a:r>
          </a:p>
          <a:p>
            <a:r>
              <a:rPr lang="en-US" dirty="0"/>
              <a:t>	Data lineage (tracking)</a:t>
            </a:r>
          </a:p>
          <a:p>
            <a:endParaRPr lang="en-US" dirty="0"/>
          </a:p>
          <a:p>
            <a:r>
              <a:rPr lang="en-US" dirty="0"/>
              <a:t>A single place to manage tables across teams and projects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8652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Types of </a:t>
            </a:r>
            <a:r>
              <a:rPr lang="en-IN" b="1" dirty="0" err="1"/>
              <a:t>Catalogs</a:t>
            </a:r>
            <a:endParaRPr lang="en-IN" b="1" dirty="0"/>
          </a:p>
          <a:p>
            <a:r>
              <a:rPr lang="en-IN" dirty="0"/>
              <a:t>Databricks provides two types of </a:t>
            </a:r>
            <a:r>
              <a:rPr lang="en-IN" dirty="0" err="1"/>
              <a:t>catalogs</a:t>
            </a:r>
            <a:r>
              <a:rPr lang="en-IN" dirty="0"/>
              <a:t>:</a:t>
            </a:r>
          </a:p>
          <a:p>
            <a:r>
              <a:rPr lang="en-IN" dirty="0"/>
              <a:t>	Unity </a:t>
            </a:r>
            <a:r>
              <a:rPr lang="en-IN" dirty="0" err="1"/>
              <a:t>Catalog</a:t>
            </a:r>
            <a:r>
              <a:rPr lang="en-IN" dirty="0"/>
              <a:t> (UC) </a:t>
            </a:r>
            <a:r>
              <a:rPr lang="en-IN" dirty="0" err="1"/>
              <a:t>catalogs</a:t>
            </a:r>
            <a:endParaRPr lang="en-IN" dirty="0"/>
          </a:p>
          <a:p>
            <a:r>
              <a:rPr lang="en-IN" dirty="0"/>
              <a:t>	These are </a:t>
            </a:r>
            <a:r>
              <a:rPr lang="en-IN" dirty="0" err="1"/>
              <a:t>catalogs</a:t>
            </a:r>
            <a:r>
              <a:rPr lang="en-IN" dirty="0"/>
              <a:t> created and governed by Unity </a:t>
            </a:r>
            <a:r>
              <a:rPr lang="en-IN" dirty="0" err="1"/>
              <a:t>Catalog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Examples:</a:t>
            </a:r>
          </a:p>
          <a:p>
            <a:r>
              <a:rPr lang="en-IN" dirty="0"/>
              <a:t>	main</a:t>
            </a:r>
          </a:p>
          <a:p>
            <a:r>
              <a:rPr lang="en-IN" dirty="0"/>
              <a:t>	sandbox</a:t>
            </a:r>
          </a:p>
          <a:p>
            <a:r>
              <a:rPr lang="en-IN" dirty="0"/>
              <a:t>	</a:t>
            </a:r>
            <a:r>
              <a:rPr lang="en-IN" dirty="0" err="1"/>
              <a:t>finance_catalog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Marketing_catalog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These </a:t>
            </a:r>
            <a:r>
              <a:rPr lang="en-IN" b="1" dirty="0" err="1"/>
              <a:t>catalogs</a:t>
            </a:r>
            <a:r>
              <a:rPr lang="en-IN" b="1" dirty="0"/>
              <a:t> support:</a:t>
            </a:r>
          </a:p>
          <a:p>
            <a:r>
              <a:rPr lang="en-IN" dirty="0"/>
              <a:t>	Row/column-level access control</a:t>
            </a:r>
          </a:p>
          <a:p>
            <a:r>
              <a:rPr lang="en-IN" dirty="0"/>
              <a:t>	Audit logs</a:t>
            </a:r>
          </a:p>
          <a:p>
            <a:r>
              <a:rPr lang="en-IN" dirty="0"/>
              <a:t>	Lineage tracking</a:t>
            </a:r>
          </a:p>
          <a:p>
            <a:r>
              <a:rPr lang="en-IN" dirty="0"/>
              <a:t>	External locations</a:t>
            </a:r>
          </a:p>
          <a:p>
            <a:r>
              <a:rPr lang="en-IN" dirty="0"/>
              <a:t>	Volumes</a:t>
            </a:r>
          </a:p>
          <a:p>
            <a:r>
              <a:rPr lang="en-IN" dirty="0"/>
              <a:t>	Managed &amp; external tables</a:t>
            </a:r>
          </a:p>
          <a:p>
            <a:endParaRPr lang="en-IN" dirty="0"/>
          </a:p>
          <a:p>
            <a:r>
              <a:rPr lang="en-IN" dirty="0"/>
              <a:t>This is the recommended modern </a:t>
            </a:r>
            <a:r>
              <a:rPr lang="en-IN" dirty="0" err="1"/>
              <a:t>catalog</a:t>
            </a:r>
            <a:r>
              <a:rPr lang="en-IN" dirty="0"/>
              <a:t> type.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4081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Hive </a:t>
            </a:r>
            <a:r>
              <a:rPr lang="en-IN" b="1" dirty="0" err="1"/>
              <a:t>Metastore</a:t>
            </a:r>
            <a:r>
              <a:rPr lang="en-IN" b="1" dirty="0"/>
              <a:t> </a:t>
            </a:r>
            <a:r>
              <a:rPr lang="en-IN" b="1" dirty="0" err="1"/>
              <a:t>catalog</a:t>
            </a:r>
            <a:r>
              <a:rPr lang="en-IN" b="1" dirty="0"/>
              <a:t> (</a:t>
            </a:r>
            <a:r>
              <a:rPr lang="en-IN" b="1" dirty="0" err="1"/>
              <a:t>hive_metastore</a:t>
            </a:r>
            <a:r>
              <a:rPr lang="en-IN" b="1" dirty="0"/>
              <a:t>)</a:t>
            </a:r>
          </a:p>
          <a:p>
            <a:r>
              <a:rPr lang="en-IN" dirty="0"/>
              <a:t>	This is the old (legacy) storage </a:t>
            </a:r>
            <a:r>
              <a:rPr lang="en-IN" dirty="0" err="1"/>
              <a:t>metastore</a:t>
            </a:r>
            <a:r>
              <a:rPr lang="en-IN" dirty="0"/>
              <a:t>.</a:t>
            </a:r>
          </a:p>
          <a:p>
            <a:r>
              <a:rPr lang="en-IN" dirty="0"/>
              <a:t>	</a:t>
            </a:r>
          </a:p>
          <a:p>
            <a:r>
              <a:rPr lang="en-IN" b="1" dirty="0" err="1"/>
              <a:t>hive_metastore</a:t>
            </a:r>
            <a:endParaRPr lang="en-IN" b="1" dirty="0"/>
          </a:p>
          <a:p>
            <a:r>
              <a:rPr lang="en-IN" b="1" dirty="0"/>
              <a:t>Limitations:</a:t>
            </a:r>
          </a:p>
          <a:p>
            <a:r>
              <a:rPr lang="en-IN" dirty="0"/>
              <a:t>	No fine-grained access control</a:t>
            </a:r>
          </a:p>
          <a:p>
            <a:r>
              <a:rPr lang="en-IN" dirty="0"/>
              <a:t>	No lineage</a:t>
            </a:r>
          </a:p>
          <a:p>
            <a:r>
              <a:rPr lang="en-IN" dirty="0"/>
              <a:t>	No external volumes</a:t>
            </a:r>
          </a:p>
          <a:p>
            <a:r>
              <a:rPr lang="en-IN" dirty="0"/>
              <a:t>	Weaker governance</a:t>
            </a:r>
          </a:p>
          <a:p>
            <a:r>
              <a:rPr lang="en-IN" dirty="0"/>
              <a:t>	Not allowed in many enterprises</a:t>
            </a:r>
          </a:p>
          <a:p>
            <a:r>
              <a:rPr lang="en-IN" dirty="0"/>
              <a:t>	Unity </a:t>
            </a:r>
            <a:r>
              <a:rPr lang="en-IN" dirty="0" err="1"/>
              <a:t>Catalog</a:t>
            </a:r>
            <a:r>
              <a:rPr lang="en-IN" dirty="0"/>
              <a:t> replaces this in modern setups.</a:t>
            </a:r>
          </a:p>
          <a:p>
            <a:endParaRPr lang="en-IN" dirty="0"/>
          </a:p>
          <a:p>
            <a:r>
              <a:rPr lang="en-IN" b="1" dirty="0" err="1"/>
              <a:t>Catalog</a:t>
            </a:r>
            <a:r>
              <a:rPr lang="en-IN" b="1" dirty="0"/>
              <a:t> Structure Example</a:t>
            </a:r>
          </a:p>
          <a:p>
            <a:r>
              <a:rPr lang="en-IN" dirty="0"/>
              <a:t>main                            ← </a:t>
            </a:r>
            <a:r>
              <a:rPr lang="en-IN" dirty="0" err="1"/>
              <a:t>catalog</a:t>
            </a:r>
            <a:endParaRPr lang="en-IN" dirty="0"/>
          </a:p>
          <a:p>
            <a:r>
              <a:rPr lang="en-IN" dirty="0"/>
              <a:t> └── default                    ← schema</a:t>
            </a:r>
          </a:p>
          <a:p>
            <a:r>
              <a:rPr lang="en-IN" dirty="0"/>
              <a:t>      └── customers             ← table</a:t>
            </a:r>
          </a:p>
          <a:p>
            <a:r>
              <a:rPr lang="en-IN" dirty="0"/>
              <a:t>      └── orders                ← table</a:t>
            </a:r>
          </a:p>
          <a:p>
            <a:r>
              <a:rPr lang="en-IN" dirty="0"/>
              <a:t>      └── sales                 ← table</a:t>
            </a:r>
          </a:p>
          <a:p>
            <a:r>
              <a:rPr lang="en-IN" dirty="0"/>
              <a:t> └── bronze                     ← schema</a:t>
            </a:r>
          </a:p>
          <a:p>
            <a:r>
              <a:rPr lang="en-IN" dirty="0"/>
              <a:t> └── silver                     ← schema</a:t>
            </a:r>
          </a:p>
          <a:p>
            <a:r>
              <a:rPr lang="en-IN" dirty="0"/>
              <a:t> └── gold                       ← schema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3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393192"/>
            <a:ext cx="11823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CATALOG vs WORKSPACE in DATABRICKS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2CBA35-5A44-7FB8-AAC3-B12105981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59021"/>
              </p:ext>
            </p:extLst>
          </p:nvPr>
        </p:nvGraphicFramePr>
        <p:xfrm>
          <a:off x="469578" y="1039523"/>
          <a:ext cx="11280462" cy="3686428"/>
        </p:xfrm>
        <a:graphic>
          <a:graphicData uri="http://schemas.openxmlformats.org/drawingml/2006/table">
            <a:tbl>
              <a:tblPr/>
              <a:tblGrid>
                <a:gridCol w="1854109">
                  <a:extLst>
                    <a:ext uri="{9D8B030D-6E8A-4147-A177-3AD203B41FA5}">
                      <a16:colId xmlns:a16="http://schemas.microsoft.com/office/drawing/2014/main" val="3055789375"/>
                    </a:ext>
                  </a:extLst>
                </a:gridCol>
                <a:gridCol w="4836065">
                  <a:extLst>
                    <a:ext uri="{9D8B030D-6E8A-4147-A177-3AD203B41FA5}">
                      <a16:colId xmlns:a16="http://schemas.microsoft.com/office/drawing/2014/main" val="1867429723"/>
                    </a:ext>
                  </a:extLst>
                </a:gridCol>
                <a:gridCol w="4590288">
                  <a:extLst>
                    <a:ext uri="{9D8B030D-6E8A-4147-A177-3AD203B41FA5}">
                      <a16:colId xmlns:a16="http://schemas.microsoft.com/office/drawing/2014/main" val="4226386651"/>
                    </a:ext>
                  </a:extLst>
                </a:gridCol>
              </a:tblGrid>
              <a:tr h="235462">
                <a:tc>
                  <a:txBody>
                    <a:bodyPr/>
                    <a:lstStyle/>
                    <a:p>
                      <a:r>
                        <a:rPr lang="en-IN" sz="1400" b="1"/>
                        <a:t>Feature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Catalog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Workspace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185609"/>
                  </a:ext>
                </a:extLst>
              </a:tr>
              <a:tr h="765252">
                <a:tc>
                  <a:txBody>
                    <a:bodyPr/>
                    <a:lstStyle/>
                    <a:p>
                      <a:r>
                        <a:rPr lang="en-IN" sz="1400" b="1"/>
                        <a:t>Definition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A data container that stores and organizes tables, schemas, views, and files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The user interface environment where you develop notebooks, run jobs, manage clusters, and collaborate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11398"/>
                  </a:ext>
                </a:extLst>
              </a:tr>
              <a:tr h="412059">
                <a:tc>
                  <a:txBody>
                    <a:bodyPr/>
                    <a:lstStyle/>
                    <a:p>
                      <a:r>
                        <a:rPr lang="en-IN" sz="1400" b="1"/>
                        <a:t>Purpose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Manage data governance (tables, schemas, permissions)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Manage development, compute, users, notebooks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749362"/>
                  </a:ext>
                </a:extLst>
              </a:tr>
              <a:tr h="588655">
                <a:tc>
                  <a:txBody>
                    <a:bodyPr/>
                    <a:lstStyle/>
                    <a:p>
                      <a:r>
                        <a:rPr lang="en-IN" sz="1400" b="1"/>
                        <a:t>What it contains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Catalog → Schemas → Tables/Views/Volumes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Notebooks, clusters, jobs, dashboards, repos, Delta tables, </a:t>
                      </a:r>
                      <a:r>
                        <a:rPr lang="en-US" sz="1400" b="1" dirty="0" err="1"/>
                        <a:t>MLflow</a:t>
                      </a:r>
                      <a:endParaRPr lang="en-US" sz="1400" b="1" dirty="0"/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454016"/>
                  </a:ext>
                </a:extLst>
              </a:tr>
              <a:tr h="412059">
                <a:tc>
                  <a:txBody>
                    <a:bodyPr/>
                    <a:lstStyle/>
                    <a:p>
                      <a:r>
                        <a:rPr lang="en-IN" sz="1400" b="1"/>
                        <a:t>Security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Fine-grained access control (Unity Catalog)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User/workspace-level permissions (folders, notebooks)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225425"/>
                  </a:ext>
                </a:extLst>
              </a:tr>
              <a:tr h="412059">
                <a:tc>
                  <a:txBody>
                    <a:bodyPr/>
                    <a:lstStyle/>
                    <a:p>
                      <a:r>
                        <a:rPr lang="en-IN" sz="1400" b="1"/>
                        <a:t>Scope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Controls data access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Controls compute and development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841500"/>
                  </a:ext>
                </a:extLst>
              </a:tr>
              <a:tr h="412059">
                <a:tc>
                  <a:txBody>
                    <a:bodyPr/>
                    <a:lstStyle/>
                    <a:p>
                      <a:r>
                        <a:rPr lang="en-IN" sz="1400" b="1"/>
                        <a:t>Example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main, hive_metastore, catalog1, sales_data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Workspace folders, notebooks, clusters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565072"/>
                  </a:ext>
                </a:extLst>
              </a:tr>
              <a:tr h="412059">
                <a:tc>
                  <a:txBody>
                    <a:bodyPr/>
                    <a:lstStyle/>
                    <a:p>
                      <a:r>
                        <a:rPr lang="en-IN" sz="1400" b="1"/>
                        <a:t>Managed by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Unity Catalog (data governance layer)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Databricks workspace UI and admin settings</a:t>
                      </a:r>
                    </a:p>
                  </a:txBody>
                  <a:tcPr marL="58866" marR="58866" marT="29433" marB="294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525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541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512064"/>
            <a:ext cx="1182319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Schema Enforcement (Also called </a:t>
            </a:r>
            <a:r>
              <a:rPr lang="en-IN" b="1" i="1" dirty="0"/>
              <a:t>Schema Validation</a:t>
            </a:r>
            <a:r>
              <a:rPr lang="en-IN" b="1" dirty="0"/>
              <a:t>)</a:t>
            </a:r>
          </a:p>
          <a:p>
            <a:pPr>
              <a:spcBef>
                <a:spcPts val="600"/>
              </a:spcBef>
            </a:pPr>
            <a:r>
              <a:rPr lang="en-IN" dirty="0"/>
              <a:t>Schema Enforcement ensures that </a:t>
            </a:r>
            <a:r>
              <a:rPr lang="en-IN" b="1" dirty="0"/>
              <a:t>incoming data must follow the table schema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If new data has:</a:t>
            </a:r>
          </a:p>
          <a:p>
            <a:pPr>
              <a:spcBef>
                <a:spcPts val="600"/>
              </a:spcBef>
            </a:pPr>
            <a:r>
              <a:rPr lang="en-IN" dirty="0"/>
              <a:t>	Missing columns</a:t>
            </a:r>
            <a:br>
              <a:rPr lang="en-IN" dirty="0"/>
            </a:br>
            <a:r>
              <a:rPr lang="en-IN" dirty="0"/>
              <a:t>	Extra columns</a:t>
            </a:r>
            <a:br>
              <a:rPr lang="en-IN" dirty="0"/>
            </a:br>
            <a:r>
              <a:rPr lang="en-IN" dirty="0"/>
              <a:t>	Wrong data types</a:t>
            </a:r>
          </a:p>
          <a:p>
            <a:pPr>
              <a:spcBef>
                <a:spcPts val="600"/>
              </a:spcBef>
            </a:pPr>
            <a:r>
              <a:rPr lang="en-IN" dirty="0"/>
              <a:t>Delta Lake </a:t>
            </a:r>
            <a:r>
              <a:rPr lang="en-IN" b="1" dirty="0"/>
              <a:t>rejects the write operation</a:t>
            </a:r>
            <a:r>
              <a:rPr lang="en-IN" dirty="0"/>
              <a:t> to prevent corrupt or inconsistent data.</a:t>
            </a:r>
          </a:p>
          <a:p>
            <a:pPr>
              <a:spcBef>
                <a:spcPts val="600"/>
              </a:spcBef>
            </a:pPr>
            <a:r>
              <a:rPr lang="en-US" dirty="0"/>
              <a:t>Example</a:t>
            </a:r>
          </a:p>
          <a:p>
            <a:pPr>
              <a:spcBef>
                <a:spcPts val="600"/>
              </a:spcBef>
            </a:pPr>
            <a:r>
              <a:rPr lang="en-US" dirty="0"/>
              <a:t>If your Delta table has:</a:t>
            </a:r>
          </a:p>
          <a:p>
            <a:pPr>
              <a:spcBef>
                <a:spcPts val="600"/>
              </a:spcBef>
            </a:pPr>
            <a:r>
              <a:rPr lang="en-US" dirty="0"/>
              <a:t>	id INT, name STRING, salary DOUBLE</a:t>
            </a:r>
          </a:p>
          <a:p>
            <a:pPr>
              <a:spcBef>
                <a:spcPts val="600"/>
              </a:spcBef>
            </a:pPr>
            <a:r>
              <a:rPr lang="en-US" dirty="0"/>
              <a:t>and you try to append:</a:t>
            </a:r>
          </a:p>
          <a:p>
            <a:pPr>
              <a:spcBef>
                <a:spcPts val="600"/>
              </a:spcBef>
            </a:pPr>
            <a:r>
              <a:rPr lang="en-US" dirty="0"/>
              <a:t>	{id: "</a:t>
            </a:r>
            <a:r>
              <a:rPr lang="en-US" dirty="0" err="1"/>
              <a:t>abc</a:t>
            </a:r>
            <a:r>
              <a:rPr lang="en-US" dirty="0"/>
              <a:t>", name: "Ravi", salary: 50000}</a:t>
            </a:r>
          </a:p>
          <a:p>
            <a:pPr>
              <a:spcBef>
                <a:spcPts val="600"/>
              </a:spcBef>
            </a:pPr>
            <a:r>
              <a:rPr lang="en-US" dirty="0"/>
              <a:t>The write fails because id must be INT.</a:t>
            </a:r>
          </a:p>
          <a:p>
            <a:pPr>
              <a:spcBef>
                <a:spcPts val="600"/>
              </a:spcBef>
            </a:pPr>
            <a:r>
              <a:rPr lang="en-US" b="1" dirty="0"/>
              <a:t>Purpose</a:t>
            </a:r>
          </a:p>
          <a:p>
            <a:pPr>
              <a:spcBef>
                <a:spcPts val="600"/>
              </a:spcBef>
            </a:pPr>
            <a:r>
              <a:rPr lang="en-US" dirty="0"/>
              <a:t>	Prevents bad data from entering the table</a:t>
            </a:r>
          </a:p>
          <a:p>
            <a:pPr>
              <a:spcBef>
                <a:spcPts val="600"/>
              </a:spcBef>
            </a:pPr>
            <a:r>
              <a:rPr lang="en-US" dirty="0"/>
              <a:t>	Maintains schema consistency</a:t>
            </a:r>
          </a:p>
          <a:p>
            <a:pPr>
              <a:spcBef>
                <a:spcPts val="600"/>
              </a:spcBef>
            </a:pPr>
            <a:r>
              <a:rPr lang="en-US" dirty="0"/>
              <a:t>	Ensures reliable analytics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667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512064"/>
            <a:ext cx="1182319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Schema Evolution</a:t>
            </a:r>
            <a:endParaRPr lang="en-US" b="1" dirty="0"/>
          </a:p>
          <a:p>
            <a:pPr>
              <a:spcBef>
                <a:spcPts val="600"/>
              </a:spcBef>
            </a:pPr>
            <a:r>
              <a:rPr lang="en-US" dirty="0"/>
              <a:t>Schema Evolution allows changing the table schema automatically when new data arrives — typically during:</a:t>
            </a:r>
          </a:p>
          <a:p>
            <a:pPr>
              <a:spcBef>
                <a:spcPts val="600"/>
              </a:spcBef>
            </a:pPr>
            <a:r>
              <a:rPr lang="en-US" dirty="0"/>
              <a:t>	MERGE operations</a:t>
            </a:r>
          </a:p>
          <a:p>
            <a:pPr>
              <a:spcBef>
                <a:spcPts val="600"/>
              </a:spcBef>
            </a:pPr>
            <a:r>
              <a:rPr lang="en-US" dirty="0"/>
              <a:t>	</a:t>
            </a:r>
            <a:r>
              <a:rPr lang="en-US" dirty="0" err="1"/>
              <a:t>AutoLoader</a:t>
            </a:r>
            <a:r>
              <a:rPr lang="en-US" dirty="0"/>
              <a:t> (cloud ingestion)</a:t>
            </a:r>
          </a:p>
          <a:p>
            <a:pPr>
              <a:spcBef>
                <a:spcPts val="600"/>
              </a:spcBef>
            </a:pPr>
            <a:r>
              <a:rPr lang="en-US" dirty="0"/>
              <a:t>	Streaming ingestion</a:t>
            </a:r>
          </a:p>
          <a:p>
            <a:pPr>
              <a:spcBef>
                <a:spcPts val="600"/>
              </a:spcBef>
            </a:pPr>
            <a:r>
              <a:rPr lang="en-US" dirty="0"/>
              <a:t>	Overwrite operations</a:t>
            </a:r>
          </a:p>
          <a:p>
            <a:pPr>
              <a:spcBef>
                <a:spcPts val="600"/>
              </a:spcBef>
            </a:pPr>
            <a:r>
              <a:rPr lang="en-US" dirty="0"/>
              <a:t>	Append with </a:t>
            </a:r>
            <a:r>
              <a:rPr lang="en-US" dirty="0" err="1"/>
              <a:t>mergeSchema</a:t>
            </a:r>
            <a:r>
              <a:rPr lang="en-US" dirty="0"/>
              <a:t> or </a:t>
            </a:r>
            <a:r>
              <a:rPr lang="en-US" dirty="0" err="1"/>
              <a:t>autoMerge</a:t>
            </a:r>
            <a:r>
              <a:rPr lang="en-US" dirty="0"/>
              <a:t> settings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What Evolutions Are Allowed</a:t>
            </a:r>
          </a:p>
          <a:p>
            <a:pPr>
              <a:spcBef>
                <a:spcPts val="600"/>
              </a:spcBef>
            </a:pPr>
            <a:r>
              <a:rPr lang="en-US" dirty="0"/>
              <a:t>You can add new columns automatically:</a:t>
            </a:r>
          </a:p>
          <a:p>
            <a:pPr>
              <a:spcBef>
                <a:spcPts val="600"/>
              </a:spcBef>
            </a:pPr>
            <a:r>
              <a:rPr lang="en-US" b="1" dirty="0"/>
              <a:t>Example: Adding a new column</a:t>
            </a:r>
          </a:p>
          <a:p>
            <a:pPr>
              <a:spcBef>
                <a:spcPts val="600"/>
              </a:spcBef>
            </a:pPr>
            <a:r>
              <a:rPr lang="en-US" dirty="0"/>
              <a:t>	Incoming data:{id: 1, name: "Ravi", salary: 50000, dept: "IT"}</a:t>
            </a:r>
          </a:p>
          <a:p>
            <a:pPr>
              <a:spcBef>
                <a:spcPts val="600"/>
              </a:spcBef>
            </a:pPr>
            <a:r>
              <a:rPr lang="en-US" dirty="0"/>
              <a:t>Your table does not have dept column.</a:t>
            </a:r>
          </a:p>
          <a:p>
            <a:pPr>
              <a:spcBef>
                <a:spcPts val="600"/>
              </a:spcBef>
            </a:pPr>
            <a:r>
              <a:rPr lang="en-US" dirty="0"/>
              <a:t>With auto-merge enabled, Delta will add the dept column Automatically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2090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512064"/>
            <a:ext cx="11823192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Partitioning in Delta Lake?</a:t>
            </a:r>
          </a:p>
          <a:p>
            <a:r>
              <a:rPr lang="en-US" b="1" dirty="0"/>
              <a:t>Partitioning</a:t>
            </a:r>
            <a:r>
              <a:rPr lang="en-US" dirty="0"/>
              <a:t> is the technique of organizing data into </a:t>
            </a:r>
            <a:r>
              <a:rPr lang="en-US" b="1" dirty="0"/>
              <a:t>subfolders</a:t>
            </a:r>
            <a:r>
              <a:rPr lang="en-US" dirty="0"/>
              <a:t> based on the value of one or more columns.</a:t>
            </a:r>
          </a:p>
          <a:p>
            <a:r>
              <a:rPr lang="en-US" b="1" dirty="0"/>
              <a:t>Why?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Faster queries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Faster reads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Reduced data scanning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Lower compute cost</a:t>
            </a:r>
          </a:p>
          <a:p>
            <a:endParaRPr lang="en-US" dirty="0"/>
          </a:p>
          <a:p>
            <a:r>
              <a:rPr lang="en-US" b="1" dirty="0"/>
              <a:t>When to Use Partitioning?</a:t>
            </a:r>
          </a:p>
          <a:p>
            <a:r>
              <a:rPr lang="en-US" dirty="0"/>
              <a:t>Partition </a:t>
            </a:r>
            <a:r>
              <a:rPr lang="en-US" b="1" dirty="0"/>
              <a:t>only when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✔ Queries frequently filter by this column</a:t>
            </a:r>
            <a:br>
              <a:rPr lang="en-US" dirty="0"/>
            </a:br>
            <a:r>
              <a:rPr lang="en-US" dirty="0"/>
              <a:t>✔ Column has </a:t>
            </a:r>
            <a:r>
              <a:rPr lang="en-US" b="1" dirty="0"/>
              <a:t>low or medium cardinality</a:t>
            </a:r>
            <a:br>
              <a:rPr lang="en-US" dirty="0"/>
            </a:br>
            <a:r>
              <a:rPr lang="en-US" dirty="0"/>
              <a:t>✔ Column is in WHERE clause, GROUP BY, or JOIN</a:t>
            </a:r>
          </a:p>
          <a:p>
            <a:endParaRPr lang="en-US" dirty="0"/>
          </a:p>
          <a:p>
            <a:r>
              <a:rPr lang="en-US" dirty="0"/>
              <a:t>Types of partitions</a:t>
            </a:r>
          </a:p>
          <a:p>
            <a:pPr lvl="1"/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D3DA7C-0327-7BFB-9589-CAEE9A861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76263"/>
              </p:ext>
            </p:extLst>
          </p:nvPr>
        </p:nvGraphicFramePr>
        <p:xfrm>
          <a:off x="384048" y="4882896"/>
          <a:ext cx="10131426" cy="14630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211577572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33828382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28867474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5096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Single Column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Partition by one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PARTITIONED BY (country)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34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Multi Column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Hierarchical partitions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PARTITIONED BY (year, month)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8395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Time-based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Partition by year/month/day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year(</a:t>
                      </a:r>
                      <a:r>
                        <a:rPr lang="en-IN" sz="1800" dirty="0" err="1"/>
                        <a:t>order_date</a:t>
                      </a:r>
                      <a:r>
                        <a:rPr lang="en-IN" sz="18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331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2483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5B2EE-D7D7-92D9-2AA9-0B113314E4C4}"/>
              </a:ext>
            </a:extLst>
          </p:cNvPr>
          <p:cNvSpPr txBox="1"/>
          <p:nvPr/>
        </p:nvSpPr>
        <p:spPr>
          <a:xfrm>
            <a:off x="265176" y="512064"/>
            <a:ext cx="11823192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onsolas" panose="020B0609020204030204" pitchFamily="49" charset="0"/>
              </a:rPr>
              <a:t>What is Z-Ordering in Databricks?</a:t>
            </a:r>
          </a:p>
          <a:p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Z-Ordering (also written as ZORDER BY) is an optimization technique used in Delta Lake to improve data skipping for tables that are frequently filtered on certain columns.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It works by co-locating related data in the same data files using a multi-dimensional clustering algorithm (Z-Curve).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Why it is needed?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When you run a query like: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	SELECT * FROM sales WHERE </a:t>
            </a:r>
            <a:r>
              <a:rPr lang="en-US" sz="1800" dirty="0" err="1">
                <a:effectLst/>
                <a:latin typeface="Consolas" panose="020B0609020204030204" pitchFamily="49" charset="0"/>
              </a:rPr>
              <a:t>customer_id</a:t>
            </a:r>
            <a:r>
              <a:rPr lang="en-US" sz="1800" dirty="0">
                <a:effectLst/>
                <a:latin typeface="Consolas" panose="020B0609020204030204" pitchFamily="49" charset="0"/>
              </a:rPr>
              <a:t> = 1005;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US" sz="1800" dirty="0"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Without Z-Ordering: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	Data may be randomly distributed across many files.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	Spark needs to scan many files </a:t>
            </a:r>
            <a:r>
              <a:rPr lang="en-US" sz="1800" dirty="0">
                <a:effectLst/>
                <a:latin typeface="Segoe UI Symbol" panose="020B0502040204020203" pitchFamily="34" charset="0"/>
              </a:rPr>
              <a:t>➝</a:t>
            </a:r>
            <a:r>
              <a:rPr lang="en-US" sz="1800" dirty="0">
                <a:effectLst/>
                <a:latin typeface="Consolas" panose="020B0609020204030204" pitchFamily="49" charset="0"/>
              </a:rPr>
              <a:t> slow.	</a:t>
            </a:r>
          </a:p>
          <a:p>
            <a:pPr>
              <a:spcBef>
                <a:spcPts val="600"/>
              </a:spcBef>
            </a:pPr>
            <a:endParaRPr lang="en-US" dirty="0"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With Z-Ordering: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	Rows with similar </a:t>
            </a:r>
            <a:r>
              <a:rPr lang="en-US" sz="1800" dirty="0" err="1">
                <a:effectLst/>
                <a:latin typeface="Consolas" panose="020B0609020204030204" pitchFamily="49" charset="0"/>
              </a:rPr>
              <a:t>customer_id</a:t>
            </a:r>
            <a:r>
              <a:rPr lang="en-US" sz="1800" dirty="0">
                <a:effectLst/>
                <a:latin typeface="Consolas" panose="020B0609020204030204" pitchFamily="49" charset="0"/>
              </a:rPr>
              <a:t> are stored together in fewer files.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effectLst/>
                <a:latin typeface="Consolas" panose="020B0609020204030204" pitchFamily="49" charset="0"/>
              </a:rPr>
              <a:t>	Spark skips unnecessary files </a:t>
            </a:r>
            <a:r>
              <a:rPr lang="en-US" sz="1800" dirty="0">
                <a:effectLst/>
                <a:latin typeface="Segoe UI Symbol" panose="020B0502040204020203" pitchFamily="34" charset="0"/>
              </a:rPr>
              <a:t>➝</a:t>
            </a:r>
            <a:r>
              <a:rPr lang="en-US" sz="1800" dirty="0">
                <a:effectLst/>
                <a:latin typeface="Consolas" panose="020B0609020204030204" pitchFamily="49" charset="0"/>
              </a:rPr>
              <a:t> much faster.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9727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Consolas" panose="020B0609020204030204" pitchFamily="49" charset="0"/>
              </a:rPr>
              <a:t>When to use Z-Ordering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Use Z-ORDER on: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	High-cardinality columns (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customer_id</a:t>
            </a:r>
            <a:r>
              <a:rPr lang="en-IN" sz="1800" dirty="0">
                <a:effectLst/>
                <a:latin typeface="Consolas" panose="020B0609020204030204" pitchFamily="49" charset="0"/>
              </a:rPr>
              <a:t>,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order_id</a:t>
            </a:r>
            <a:r>
              <a:rPr lang="en-IN" sz="1800" dirty="0">
                <a:effectLst/>
                <a:latin typeface="Consolas" panose="020B0609020204030204" pitchFamily="49" charset="0"/>
              </a:rPr>
              <a:t>,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invoice_no</a:t>
            </a:r>
            <a:r>
              <a:rPr lang="en-IN" sz="1800" dirty="0">
                <a:effectLst/>
                <a:latin typeface="Consolas" panose="020B0609020204030204" pitchFamily="49" charset="0"/>
              </a:rPr>
              <a:t>)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	Frequently filtered columns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	Join keys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Avoid Z-ORDER on: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	Low-cardinality columns (gender, status)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	Constantly changing columns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Basic Syntax of Z-Ordering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	OPTIMIZE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table_name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effectLst/>
                <a:latin typeface="Consolas" panose="020B0609020204030204" pitchFamily="49" charset="0"/>
              </a:rPr>
              <a:t>	ZORDER BY (column1, column2);</a:t>
            </a:r>
            <a:endParaRPr lang="en-IN" sz="1800" dirty="0">
              <a:effectLst/>
              <a:latin typeface="Arial" panose="020B0604020202020204" pitchFamily="34" charset="0"/>
            </a:endParaRPr>
          </a:p>
          <a:p>
            <a:endParaRPr lang="en-US" sz="8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472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Difference Between Partitioning and Z-Ordering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C8962A-7CF6-78AA-074C-3E860FE7E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222778"/>
              </p:ext>
            </p:extLst>
          </p:nvPr>
        </p:nvGraphicFramePr>
        <p:xfrm>
          <a:off x="429768" y="967137"/>
          <a:ext cx="10131426" cy="21031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649837191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118604979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9348898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Partitioning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Z-Ordering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5790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Heavy physical re-organization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Light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46091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Low-cardinality columns (year, month)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High-cardinality columns (customer_id, product_id)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7063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Removes data?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Yes (prunes partitions)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Yes (skips files)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055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When to 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High-cardinality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Rarely used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975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8220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0991088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Auto Loader in Databricks?</a:t>
            </a:r>
          </a:p>
          <a:p>
            <a:pPr>
              <a:spcBef>
                <a:spcPts val="600"/>
              </a:spcBef>
            </a:pPr>
            <a:r>
              <a:rPr lang="en-US" b="1" dirty="0"/>
              <a:t>Auto Loader</a:t>
            </a:r>
            <a:r>
              <a:rPr lang="en-US" dirty="0"/>
              <a:t> is a Databricks feature used to </a:t>
            </a:r>
            <a:r>
              <a:rPr lang="en-US" b="1" dirty="0"/>
              <a:t>automatically ingest new files</a:t>
            </a:r>
            <a:r>
              <a:rPr lang="en-US" dirty="0"/>
              <a:t> from cloud storage (ADLS, S3, GCS) </a:t>
            </a:r>
            <a:r>
              <a:rPr lang="en-US" b="1" dirty="0"/>
              <a:t>incrementally and efficiently</a:t>
            </a:r>
            <a:r>
              <a:rPr lang="en-US" dirty="0"/>
              <a:t> into Delta tables using </a:t>
            </a:r>
            <a:r>
              <a:rPr lang="en-US" b="1" dirty="0"/>
              <a:t>Structured Streaming</a:t>
            </a:r>
            <a:r>
              <a:rPr lang="en-US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40D4E7-EE9E-ED8D-FFE6-CB4E8AD8A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30546"/>
              </p:ext>
            </p:extLst>
          </p:nvPr>
        </p:nvGraphicFramePr>
        <p:xfrm>
          <a:off x="429768" y="1662081"/>
          <a:ext cx="10131424" cy="27432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058508466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8902268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8979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Incremental Processing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Reads only </a:t>
                      </a:r>
                      <a:r>
                        <a:rPr lang="en-US" sz="1800" b="1"/>
                        <a:t>new</a:t>
                      </a:r>
                      <a:r>
                        <a:rPr lang="en-US" sz="1800"/>
                        <a:t> files arriving in a folder.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5186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Schema Evolution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Automatically detects new columns.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892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High Performance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file notification or directory listing for efficiency.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18982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 dirty="0"/>
                        <a:t>Exactly-Once Processing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checkpoints &amp; metadata to avoid duplicate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2929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 b="1"/>
                        <a:t>Supports CSV, JSON, Parquet, Avro</a:t>
                      </a:r>
                      <a:endParaRPr lang="fr-F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Multiple file formats.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750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340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0991088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Auto Loader in Databricks?</a:t>
            </a:r>
          </a:p>
          <a:p>
            <a:pPr>
              <a:spcBef>
                <a:spcPts val="600"/>
              </a:spcBef>
            </a:pPr>
            <a:r>
              <a:rPr lang="en-US" b="1" dirty="0"/>
              <a:t>Auto Loader</a:t>
            </a:r>
            <a:r>
              <a:rPr lang="en-US" dirty="0"/>
              <a:t> is a Databricks feature used to </a:t>
            </a:r>
            <a:r>
              <a:rPr lang="en-US" b="1" dirty="0"/>
              <a:t>automatically ingest new files</a:t>
            </a:r>
            <a:r>
              <a:rPr lang="en-US" dirty="0"/>
              <a:t> from cloud storage (ADLS, S3, GCS) </a:t>
            </a:r>
            <a:r>
              <a:rPr lang="en-US" b="1" dirty="0"/>
              <a:t>incrementally and efficiently</a:t>
            </a:r>
            <a:r>
              <a:rPr lang="en-US" dirty="0"/>
              <a:t> into Delta tables using </a:t>
            </a:r>
            <a:r>
              <a:rPr lang="en-US" b="1" dirty="0"/>
              <a:t>Structured Streaming</a:t>
            </a:r>
            <a:r>
              <a:rPr lang="en-US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40D4E7-EE9E-ED8D-FFE6-CB4E8AD8AF4F}"/>
              </a:ext>
            </a:extLst>
          </p:cNvPr>
          <p:cNvGraphicFramePr>
            <a:graphicFrameLocks noGrp="1"/>
          </p:cNvGraphicFramePr>
          <p:nvPr/>
        </p:nvGraphicFramePr>
        <p:xfrm>
          <a:off x="429768" y="1662081"/>
          <a:ext cx="10131424" cy="27432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058508466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8902268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8979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Incremental Processing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Reads only </a:t>
                      </a:r>
                      <a:r>
                        <a:rPr lang="en-US" sz="1800" b="1"/>
                        <a:t>new</a:t>
                      </a:r>
                      <a:r>
                        <a:rPr lang="en-US" sz="1800"/>
                        <a:t> files arriving in a folder.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5186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Schema Evolution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Automatically detects new columns.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892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High Performance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file notification or directory listing for efficiency.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18982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 dirty="0"/>
                        <a:t>Exactly-Once Processing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checkpoints &amp; metadata to avoid duplicate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2929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 b="1"/>
                        <a:t>Supports CSV, JSON, Parquet, Avro</a:t>
                      </a:r>
                      <a:endParaRPr lang="fr-F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Multiple file formats.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750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29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D73BB9-E958-D203-99C5-2AF4DEDDF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85940"/>
              </p:ext>
            </p:extLst>
          </p:nvPr>
        </p:nvGraphicFramePr>
        <p:xfrm>
          <a:off x="493776" y="509937"/>
          <a:ext cx="8110728" cy="2194560"/>
        </p:xfrm>
        <a:graphic>
          <a:graphicData uri="http://schemas.openxmlformats.org/drawingml/2006/table">
            <a:tbl>
              <a:tblPr/>
              <a:tblGrid>
                <a:gridCol w="4055364">
                  <a:extLst>
                    <a:ext uri="{9D8B030D-6E8A-4147-A177-3AD203B41FA5}">
                      <a16:colId xmlns:a16="http://schemas.microsoft.com/office/drawing/2014/main" val="1920724042"/>
                    </a:ext>
                  </a:extLst>
                </a:gridCol>
                <a:gridCol w="4055364">
                  <a:extLst>
                    <a:ext uri="{9D8B030D-6E8A-4147-A177-3AD203B41FA5}">
                      <a16:colId xmlns:a16="http://schemas.microsoft.com/office/drawing/2014/main" val="285510517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Recommended?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565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Lots of new files arriving daily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7557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Continuous ingestion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7148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Schema changing over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8424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Large CSV/JSON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3841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Only one-time ingestion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Not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83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847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the Delta Table Transaction Log?</a:t>
            </a:r>
          </a:p>
          <a:p>
            <a:r>
              <a:rPr lang="en-US" dirty="0"/>
              <a:t>	Every Delta table has a special folder called:</a:t>
            </a:r>
          </a:p>
          <a:p>
            <a:endParaRPr lang="en-US" sz="800" dirty="0"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ABD56-F2C2-5B57-3D6E-F07326D899FC}"/>
              </a:ext>
            </a:extLst>
          </p:cNvPr>
          <p:cNvSpPr txBox="1"/>
          <p:nvPr/>
        </p:nvSpPr>
        <p:spPr>
          <a:xfrm>
            <a:off x="770382" y="90481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</a:t>
            </a:r>
            <a:r>
              <a:rPr lang="en-IN" dirty="0" err="1"/>
              <a:t>table_path</a:t>
            </a:r>
            <a:r>
              <a:rPr lang="en-IN" dirty="0"/>
              <a:t>&gt;/_</a:t>
            </a:r>
            <a:r>
              <a:rPr lang="en-IN" dirty="0" err="1"/>
              <a:t>delta_log</a:t>
            </a:r>
            <a:r>
              <a:rPr lang="en-IN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E51B8-17E2-87E1-DAFA-C32D679C0898}"/>
              </a:ext>
            </a:extLst>
          </p:cNvPr>
          <p:cNvSpPr txBox="1"/>
          <p:nvPr/>
        </p:nvSpPr>
        <p:spPr>
          <a:xfrm>
            <a:off x="450342" y="1572090"/>
            <a:ext cx="78706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folder stores </a:t>
            </a:r>
            <a:r>
              <a:rPr lang="en-IN" b="1" dirty="0"/>
              <a:t>transaction metadata</a:t>
            </a:r>
            <a:r>
              <a:rPr lang="en-IN" dirty="0"/>
              <a:t> so that Delta Lake can guarantee:</a:t>
            </a:r>
          </a:p>
          <a:p>
            <a:pPr lvl="1"/>
            <a:r>
              <a:rPr lang="en-IN" dirty="0"/>
              <a:t>✔ ACID transactions</a:t>
            </a:r>
            <a:br>
              <a:rPr lang="en-IN" dirty="0"/>
            </a:br>
            <a:r>
              <a:rPr lang="en-IN" dirty="0"/>
              <a:t>✔ Time travel</a:t>
            </a:r>
            <a:br>
              <a:rPr lang="en-IN" dirty="0"/>
            </a:br>
            <a:r>
              <a:rPr lang="en-IN" dirty="0"/>
              <a:t>✔ Schema enforcement</a:t>
            </a:r>
            <a:br>
              <a:rPr lang="en-IN" dirty="0"/>
            </a:br>
            <a:r>
              <a:rPr lang="en-IN" dirty="0"/>
              <a:t>✔ Concurrency control</a:t>
            </a:r>
            <a:br>
              <a:rPr lang="en-IN" dirty="0"/>
            </a:br>
            <a:r>
              <a:rPr lang="en-IN" dirty="0"/>
              <a:t>✔ File-based versioning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5CE62-15F5-CF98-3C5B-963C2EA1FEBC}"/>
              </a:ext>
            </a:extLst>
          </p:cNvPr>
          <p:cNvSpPr txBox="1"/>
          <p:nvPr/>
        </p:nvSpPr>
        <p:spPr>
          <a:xfrm>
            <a:off x="770382" y="3531585"/>
            <a:ext cx="60944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_</a:t>
            </a:r>
            <a:r>
              <a:rPr lang="en-IN" dirty="0" err="1"/>
              <a:t>delta_log</a:t>
            </a:r>
            <a:r>
              <a:rPr lang="en-IN" dirty="0"/>
              <a:t>/</a:t>
            </a:r>
          </a:p>
          <a:p>
            <a:r>
              <a:rPr lang="en-IN" dirty="0"/>
              <a:t>    00000000000000000000.json</a:t>
            </a:r>
          </a:p>
          <a:p>
            <a:r>
              <a:rPr lang="en-IN" dirty="0"/>
              <a:t>    00000000000000000001.json</a:t>
            </a:r>
          </a:p>
          <a:p>
            <a:r>
              <a:rPr lang="en-IN" dirty="0"/>
              <a:t>    00000000000000000002.json</a:t>
            </a:r>
          </a:p>
          <a:p>
            <a:r>
              <a:rPr lang="en-IN" dirty="0"/>
              <a:t>    ...</a:t>
            </a:r>
          </a:p>
          <a:p>
            <a:r>
              <a:rPr lang="en-IN" dirty="0"/>
              <a:t>    00000000000000000100.checkpoint.parquet</a:t>
            </a:r>
          </a:p>
          <a:p>
            <a:r>
              <a:rPr lang="en-IN" dirty="0"/>
              <a:t>    00000000000000000100.json</a:t>
            </a:r>
          </a:p>
          <a:p>
            <a:r>
              <a:rPr lang="en-IN" dirty="0"/>
              <a:t>    00000000000000000101.json</a:t>
            </a:r>
          </a:p>
          <a:p>
            <a:r>
              <a:rPr lang="en-IN" dirty="0"/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346477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CB1308-46EB-E8BD-A145-35735BD29DCF}"/>
              </a:ext>
            </a:extLst>
          </p:cNvPr>
          <p:cNvSpPr txBox="1"/>
          <p:nvPr/>
        </p:nvSpPr>
        <p:spPr>
          <a:xfrm>
            <a:off x="148590" y="293269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How Delta Reads the Log</a:t>
            </a:r>
          </a:p>
          <a:p>
            <a:r>
              <a:rPr lang="en-IN" dirty="0"/>
              <a:t>When a query runs:	</a:t>
            </a:r>
          </a:p>
          <a:p>
            <a:r>
              <a:rPr lang="en-IN" dirty="0"/>
              <a:t>	Delta looks at _</a:t>
            </a:r>
            <a:r>
              <a:rPr lang="en-IN" dirty="0" err="1"/>
              <a:t>last_checkpoint</a:t>
            </a:r>
            <a:endParaRPr lang="en-IN" dirty="0"/>
          </a:p>
          <a:p>
            <a:r>
              <a:rPr lang="en-IN" dirty="0"/>
              <a:t>	Loads the latest checkpoint parquet</a:t>
            </a:r>
          </a:p>
          <a:p>
            <a:r>
              <a:rPr lang="en-IN" dirty="0"/>
              <a:t>	Applies JSON commits after that checkpoint</a:t>
            </a:r>
          </a:p>
          <a:p>
            <a:r>
              <a:rPr lang="en-IN" dirty="0"/>
              <a:t>	Gets the final table state → used for reading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13F327-E9BA-2A91-0A45-496D24F8C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876771"/>
              </p:ext>
            </p:extLst>
          </p:nvPr>
        </p:nvGraphicFramePr>
        <p:xfrm>
          <a:off x="228600" y="2320449"/>
          <a:ext cx="10131426" cy="356616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276363117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91734062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90239119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File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Contents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8064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*.json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Incremental commit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add, remove, schema, protocol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65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*.checkpoint.parquet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Full table snapshot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Active files, schema, 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9133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_last_checkpoint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Pointer to latest checkpoint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Checkpoint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071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Add new data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statistics + 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4389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Remove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marks deletion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05042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Table schema &amp; properties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schemaString, partition, properties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33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protocol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Writer/reader compatibility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min versions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404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txn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Prevent duplicates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streaming idempotency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76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921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Delta Log Components</a:t>
            </a:r>
          </a:p>
          <a:p>
            <a:endParaRPr lang="en-US" b="1" dirty="0"/>
          </a:p>
          <a:p>
            <a:r>
              <a:rPr lang="en-US" b="1" dirty="0"/>
              <a:t>JSON Commit Files</a:t>
            </a:r>
          </a:p>
          <a:p>
            <a:r>
              <a:rPr lang="en-US" dirty="0"/>
              <a:t>	Each transaction creates one </a:t>
            </a:r>
            <a:r>
              <a:rPr lang="en-US" b="1" dirty="0"/>
              <a:t>atomic JSON file</a:t>
            </a:r>
            <a:r>
              <a:rPr lang="en-US" dirty="0"/>
              <a:t>.</a:t>
            </a:r>
          </a:p>
          <a:p>
            <a:endParaRPr lang="en-IN" dirty="0"/>
          </a:p>
          <a:p>
            <a:r>
              <a:rPr lang="en-IN" dirty="0"/>
              <a:t>Each file contains </a:t>
            </a:r>
            <a:r>
              <a:rPr lang="en-IN" b="1" dirty="0"/>
              <a:t>actions</a:t>
            </a:r>
            <a:r>
              <a:rPr lang="en-IN" dirty="0"/>
              <a:t> describing table changes:</a:t>
            </a:r>
          </a:p>
          <a:p>
            <a:endParaRPr lang="en-US" dirty="0"/>
          </a:p>
          <a:p>
            <a:endParaRPr lang="en-US" sz="800" dirty="0"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531CFB-E652-1B4D-D680-1125BD49A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349289"/>
              </p:ext>
            </p:extLst>
          </p:nvPr>
        </p:nvGraphicFramePr>
        <p:xfrm>
          <a:off x="356616" y="2238153"/>
          <a:ext cx="10954512" cy="2834640"/>
        </p:xfrm>
        <a:graphic>
          <a:graphicData uri="http://schemas.openxmlformats.org/drawingml/2006/table">
            <a:tbl>
              <a:tblPr/>
              <a:tblGrid>
                <a:gridCol w="5477256">
                  <a:extLst>
                    <a:ext uri="{9D8B030D-6E8A-4147-A177-3AD203B41FA5}">
                      <a16:colId xmlns:a16="http://schemas.microsoft.com/office/drawing/2014/main" val="1947067919"/>
                    </a:ext>
                  </a:extLst>
                </a:gridCol>
                <a:gridCol w="5477256">
                  <a:extLst>
                    <a:ext uri="{9D8B030D-6E8A-4147-A177-3AD203B41FA5}">
                      <a16:colId xmlns:a16="http://schemas.microsoft.com/office/drawing/2014/main" val="156542504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5704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add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New data files added to the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5742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remove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files removed (due to update/delete/merge/compaction)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3522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metaData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Table schema, partitioning, properties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3412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protocol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Delta protocol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7251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txn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Transaction info (used for idempotency)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6895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checksum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Integrity verification (in latest versions)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7183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A2A4C6D-FF24-2768-B3C7-ADC55F9344F6}"/>
              </a:ext>
            </a:extLst>
          </p:cNvPr>
          <p:cNvSpPr txBox="1"/>
          <p:nvPr/>
        </p:nvSpPr>
        <p:spPr>
          <a:xfrm>
            <a:off x="356616" y="525199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add → new data files added  </a:t>
            </a:r>
          </a:p>
          <a:p>
            <a:r>
              <a:rPr lang="en-IN" dirty="0"/>
              <a:t>remove → old files removed  </a:t>
            </a:r>
          </a:p>
          <a:p>
            <a:r>
              <a:rPr lang="en-IN" dirty="0" err="1"/>
              <a:t>metaData</a:t>
            </a:r>
            <a:r>
              <a:rPr lang="en-IN" dirty="0"/>
              <a:t> → updated schema or partition  </a:t>
            </a:r>
          </a:p>
          <a:p>
            <a:r>
              <a:rPr lang="en-IN" dirty="0"/>
              <a:t>protocol → updated delta version  </a:t>
            </a:r>
          </a:p>
        </p:txBody>
      </p:sp>
    </p:spTree>
    <p:extLst>
      <p:ext uri="{BB962C8B-B14F-4D97-AF65-F5344CB8AC3E}">
        <p14:creationId xmlns:p14="http://schemas.microsoft.com/office/powerpoint/2010/main" val="592056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JSON Commit Files</a:t>
            </a:r>
          </a:p>
          <a:p>
            <a:r>
              <a:rPr lang="en-US" dirty="0"/>
              <a:t>	</a:t>
            </a:r>
            <a:endParaRPr lang="en-US" sz="800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8EF1D-3F85-DA16-AB8A-0AD56F4EAD48}"/>
              </a:ext>
            </a:extLst>
          </p:cNvPr>
          <p:cNvSpPr txBox="1"/>
          <p:nvPr/>
        </p:nvSpPr>
        <p:spPr>
          <a:xfrm>
            <a:off x="1017270" y="966372"/>
            <a:ext cx="819988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{</a:t>
            </a:r>
          </a:p>
          <a:p>
            <a:r>
              <a:rPr lang="en-IN" sz="1600" dirty="0"/>
              <a:t>  "add": {</a:t>
            </a:r>
          </a:p>
          <a:p>
            <a:r>
              <a:rPr lang="en-IN" sz="1600" dirty="0"/>
              <a:t>    "path": "part-0000.snappy.parquet",</a:t>
            </a:r>
          </a:p>
          <a:p>
            <a:r>
              <a:rPr lang="en-IN" sz="1600" dirty="0"/>
              <a:t>    "size": 2048,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modificationTime</a:t>
            </a:r>
            <a:r>
              <a:rPr lang="en-IN" sz="1600" dirty="0"/>
              <a:t>": 1733792800,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dataChange</a:t>
            </a:r>
            <a:r>
              <a:rPr lang="en-IN" sz="1600" dirty="0"/>
              <a:t>": true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}</a:t>
            </a:r>
          </a:p>
          <a:p>
            <a:r>
              <a:rPr lang="en-IN" sz="1600" dirty="0"/>
              <a:t>{</a:t>
            </a:r>
          </a:p>
          <a:p>
            <a:r>
              <a:rPr lang="en-IN" sz="1600" dirty="0"/>
              <a:t>  "</a:t>
            </a:r>
            <a:r>
              <a:rPr lang="en-IN" sz="1600" dirty="0" err="1"/>
              <a:t>metaData</a:t>
            </a:r>
            <a:r>
              <a:rPr lang="en-IN" sz="1600" dirty="0"/>
              <a:t>": {</a:t>
            </a:r>
          </a:p>
          <a:p>
            <a:r>
              <a:rPr lang="en-IN" sz="1600" dirty="0"/>
              <a:t>    "id": "1234-abcd-5678",</a:t>
            </a:r>
          </a:p>
          <a:p>
            <a:r>
              <a:rPr lang="en-IN" sz="1600" dirty="0"/>
              <a:t>    "format": {"provider": "parquet"},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schemaString</a:t>
            </a:r>
            <a:r>
              <a:rPr lang="en-IN" sz="1600" dirty="0"/>
              <a:t>": "{\"type\":\"struct\",\"fields\":[{\"name\":\"id\",\"type\":\"integer\"}]}",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partitionColumns</a:t>
            </a:r>
            <a:r>
              <a:rPr lang="en-IN" sz="1600" dirty="0"/>
              <a:t>": [],</a:t>
            </a:r>
          </a:p>
          <a:p>
            <a:r>
              <a:rPr lang="en-IN" sz="1600" dirty="0"/>
              <a:t>    "configuration": {"</a:t>
            </a:r>
            <a:r>
              <a:rPr lang="en-IN" sz="1600" dirty="0" err="1"/>
              <a:t>delta.appendOnly</a:t>
            </a:r>
            <a:r>
              <a:rPr lang="en-IN" sz="1600" dirty="0"/>
              <a:t>": "true"}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}</a:t>
            </a:r>
          </a:p>
          <a:p>
            <a:r>
              <a:rPr lang="en-IN" sz="1600" dirty="0"/>
              <a:t>{</a:t>
            </a:r>
          </a:p>
          <a:p>
            <a:r>
              <a:rPr lang="en-IN" sz="1600" dirty="0"/>
              <a:t>  "protocol": {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minReaderVersion</a:t>
            </a:r>
            <a:r>
              <a:rPr lang="en-IN" sz="1600" dirty="0"/>
              <a:t>": 1,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minWriterVersion</a:t>
            </a:r>
            <a:r>
              <a:rPr lang="en-IN" sz="1600" dirty="0"/>
              <a:t>": 2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4287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Checkpoints file</a:t>
            </a:r>
          </a:p>
          <a:p>
            <a:pPr>
              <a:spcBef>
                <a:spcPts val="600"/>
              </a:spcBef>
            </a:pPr>
            <a:r>
              <a:rPr lang="en-US" b="1" dirty="0"/>
              <a:t>✔ Purpose: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snapshot</a:t>
            </a:r>
            <a:r>
              <a:rPr lang="en-US" dirty="0"/>
              <a:t> of the table state at a point in time.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Created every </a:t>
            </a:r>
            <a:r>
              <a:rPr lang="en-US" b="1" dirty="0"/>
              <a:t>10 commits</a:t>
            </a:r>
            <a:r>
              <a:rPr lang="en-US" dirty="0"/>
              <a:t> by default.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Speeds up reading (instead of applying all JSON files one by one).</a:t>
            </a:r>
          </a:p>
          <a:p>
            <a:pPr>
              <a:spcBef>
                <a:spcPts val="600"/>
              </a:spcBef>
            </a:pPr>
            <a:r>
              <a:rPr lang="en-US" b="1" dirty="0"/>
              <a:t>✔ Contains: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Full list of </a:t>
            </a:r>
            <a:r>
              <a:rPr lang="en-US" b="1" dirty="0"/>
              <a:t>active data files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 </a:t>
            </a:r>
            <a:r>
              <a:rPr lang="en-US" b="1" dirty="0"/>
              <a:t>schema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 </a:t>
            </a:r>
            <a:r>
              <a:rPr lang="en-US" b="1" dirty="0"/>
              <a:t>version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Partition info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 </a:t>
            </a:r>
            <a:r>
              <a:rPr lang="en-US" b="1" dirty="0"/>
              <a:t>properties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✔ Why Needed?</a:t>
            </a:r>
          </a:p>
          <a:p>
            <a:pPr>
              <a:spcBef>
                <a:spcPts val="600"/>
              </a:spcBef>
            </a:pPr>
            <a:r>
              <a:rPr lang="en-US" dirty="0"/>
              <a:t>Without checkpoints, Delta would need to process thousands of JSON logs → slow.</a:t>
            </a:r>
          </a:p>
          <a:p>
            <a:pPr>
              <a:spcBef>
                <a:spcPts val="600"/>
              </a:spcBef>
            </a:pPr>
            <a:r>
              <a:rPr lang="en-US" dirty="0"/>
              <a:t>Checkpoint = complete state → fast time travel, fast queries.</a:t>
            </a:r>
          </a:p>
          <a:p>
            <a:pPr>
              <a:spcBef>
                <a:spcPts val="600"/>
              </a:spcBef>
            </a:pPr>
            <a:r>
              <a:rPr lang="en-US" dirty="0"/>
              <a:t>actions up to that version.	</a:t>
            </a:r>
            <a:endParaRPr lang="en-US" sz="8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681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_</a:t>
            </a:r>
            <a:r>
              <a:rPr lang="en-IN" dirty="0" err="1"/>
              <a:t>last_checkpoint</a:t>
            </a:r>
            <a:r>
              <a:rPr lang="en-IN" dirty="0"/>
              <a:t> File</a:t>
            </a:r>
          </a:p>
          <a:p>
            <a:endParaRPr lang="en-IN" dirty="0"/>
          </a:p>
          <a:p>
            <a:r>
              <a:rPr lang="en-US" b="1" dirty="0"/>
              <a:t>✔ Purpose:</a:t>
            </a:r>
          </a:p>
          <a:p>
            <a:r>
              <a:rPr lang="en-US" dirty="0"/>
              <a:t>	Points to the </a:t>
            </a:r>
            <a:r>
              <a:rPr lang="en-US" b="1" dirty="0"/>
              <a:t>latest checkpoint file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_</a:t>
            </a:r>
            <a:r>
              <a:rPr lang="en-US" dirty="0" err="1">
                <a:effectLst/>
                <a:latin typeface="Arial" panose="020B0604020202020204" pitchFamily="34" charset="0"/>
              </a:rPr>
              <a:t>last_checkpoint</a:t>
            </a:r>
            <a:endParaRPr lang="en-US" dirty="0">
              <a:effectLst/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IN" dirty="0"/>
              <a:t>Contains:</a:t>
            </a:r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{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  "version": 20,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  "size": 3,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  "parts": 1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}</a:t>
            </a:r>
          </a:p>
          <a:p>
            <a:endParaRPr lang="en-US" dirty="0">
              <a:effectLst/>
              <a:latin typeface="Arial" panose="020B0604020202020204" pitchFamily="34" charset="0"/>
            </a:endParaRPr>
          </a:p>
          <a:p>
            <a:endParaRPr lang="en-US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499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878509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What is Medallion (Bronze–Silver–Gold) Architecture?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In Databricks / Delta Lake, Medallion architecture is a way to structure your data in layers:</a:t>
            </a:r>
          </a:p>
          <a:p>
            <a:endParaRPr lang="en-US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Bronze (Raw)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What: Raw ingested data, almost as-is from source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Goal: Ingest everything reliably &amp; cheaply (append-only)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Typical format: Delta, “one row = one event/record”</a:t>
            </a:r>
          </a:p>
          <a:p>
            <a:endParaRPr lang="en-US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Silver (Refined / Conformed)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What: Cleaned, de-duplicated, standardized data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Goal: Business-ready, joinable tables (e.g., orders, customers, products)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Ops: Data quality checks, type casting, deduplication, CDC merges, etc.</a:t>
            </a:r>
          </a:p>
          <a:p>
            <a:endParaRPr lang="en-US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Gold (Business / Analytics)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What: Aggregated, curated datasets for reports, dashboards, ML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Goal: Directly usable by BI tools / business teams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Ops: Aggregations by date, region, category, customer 360, etc.</a:t>
            </a:r>
          </a:p>
          <a:p>
            <a:endParaRPr lang="en-US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Think of it as:</a:t>
            </a:r>
          </a:p>
          <a:p>
            <a:r>
              <a:rPr lang="en-US" dirty="0">
                <a:effectLst/>
                <a:latin typeface="Arial" panose="020B0604020202020204" pitchFamily="34" charset="0"/>
              </a:rPr>
              <a:t>	Source Systems → Bronze (raw) → Silver (clean) → Gold (aggregated)</a:t>
            </a:r>
          </a:p>
          <a:p>
            <a:endParaRPr lang="en-US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267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1356848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VACUUM</a:t>
            </a:r>
            <a:r>
              <a:rPr lang="en-US" dirty="0"/>
              <a:t> is a Delta Lake command used to </a:t>
            </a:r>
            <a:r>
              <a:rPr lang="en-US" b="1" dirty="0"/>
              <a:t>remove old data files</a:t>
            </a:r>
            <a:r>
              <a:rPr lang="en-US" dirty="0"/>
              <a:t> that are </a:t>
            </a:r>
            <a:r>
              <a:rPr lang="en-US" b="1" dirty="0"/>
              <a:t>no longer needed</a:t>
            </a:r>
            <a:r>
              <a:rPr lang="en-US" dirty="0"/>
              <a:t> by the Delta table.</a:t>
            </a:r>
          </a:p>
          <a:p>
            <a:pPr>
              <a:spcBef>
                <a:spcPts val="600"/>
              </a:spcBef>
            </a:pPr>
            <a:r>
              <a:rPr lang="en-US" dirty="0"/>
              <a:t>Delta tables keep version history for: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Rollbacks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Streaming reads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MERGE operations</a:t>
            </a:r>
          </a:p>
          <a:p>
            <a:pPr>
              <a:spcBef>
                <a:spcPts val="600"/>
              </a:spcBef>
            </a:pPr>
            <a:r>
              <a:rPr lang="en-US" dirty="0"/>
              <a:t>When data is updated or deleted, </a:t>
            </a:r>
            <a:r>
              <a:rPr lang="en-US" b="1" dirty="0"/>
              <a:t>Delta Lake does NOT remove old files immediately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VACUUM cleans unnecessary files and frees storage.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Why VACUUM is Required?</a:t>
            </a:r>
          </a:p>
          <a:p>
            <a:pPr>
              <a:spcBef>
                <a:spcPts val="600"/>
              </a:spcBef>
            </a:pPr>
            <a:r>
              <a:rPr lang="en-US" b="1" dirty="0"/>
              <a:t>	✔ Reduces storage cost</a:t>
            </a:r>
          </a:p>
          <a:p>
            <a:pPr>
              <a:spcBef>
                <a:spcPts val="600"/>
              </a:spcBef>
            </a:pPr>
            <a:r>
              <a:rPr lang="en-US" b="1" dirty="0"/>
              <a:t>	✔ Improves read performance</a:t>
            </a:r>
          </a:p>
          <a:p>
            <a:pPr>
              <a:spcBef>
                <a:spcPts val="600"/>
              </a:spcBef>
            </a:pPr>
            <a:r>
              <a:rPr lang="en-US" b="1" dirty="0"/>
              <a:t>	✔ Avoids old snapshot accumulation</a:t>
            </a:r>
          </a:p>
          <a:p>
            <a:pPr>
              <a:spcBef>
                <a:spcPts val="600"/>
              </a:spcBef>
            </a:pPr>
            <a:r>
              <a:rPr lang="en-US" b="1" dirty="0"/>
              <a:t>	✔ Keeps table storage clean</a:t>
            </a:r>
          </a:p>
        </p:txBody>
      </p:sp>
    </p:spTree>
    <p:extLst>
      <p:ext uri="{BB962C8B-B14F-4D97-AF65-F5344CB8AC3E}">
        <p14:creationId xmlns:p14="http://schemas.microsoft.com/office/powerpoint/2010/main" val="257447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1356848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Delta Lake stores: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	1. Data files (Parquet) Actual table data.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	2. Transaction logs Located in _</a:t>
            </a:r>
            <a:r>
              <a:rPr lang="en-US" dirty="0" err="1">
                <a:effectLst/>
                <a:latin typeface="Arial" panose="020B0604020202020204" pitchFamily="34" charset="0"/>
              </a:rPr>
              <a:t>delta_log</a:t>
            </a:r>
            <a:r>
              <a:rPr lang="en-US" dirty="0">
                <a:effectLst/>
                <a:latin typeface="Arial" panose="020B0604020202020204" pitchFamily="34" charset="0"/>
              </a:rPr>
              <a:t>/</a:t>
            </a:r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VACUUM only affects unused data files, NOT the transaction logs.</a:t>
            </a:r>
          </a:p>
          <a:p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Default Retention Period</a:t>
            </a:r>
          </a:p>
          <a:p>
            <a:pPr>
              <a:spcBef>
                <a:spcPts val="600"/>
              </a:spcBef>
            </a:pPr>
            <a:r>
              <a:rPr lang="en-US" dirty="0"/>
              <a:t>	Delta Lake </a:t>
            </a:r>
            <a:r>
              <a:rPr lang="en-US" b="1" dirty="0"/>
              <a:t>keeps 7 days</a:t>
            </a:r>
            <a:r>
              <a:rPr lang="en-US" dirty="0"/>
              <a:t> of history by default.</a:t>
            </a:r>
          </a:p>
          <a:p>
            <a:pPr>
              <a:spcBef>
                <a:spcPts val="600"/>
              </a:spcBef>
            </a:pPr>
            <a:r>
              <a:rPr lang="en-US" dirty="0"/>
              <a:t>	VACUUM only deletes files </a:t>
            </a:r>
            <a:r>
              <a:rPr lang="en-US" b="1" dirty="0"/>
              <a:t>older than 7 days</a:t>
            </a:r>
            <a:r>
              <a:rPr lang="en-US" dirty="0"/>
              <a:t> unless explicitly overridden.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How Delta Lake Stores Files (Important)</a:t>
            </a:r>
          </a:p>
          <a:p>
            <a:pPr>
              <a:spcBef>
                <a:spcPts val="600"/>
              </a:spcBef>
            </a:pPr>
            <a:r>
              <a:rPr lang="en-US" dirty="0"/>
              <a:t>Basic VACUUM Command</a:t>
            </a:r>
          </a:p>
          <a:p>
            <a:pPr>
              <a:spcBef>
                <a:spcPts val="600"/>
              </a:spcBef>
            </a:pPr>
            <a:r>
              <a:rPr lang="en-US" dirty="0"/>
              <a:t>VACUUM delta.`/</a:t>
            </a:r>
            <a:r>
              <a:rPr lang="en-US" dirty="0" err="1"/>
              <a:t>mnt</a:t>
            </a:r>
            <a:r>
              <a:rPr lang="en-US" dirty="0"/>
              <a:t>/silver/sales` ;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or using a Delta table name:</a:t>
            </a:r>
          </a:p>
          <a:p>
            <a:pPr>
              <a:spcBef>
                <a:spcPts val="600"/>
              </a:spcBef>
            </a:pPr>
            <a:r>
              <a:rPr lang="en-US" dirty="0"/>
              <a:t>VACUUM </a:t>
            </a:r>
            <a:r>
              <a:rPr lang="en-US" dirty="0" err="1"/>
              <a:t>silver.sales</a:t>
            </a:r>
            <a:r>
              <a:rPr lang="en-US" dirty="0"/>
              <a:t>;</a:t>
            </a:r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333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1356848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effectLst/>
                <a:latin typeface="Arial" panose="020B0604020202020204" pitchFamily="34" charset="0"/>
              </a:rPr>
              <a:t>VACUUM With Retention Period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Delete files older than 30 days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	VACUUM </a:t>
            </a:r>
            <a:r>
              <a:rPr lang="en-US" dirty="0" err="1">
                <a:effectLst/>
                <a:latin typeface="Arial" panose="020B0604020202020204" pitchFamily="34" charset="0"/>
              </a:rPr>
              <a:t>silver.sales</a:t>
            </a:r>
            <a:r>
              <a:rPr lang="en-US" dirty="0">
                <a:effectLst/>
                <a:latin typeface="Arial" panose="020B0604020202020204" pitchFamily="34" charset="0"/>
              </a:rPr>
              <a:t> RETAIN 720 HOURS;  --(30 days × 24 = 720)</a:t>
            </a:r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Delete files older than 1 hour (very risky)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	VACUUM </a:t>
            </a:r>
            <a:r>
              <a:rPr lang="en-US" dirty="0" err="1">
                <a:effectLst/>
                <a:latin typeface="Arial" panose="020B0604020202020204" pitchFamily="34" charset="0"/>
              </a:rPr>
              <a:t>silver.sales</a:t>
            </a:r>
            <a:r>
              <a:rPr lang="en-US" dirty="0">
                <a:effectLst/>
                <a:latin typeface="Arial" panose="020B0604020202020204" pitchFamily="34" charset="0"/>
              </a:rPr>
              <a:t> RETAIN 1 HOURS;</a:t>
            </a:r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effectLst/>
                <a:latin typeface="Arial" panose="020B0604020202020204" pitchFamily="34" charset="0"/>
              </a:rPr>
              <a:t>⚠ VERY IMPORTANT</a:t>
            </a:r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Delta Lake will NOT allow retention &lt; 168 hours (7 days)  unless you disable retention check.</a:t>
            </a:r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Force VACUUM with &lt;7 days retention (Advanced)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Step 1 — Disable retention check: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	SET </a:t>
            </a:r>
            <a:r>
              <a:rPr lang="en-US" dirty="0" err="1">
                <a:effectLst/>
                <a:latin typeface="Arial" panose="020B0604020202020204" pitchFamily="34" charset="0"/>
              </a:rPr>
              <a:t>spark.databricks.delta.retentionDurationCheck.enabled</a:t>
            </a:r>
            <a:r>
              <a:rPr lang="en-US" dirty="0">
                <a:effectLst/>
                <a:latin typeface="Arial" panose="020B0604020202020204" pitchFamily="34" charset="0"/>
              </a:rPr>
              <a:t> = false;</a:t>
            </a:r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Step 2 — Run VACUUM: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	VACUUM </a:t>
            </a:r>
            <a:r>
              <a:rPr lang="en-US" dirty="0" err="1">
                <a:effectLst/>
                <a:latin typeface="Arial" panose="020B0604020202020204" pitchFamily="34" charset="0"/>
              </a:rPr>
              <a:t>silver.sales</a:t>
            </a:r>
            <a:r>
              <a:rPr lang="en-US" dirty="0">
                <a:effectLst/>
                <a:latin typeface="Arial" panose="020B0604020202020204" pitchFamily="34" charset="0"/>
              </a:rPr>
              <a:t> RETAIN 1 HOURS;</a:t>
            </a:r>
          </a:p>
        </p:txBody>
      </p:sp>
    </p:spTree>
    <p:extLst>
      <p:ext uri="{BB962C8B-B14F-4D97-AF65-F5344CB8AC3E}">
        <p14:creationId xmlns:p14="http://schemas.microsoft.com/office/powerpoint/2010/main" val="2705049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1356848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effectLst/>
                <a:latin typeface="Arial" panose="020B0604020202020204" pitchFamily="34" charset="0"/>
              </a:rPr>
              <a:t>Check How Many Files Can Be Vacuumed</a:t>
            </a:r>
          </a:p>
          <a:p>
            <a:pPr>
              <a:spcBef>
                <a:spcPts val="600"/>
              </a:spcBef>
            </a:pPr>
            <a:r>
              <a:rPr lang="en-US" dirty="0">
                <a:effectLst/>
                <a:latin typeface="Arial" panose="020B0604020202020204" pitchFamily="34" charset="0"/>
              </a:rPr>
              <a:t>	VACUUM </a:t>
            </a:r>
            <a:r>
              <a:rPr lang="en-US" dirty="0" err="1">
                <a:effectLst/>
                <a:latin typeface="Arial" panose="020B0604020202020204" pitchFamily="34" charset="0"/>
              </a:rPr>
              <a:t>silver.sales</a:t>
            </a:r>
            <a:r>
              <a:rPr lang="en-US" dirty="0">
                <a:effectLst/>
                <a:latin typeface="Arial" panose="020B0604020202020204" pitchFamily="34" charset="0"/>
              </a:rPr>
              <a:t> DRY RUN;</a:t>
            </a:r>
          </a:p>
          <a:p>
            <a:pPr>
              <a:spcBef>
                <a:spcPts val="600"/>
              </a:spcBef>
            </a:pPr>
            <a:r>
              <a:rPr lang="en-US" dirty="0"/>
              <a:t>This shows which files </a:t>
            </a:r>
            <a:r>
              <a:rPr lang="en-US" b="1" dirty="0"/>
              <a:t>would</a:t>
            </a:r>
            <a:r>
              <a:rPr lang="en-US" dirty="0"/>
              <a:t> be deleted, but does NOT delete them.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When to Run VACUUM?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After large delete or update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After MERGE operations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When storage cost increases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After archiving old partitions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Regular cleanup (nightly or weekly)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949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135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VACUUM Limitations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CEB2E9-A499-3F2C-A7FB-E6226ED2D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629097"/>
              </p:ext>
            </p:extLst>
          </p:nvPr>
        </p:nvGraphicFramePr>
        <p:xfrm>
          <a:off x="356616" y="1234440"/>
          <a:ext cx="10131424" cy="21945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52075457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0805749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Supported?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8719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Deletes unused Parquet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453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Deletes delta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1865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Works with streaming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6781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Force vacuum smaller than 7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Yes (unsafe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341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Needed for Auto Loader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21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942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135684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Liquid Clustering</a:t>
            </a:r>
          </a:p>
          <a:p>
            <a:pPr>
              <a:spcBef>
                <a:spcPts val="600"/>
              </a:spcBef>
            </a:pPr>
            <a:r>
              <a:rPr lang="en-US" b="1" dirty="0"/>
              <a:t>Liquid Clustering</a:t>
            </a:r>
            <a:r>
              <a:rPr lang="en-US" dirty="0"/>
              <a:t> is an </a:t>
            </a:r>
            <a:r>
              <a:rPr lang="en-US" b="1" dirty="0"/>
              <a:t>advanced data layout feature</a:t>
            </a:r>
            <a:r>
              <a:rPr lang="en-US" dirty="0"/>
              <a:t> in Delta Lake on Databricks that automatically organizes your table data to improve </a:t>
            </a:r>
            <a:r>
              <a:rPr lang="en-US" b="1" dirty="0"/>
              <a:t>query performance</a:t>
            </a:r>
            <a:r>
              <a:rPr lang="en-US" dirty="0"/>
              <a:t> — without requiring fixed partitions.</a:t>
            </a:r>
          </a:p>
          <a:p>
            <a:r>
              <a:rPr lang="en-US" b="1" dirty="0"/>
              <a:t>Automatic, flexible, smart partitioning.”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But </a:t>
            </a:r>
            <a:r>
              <a:rPr lang="en-US" b="1" dirty="0"/>
              <a:t>better than traditional partitioning</a:t>
            </a:r>
            <a:r>
              <a:rPr lang="en-US" dirty="0"/>
              <a:t> because:</a:t>
            </a:r>
          </a:p>
          <a:p>
            <a:pPr lvl="1"/>
            <a:r>
              <a:rPr lang="en-US" b="1" dirty="0"/>
              <a:t>No need to choose partitions</a:t>
            </a:r>
          </a:p>
          <a:p>
            <a:pPr lvl="1"/>
            <a:r>
              <a:rPr lang="en-US" b="1" dirty="0"/>
              <a:t>No need to manage too many small partitions</a:t>
            </a:r>
          </a:p>
          <a:p>
            <a:pPr lvl="1"/>
            <a:r>
              <a:rPr lang="en-US" b="1" dirty="0"/>
              <a:t>Automatically adapts when data distribution changes</a:t>
            </a:r>
          </a:p>
          <a:p>
            <a:pPr lvl="1"/>
            <a:r>
              <a:rPr lang="en-US" b="1" dirty="0"/>
              <a:t>Great for large tables (billions of rows)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 Why Liquid Clustering Was Introduced?</a:t>
            </a:r>
          </a:p>
          <a:p>
            <a:pPr>
              <a:spcBef>
                <a:spcPts val="600"/>
              </a:spcBef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5BB7D7-8C3E-C68B-CDDB-B9B4F1D8F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483521"/>
              </p:ext>
            </p:extLst>
          </p:nvPr>
        </p:nvGraphicFramePr>
        <p:xfrm>
          <a:off x="478536" y="4140105"/>
          <a:ext cx="10131424" cy="21031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78011972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9236214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562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Choosing wrong partition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Partition on country → imbalanced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4428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Too many partitions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High metadata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9935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Partition skew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90% of data in 1 partition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2898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Poor performance when querying multiple partitions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Long scans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6926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BA4E17-4EA8-A064-41D5-6FE88041AC8D}"/>
              </a:ext>
            </a:extLst>
          </p:cNvPr>
          <p:cNvSpPr txBox="1"/>
          <p:nvPr/>
        </p:nvSpPr>
        <p:spPr>
          <a:xfrm>
            <a:off x="356616" y="64173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Liquid clustering fixes all of these.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831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F13B-5414-1797-004B-E6905F821476}"/>
              </a:ext>
            </a:extLst>
          </p:cNvPr>
          <p:cNvSpPr txBox="1"/>
          <p:nvPr/>
        </p:nvSpPr>
        <p:spPr>
          <a:xfrm>
            <a:off x="356616" y="320041"/>
            <a:ext cx="11356848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How Liquid Clustering Works</a:t>
            </a: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Instead of large fixed partitions, Databricks: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Breaks data into liquid clusters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Uses clustering keys (e.g., date, </a:t>
            </a:r>
            <a:r>
              <a:rPr lang="en-IN" b="1" dirty="0" err="1"/>
              <a:t>customer_id</a:t>
            </a:r>
            <a:r>
              <a:rPr lang="en-IN" b="1" dirty="0"/>
              <a:t>)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Moves data around to group similar values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Continuously maintains cluster quality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Uses OPTIMIZE to reorganize data</a:t>
            </a:r>
          </a:p>
          <a:p>
            <a:pPr>
              <a:spcBef>
                <a:spcPts val="600"/>
              </a:spcBef>
            </a:pPr>
            <a:r>
              <a:rPr lang="en-IN" dirty="0"/>
              <a:t>A cluster is </a:t>
            </a:r>
            <a:r>
              <a:rPr lang="en-IN" b="1" dirty="0"/>
              <a:t>NOT a partition</a:t>
            </a:r>
            <a:r>
              <a:rPr lang="en-IN" dirty="0"/>
              <a:t>; it's an internal optimization unit.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When to Use Liquid Clustering?</a:t>
            </a:r>
          </a:p>
          <a:p>
            <a:pPr>
              <a:spcBef>
                <a:spcPts val="600"/>
              </a:spcBef>
            </a:pPr>
            <a:r>
              <a:rPr lang="en-IN" b="1" dirty="0"/>
              <a:t>Use Liquid Clustering when: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 Frequent updates/merges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 Very large Delta tables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 Skewed data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 Multi-column filter queries</a:t>
            </a:r>
          </a:p>
          <a:p>
            <a:pPr lvl="1">
              <a:spcBef>
                <a:spcPts val="600"/>
              </a:spcBef>
            </a:pPr>
            <a:r>
              <a:rPr lang="en-IN" b="1" dirty="0"/>
              <a:t> You want ZORDER-like optimization but automated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9187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54F1F2-29BE-C130-D077-5799ACA74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86898"/>
              </p:ext>
            </p:extLst>
          </p:nvPr>
        </p:nvGraphicFramePr>
        <p:xfrm>
          <a:off x="566928" y="866553"/>
          <a:ext cx="10661904" cy="2834640"/>
        </p:xfrm>
        <a:graphic>
          <a:graphicData uri="http://schemas.openxmlformats.org/drawingml/2006/table">
            <a:tbl>
              <a:tblPr/>
              <a:tblGrid>
                <a:gridCol w="3553968">
                  <a:extLst>
                    <a:ext uri="{9D8B030D-6E8A-4147-A177-3AD203B41FA5}">
                      <a16:colId xmlns:a16="http://schemas.microsoft.com/office/drawing/2014/main" val="778880292"/>
                    </a:ext>
                  </a:extLst>
                </a:gridCol>
                <a:gridCol w="3553968">
                  <a:extLst>
                    <a:ext uri="{9D8B030D-6E8A-4147-A177-3AD203B41FA5}">
                      <a16:colId xmlns:a16="http://schemas.microsoft.com/office/drawing/2014/main" val="812290264"/>
                    </a:ext>
                  </a:extLst>
                </a:gridCol>
                <a:gridCol w="3553968">
                  <a:extLst>
                    <a:ext uri="{9D8B030D-6E8A-4147-A177-3AD203B41FA5}">
                      <a16:colId xmlns:a16="http://schemas.microsoft.com/office/drawing/2014/main" val="101776811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Partitioning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Liquid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457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Fixed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2649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Auto adapts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0891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Skew resistant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9714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Multi-column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3243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Write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51289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Query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Excellent (especially for selective queries)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345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477279F-78D2-6E55-86AA-3860397B3E77}"/>
              </a:ext>
            </a:extLst>
          </p:cNvPr>
          <p:cNvSpPr txBox="1"/>
          <p:nvPr/>
        </p:nvSpPr>
        <p:spPr>
          <a:xfrm>
            <a:off x="477774" y="3548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Liquid Clustering vs Partitioning</a:t>
            </a:r>
          </a:p>
        </p:txBody>
      </p:sp>
    </p:spTree>
    <p:extLst>
      <p:ext uri="{BB962C8B-B14F-4D97-AF65-F5344CB8AC3E}">
        <p14:creationId xmlns:p14="http://schemas.microsoft.com/office/powerpoint/2010/main" val="583724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77279F-78D2-6E55-86AA-3860397B3E77}"/>
              </a:ext>
            </a:extLst>
          </p:cNvPr>
          <p:cNvSpPr txBox="1"/>
          <p:nvPr/>
        </p:nvSpPr>
        <p:spPr>
          <a:xfrm>
            <a:off x="477774" y="3548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Liquid Clustering vs </a:t>
            </a:r>
            <a:r>
              <a:rPr lang="en-IN" b="1" dirty="0" err="1"/>
              <a:t>Zorder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E5F240-67AB-14CE-AF14-AFBCC2406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91920"/>
              </p:ext>
            </p:extLst>
          </p:nvPr>
        </p:nvGraphicFramePr>
        <p:xfrm>
          <a:off x="594360" y="939705"/>
          <a:ext cx="10131426" cy="219456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66095891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69461781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91690625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ZORDER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Liquid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754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One-time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(continuous)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071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Automatic 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6816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Multi-column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1096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Read-heavy workloads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Read + write workloads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6578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Rebuild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51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249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77279F-78D2-6E55-86AA-3860397B3E77}"/>
              </a:ext>
            </a:extLst>
          </p:cNvPr>
          <p:cNvSpPr txBox="1"/>
          <p:nvPr/>
        </p:nvSpPr>
        <p:spPr>
          <a:xfrm>
            <a:off x="477774" y="354830"/>
            <a:ext cx="10988802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Medallion Architecture (Bronze–Silver–Gold Model)</a:t>
            </a:r>
          </a:p>
          <a:p>
            <a:endParaRPr lang="en-IN" b="1" dirty="0"/>
          </a:p>
          <a:p>
            <a:r>
              <a:rPr lang="en-IN" b="1" dirty="0"/>
              <a:t>The Medallion Model is a layered data architecture used in modern data platforms (especially Databricks Lakehouse) to systematically organize data as it moves from raw ingestion to business-ready analytics.</a:t>
            </a:r>
          </a:p>
          <a:p>
            <a:r>
              <a:rPr lang="en-IN" b="1" dirty="0"/>
              <a:t>It improves data quality, governance, performance, and scalability.</a:t>
            </a:r>
          </a:p>
          <a:p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Architecture Layers</a:t>
            </a:r>
          </a:p>
          <a:p>
            <a:pPr>
              <a:spcBef>
                <a:spcPts val="600"/>
              </a:spcBef>
            </a:pPr>
            <a:r>
              <a:rPr lang="en-IN" b="1" dirty="0"/>
              <a:t> Bronze Layer – Raw Data</a:t>
            </a:r>
          </a:p>
          <a:p>
            <a:pPr>
              <a:spcBef>
                <a:spcPts val="600"/>
              </a:spcBef>
            </a:pPr>
            <a:r>
              <a:rPr lang="en-IN" b="1" dirty="0"/>
              <a:t>	Stores raw, ingested data exactly as received</a:t>
            </a:r>
          </a:p>
          <a:p>
            <a:pPr>
              <a:spcBef>
                <a:spcPts val="600"/>
              </a:spcBef>
            </a:pPr>
            <a:r>
              <a:rPr lang="en-IN" b="1" dirty="0"/>
              <a:t>	Source formats: CSV, JSON, Parquet, logs, IoT streams, etc.</a:t>
            </a:r>
          </a:p>
          <a:p>
            <a:pPr>
              <a:spcBef>
                <a:spcPts val="600"/>
              </a:spcBef>
            </a:pPr>
            <a:r>
              <a:rPr lang="en-IN" b="1" dirty="0"/>
              <a:t>	Minimal transformations (only ingestion metadata like load time)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Purpose:</a:t>
            </a:r>
          </a:p>
          <a:p>
            <a:pPr>
              <a:spcBef>
                <a:spcPts val="600"/>
              </a:spcBef>
            </a:pPr>
            <a:r>
              <a:rPr lang="en-IN" b="1" dirty="0"/>
              <a:t>	Data traceability &amp; audit</a:t>
            </a:r>
          </a:p>
          <a:p>
            <a:pPr>
              <a:spcBef>
                <a:spcPts val="600"/>
              </a:spcBef>
            </a:pPr>
            <a:r>
              <a:rPr lang="en-IN" b="1" dirty="0"/>
              <a:t>	Reprocessing capability</a:t>
            </a:r>
          </a:p>
          <a:p>
            <a:pPr>
              <a:spcBef>
                <a:spcPts val="600"/>
              </a:spcBef>
            </a:pPr>
            <a:r>
              <a:rPr lang="en-IN" b="1" dirty="0"/>
              <a:t>Example:</a:t>
            </a:r>
          </a:p>
          <a:p>
            <a:pPr>
              <a:spcBef>
                <a:spcPts val="600"/>
              </a:spcBef>
            </a:pPr>
            <a:r>
              <a:rPr lang="en-IN" b="1" dirty="0"/>
              <a:t>	Raw sales transactions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	Source system dumps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🥈</a:t>
            </a:r>
          </a:p>
        </p:txBody>
      </p:sp>
    </p:spTree>
    <p:extLst>
      <p:ext uri="{BB962C8B-B14F-4D97-AF65-F5344CB8AC3E}">
        <p14:creationId xmlns:p14="http://schemas.microsoft.com/office/powerpoint/2010/main" val="3216005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77279F-78D2-6E55-86AA-3860397B3E77}"/>
              </a:ext>
            </a:extLst>
          </p:cNvPr>
          <p:cNvSpPr txBox="1"/>
          <p:nvPr/>
        </p:nvSpPr>
        <p:spPr>
          <a:xfrm>
            <a:off x="477774" y="354830"/>
            <a:ext cx="1098880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Silver Layer – Cleaned &amp; Enriched Data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 is cleaned, validated, and standardized</a:t>
            </a:r>
          </a:p>
          <a:p>
            <a:pPr>
              <a:spcBef>
                <a:spcPts val="600"/>
              </a:spcBef>
            </a:pPr>
            <a:r>
              <a:rPr lang="en-US" b="1" dirty="0"/>
              <a:t>	Business rules applied: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Remove duplicates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Handle nulls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Type casting</a:t>
            </a:r>
          </a:p>
          <a:p>
            <a:pPr>
              <a:spcBef>
                <a:spcPts val="600"/>
              </a:spcBef>
            </a:pPr>
            <a:r>
              <a:rPr lang="en-US" b="1" dirty="0"/>
              <a:t>	Referential integrity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Data from multiple Bronze sources may be joined</a:t>
            </a:r>
          </a:p>
          <a:p>
            <a:pPr>
              <a:spcBef>
                <a:spcPts val="600"/>
              </a:spcBef>
            </a:pPr>
            <a:r>
              <a:rPr lang="en-US" b="1" dirty="0"/>
              <a:t>Purpose: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Trusted, analytics-ready data</a:t>
            </a:r>
          </a:p>
          <a:p>
            <a:pPr>
              <a:spcBef>
                <a:spcPts val="600"/>
              </a:spcBef>
            </a:pPr>
            <a:r>
              <a:rPr lang="en-US" b="1" dirty="0"/>
              <a:t>	Reusable for multiple use cases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Example: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Validated customer orders</a:t>
            </a:r>
          </a:p>
          <a:p>
            <a:pPr>
              <a:spcBef>
                <a:spcPts val="600"/>
              </a:spcBef>
            </a:pPr>
            <a:r>
              <a:rPr lang="en-US" b="1" dirty="0"/>
              <a:t>Enriched sales with product &amp; customer master data</a:t>
            </a:r>
          </a:p>
        </p:txBody>
      </p:sp>
    </p:spTree>
    <p:extLst>
      <p:ext uri="{BB962C8B-B14F-4D97-AF65-F5344CB8AC3E}">
        <p14:creationId xmlns:p14="http://schemas.microsoft.com/office/powerpoint/2010/main" val="2486069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77279F-78D2-6E55-86AA-3860397B3E77}"/>
              </a:ext>
            </a:extLst>
          </p:cNvPr>
          <p:cNvSpPr txBox="1"/>
          <p:nvPr/>
        </p:nvSpPr>
        <p:spPr>
          <a:xfrm>
            <a:off x="477774" y="354830"/>
            <a:ext cx="10988802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Gold Layer – Business Aggregates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Data is aggregated and optimized for reporting &amp; BI</a:t>
            </a:r>
          </a:p>
          <a:p>
            <a:pPr>
              <a:spcBef>
                <a:spcPts val="600"/>
              </a:spcBef>
            </a:pPr>
            <a:r>
              <a:rPr lang="en-US" b="1" dirty="0"/>
              <a:t>Designed for: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Dashboards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KPIs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Highly curated and performance-tuned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Purpose: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Business decision-making</a:t>
            </a:r>
          </a:p>
          <a:p>
            <a:pPr>
              <a:spcBef>
                <a:spcPts val="600"/>
              </a:spcBef>
            </a:pPr>
            <a:r>
              <a:rPr lang="en-US" b="1" dirty="0"/>
              <a:t>Example: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Daily sales summary</a:t>
            </a:r>
          </a:p>
          <a:p>
            <a:pPr>
              <a:spcBef>
                <a:spcPts val="600"/>
              </a:spcBef>
            </a:pPr>
            <a:r>
              <a:rPr lang="en-US" b="1" dirty="0"/>
              <a:t>	Revenue by region / product</a:t>
            </a:r>
          </a:p>
          <a:p>
            <a:pPr>
              <a:spcBef>
                <a:spcPts val="600"/>
              </a:spcBef>
            </a:pPr>
            <a:r>
              <a:rPr lang="en-US" b="1" dirty="0"/>
              <a:t>	Customer lifetime value</a:t>
            </a:r>
            <a:endParaRPr lang="en-IN" b="1" dirty="0"/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9593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BD7DAE-60E2-0677-988F-378D7B441AD9}"/>
              </a:ext>
            </a:extLst>
          </p:cNvPr>
          <p:cNvSpPr txBox="1"/>
          <p:nvPr/>
        </p:nvSpPr>
        <p:spPr>
          <a:xfrm>
            <a:off x="201168" y="329185"/>
            <a:ext cx="1011326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Databricks Workflows automate data engineering pipelines, ETL jobs, ML workflows, and production tasks using:</a:t>
            </a:r>
          </a:p>
          <a:p>
            <a:pPr>
              <a:spcBef>
                <a:spcPts val="600"/>
              </a:spcBef>
            </a:pPr>
            <a:r>
              <a:rPr lang="en-IN" dirty="0"/>
              <a:t>	Jobs</a:t>
            </a:r>
          </a:p>
          <a:p>
            <a:pPr>
              <a:spcBef>
                <a:spcPts val="600"/>
              </a:spcBef>
            </a:pPr>
            <a:r>
              <a:rPr lang="en-IN" dirty="0"/>
              <a:t>	Tasks</a:t>
            </a:r>
          </a:p>
          <a:p>
            <a:pPr>
              <a:spcBef>
                <a:spcPts val="600"/>
              </a:spcBef>
            </a:pPr>
            <a:r>
              <a:rPr lang="en-IN" dirty="0"/>
              <a:t>	Scheduling</a:t>
            </a:r>
          </a:p>
          <a:p>
            <a:pPr>
              <a:spcBef>
                <a:spcPts val="600"/>
              </a:spcBef>
            </a:pPr>
            <a:r>
              <a:rPr lang="en-IN" dirty="0"/>
              <a:t>	Triggers</a:t>
            </a:r>
          </a:p>
          <a:p>
            <a:pPr>
              <a:spcBef>
                <a:spcPts val="600"/>
              </a:spcBef>
            </a:pPr>
            <a:r>
              <a:rPr lang="en-IN" dirty="0"/>
              <a:t>	Alerts</a:t>
            </a:r>
          </a:p>
          <a:p>
            <a:pPr>
              <a:spcBef>
                <a:spcPts val="600"/>
              </a:spcBef>
            </a:pPr>
            <a:r>
              <a:rPr lang="en-IN" dirty="0"/>
              <a:t>	Cluster configuration</a:t>
            </a:r>
          </a:p>
          <a:p>
            <a:pPr>
              <a:spcBef>
                <a:spcPts val="600"/>
              </a:spcBef>
            </a:pPr>
            <a:r>
              <a:rPr lang="en-IN" dirty="0"/>
              <a:t>	Git integration</a:t>
            </a:r>
          </a:p>
          <a:p>
            <a:pPr>
              <a:spcBef>
                <a:spcPts val="600"/>
              </a:spcBef>
            </a:pPr>
            <a:r>
              <a:rPr lang="en-IN" dirty="0"/>
              <a:t>	Notebooks / Python Scripts / SQL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A workflow = a group of tasks executed in sequence or in parallel.</a:t>
            </a:r>
          </a:p>
        </p:txBody>
      </p:sp>
    </p:spTree>
    <p:extLst>
      <p:ext uri="{BB962C8B-B14F-4D97-AF65-F5344CB8AC3E}">
        <p14:creationId xmlns:p14="http://schemas.microsoft.com/office/powerpoint/2010/main" val="3578746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BD7DAE-60E2-0677-988F-378D7B441AD9}"/>
              </a:ext>
            </a:extLst>
          </p:cNvPr>
          <p:cNvSpPr txBox="1"/>
          <p:nvPr/>
        </p:nvSpPr>
        <p:spPr>
          <a:xfrm>
            <a:off x="201168" y="329185"/>
            <a:ext cx="1011326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Use Cases</a:t>
            </a:r>
          </a:p>
          <a:p>
            <a:pPr>
              <a:spcBef>
                <a:spcPts val="600"/>
              </a:spcBef>
            </a:pPr>
            <a:r>
              <a:rPr lang="en-IN" dirty="0"/>
              <a:t>	Automatic ingestion pipelines (Bronze → Silver → Gold)</a:t>
            </a:r>
          </a:p>
          <a:p>
            <a:pPr>
              <a:spcBef>
                <a:spcPts val="600"/>
              </a:spcBef>
            </a:pPr>
            <a:r>
              <a:rPr lang="en-IN" dirty="0"/>
              <a:t>	Delta Live Tables processing</a:t>
            </a:r>
          </a:p>
          <a:p>
            <a:pPr>
              <a:spcBef>
                <a:spcPts val="600"/>
              </a:spcBef>
            </a:pPr>
            <a:r>
              <a:rPr lang="en-IN" dirty="0"/>
              <a:t>	Daily refresh of dimension &amp; fact tables</a:t>
            </a:r>
          </a:p>
          <a:p>
            <a:pPr>
              <a:spcBef>
                <a:spcPts val="600"/>
              </a:spcBef>
            </a:pPr>
            <a:r>
              <a:rPr lang="en-IN" dirty="0"/>
              <a:t>	ML model training &amp; prediction scoring pipeline</a:t>
            </a:r>
          </a:p>
          <a:p>
            <a:pPr>
              <a:spcBef>
                <a:spcPts val="600"/>
              </a:spcBef>
            </a:pPr>
            <a:r>
              <a:rPr lang="en-IN" dirty="0"/>
              <a:t>	Incremental batch jobs</a:t>
            </a:r>
          </a:p>
          <a:p>
            <a:pPr>
              <a:spcBef>
                <a:spcPts val="600"/>
              </a:spcBef>
            </a:pPr>
            <a:r>
              <a:rPr lang="en-IN" dirty="0"/>
              <a:t>	Streaming jobs with recovery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A typical architecture:</a:t>
            </a:r>
          </a:p>
          <a:p>
            <a:pPr>
              <a:spcBef>
                <a:spcPts val="600"/>
              </a:spcBef>
            </a:pPr>
            <a:r>
              <a:rPr lang="en-IN" dirty="0"/>
              <a:t>Task 1 — Ingest (Bronze) 	Auto Loader / COPY INTO</a:t>
            </a:r>
          </a:p>
          <a:p>
            <a:pPr>
              <a:spcBef>
                <a:spcPts val="600"/>
              </a:spcBef>
            </a:pPr>
            <a:r>
              <a:rPr lang="en-IN" dirty="0"/>
              <a:t>Task 2 — Clean &amp; Transform (Silver) 	Delta table </a:t>
            </a:r>
            <a:r>
              <a:rPr lang="en-IN" dirty="0" err="1"/>
              <a:t>upserts</a:t>
            </a:r>
            <a:r>
              <a:rPr lang="en-IN" dirty="0"/>
              <a:t>, schema enforcement</a:t>
            </a:r>
          </a:p>
          <a:p>
            <a:pPr>
              <a:spcBef>
                <a:spcPts val="600"/>
              </a:spcBef>
            </a:pPr>
            <a:r>
              <a:rPr lang="en-IN" dirty="0"/>
              <a:t>Task 3 — Aggregate (Gold)	Business metrics based tables</a:t>
            </a:r>
          </a:p>
          <a:p>
            <a:pPr>
              <a:spcBef>
                <a:spcPts val="600"/>
              </a:spcBef>
            </a:pPr>
            <a:r>
              <a:rPr lang="en-IN" dirty="0"/>
              <a:t>Task 4 — ML / Alerts / Sync</a:t>
            </a:r>
          </a:p>
          <a:p>
            <a:pPr>
              <a:spcBef>
                <a:spcPts val="600"/>
              </a:spcBef>
            </a:pPr>
            <a:r>
              <a:rPr lang="en-IN" dirty="0"/>
              <a:t>	Model scoring</a:t>
            </a:r>
          </a:p>
          <a:p>
            <a:pPr>
              <a:spcBef>
                <a:spcPts val="600"/>
              </a:spcBef>
            </a:pPr>
            <a:r>
              <a:rPr lang="en-IN" dirty="0"/>
              <a:t>	Send notifications</a:t>
            </a:r>
          </a:p>
          <a:p>
            <a:pPr>
              <a:spcBef>
                <a:spcPts val="600"/>
              </a:spcBef>
            </a:pPr>
            <a:r>
              <a:rPr lang="en-IN" dirty="0"/>
              <a:t>Task 5 — Export / Reports 	Push to SQL Warehouse, Power BI, ADLS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096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BD7DAE-60E2-0677-988F-378D7B441AD9}"/>
              </a:ext>
            </a:extLst>
          </p:cNvPr>
          <p:cNvSpPr txBox="1"/>
          <p:nvPr/>
        </p:nvSpPr>
        <p:spPr>
          <a:xfrm>
            <a:off x="201168" y="329185"/>
            <a:ext cx="101132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Volumes in Databricks?</a:t>
            </a:r>
          </a:p>
          <a:p>
            <a:pPr>
              <a:spcBef>
                <a:spcPts val="600"/>
              </a:spcBef>
            </a:pPr>
            <a:r>
              <a:rPr lang="en-US" dirty="0"/>
              <a:t>Volumes are managed, secure directories in Databricks used to store non-table files (CSV, JSON, images, PDFs, ML artifacts, checkpoints, etc.) under Unity Catalog governance.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Why Volumes are needed</a:t>
            </a:r>
          </a:p>
          <a:p>
            <a:pPr>
              <a:spcBef>
                <a:spcPts val="600"/>
              </a:spcBef>
            </a:pPr>
            <a:r>
              <a:rPr lang="en-US" dirty="0"/>
              <a:t>Before Volumes:</a:t>
            </a:r>
          </a:p>
          <a:p>
            <a:pPr>
              <a:spcBef>
                <a:spcPts val="600"/>
              </a:spcBef>
            </a:pPr>
            <a:r>
              <a:rPr lang="en-US" dirty="0"/>
              <a:t>	Files lived in DBFS or cloud paths (ADLS/S3)</a:t>
            </a:r>
          </a:p>
          <a:p>
            <a:pPr>
              <a:spcBef>
                <a:spcPts val="600"/>
              </a:spcBef>
            </a:pPr>
            <a:r>
              <a:rPr lang="en-US" dirty="0"/>
              <a:t>	Weak governance &amp; access control</a:t>
            </a:r>
          </a:p>
          <a:p>
            <a:pPr>
              <a:spcBef>
                <a:spcPts val="600"/>
              </a:spcBef>
            </a:pPr>
            <a:r>
              <a:rPr lang="en-US" dirty="0"/>
              <a:t>	Mixing tables and raw files was messy</a:t>
            </a:r>
          </a:p>
          <a:p>
            <a:pPr>
              <a:spcBef>
                <a:spcPts val="600"/>
              </a:spcBef>
            </a:pPr>
            <a:r>
              <a:rPr lang="en-US" dirty="0"/>
              <a:t>With Volumes:</a:t>
            </a:r>
          </a:p>
          <a:p>
            <a:pPr>
              <a:spcBef>
                <a:spcPts val="600"/>
              </a:spcBef>
            </a:pPr>
            <a:r>
              <a:rPr lang="en-US" dirty="0"/>
              <a:t>	Centralized file storage</a:t>
            </a:r>
          </a:p>
          <a:p>
            <a:pPr>
              <a:spcBef>
                <a:spcPts val="600"/>
              </a:spcBef>
            </a:pPr>
            <a:r>
              <a:rPr lang="en-US" dirty="0"/>
              <a:t>	Fine-grained access control (GRANT/REVOKE)</a:t>
            </a:r>
          </a:p>
          <a:p>
            <a:pPr>
              <a:spcBef>
                <a:spcPts val="600"/>
              </a:spcBef>
            </a:pPr>
            <a:r>
              <a:rPr lang="en-US" dirty="0"/>
              <a:t>	Clean separation between tables and files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183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BD7DAE-60E2-0677-988F-378D7B441AD9}"/>
              </a:ext>
            </a:extLst>
          </p:cNvPr>
          <p:cNvSpPr txBox="1"/>
          <p:nvPr/>
        </p:nvSpPr>
        <p:spPr>
          <a:xfrm>
            <a:off x="201168" y="329185"/>
            <a:ext cx="10113264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Volume Types</a:t>
            </a:r>
          </a:p>
          <a:p>
            <a:pPr>
              <a:spcBef>
                <a:spcPts val="600"/>
              </a:spcBef>
            </a:pPr>
            <a:r>
              <a:rPr lang="en-US" dirty="0"/>
              <a:t>Managed Volume</a:t>
            </a:r>
          </a:p>
          <a:p>
            <a:pPr>
              <a:spcBef>
                <a:spcPts val="600"/>
              </a:spcBef>
            </a:pPr>
            <a:r>
              <a:rPr lang="en-US" dirty="0"/>
              <a:t>	Databricks manages storage</a:t>
            </a:r>
          </a:p>
          <a:p>
            <a:pPr>
              <a:spcBef>
                <a:spcPts val="600"/>
              </a:spcBef>
            </a:pPr>
            <a:r>
              <a:rPr lang="en-US" dirty="0"/>
              <a:t>	No need to specify cloud path</a:t>
            </a:r>
          </a:p>
          <a:p>
            <a:pPr>
              <a:spcBef>
                <a:spcPts val="600"/>
              </a:spcBef>
            </a:pPr>
            <a:r>
              <a:rPr lang="en-US" dirty="0"/>
              <a:t>	Data deleted when volume is dropped</a:t>
            </a:r>
          </a:p>
          <a:p>
            <a:pPr>
              <a:spcBef>
                <a:spcPts val="600"/>
              </a:spcBef>
            </a:pPr>
            <a:r>
              <a:rPr lang="en-US" dirty="0"/>
              <a:t>	</a:t>
            </a:r>
          </a:p>
          <a:p>
            <a:pPr>
              <a:spcBef>
                <a:spcPts val="600"/>
              </a:spcBef>
            </a:pPr>
            <a:r>
              <a:rPr lang="en-US" dirty="0"/>
              <a:t>CREATE VOLUME </a:t>
            </a:r>
            <a:r>
              <a:rPr lang="en-US" dirty="0" err="1"/>
              <a:t>main.sales.raw_files</a:t>
            </a:r>
            <a:r>
              <a:rPr lang="en-US" dirty="0"/>
              <a:t>;</a:t>
            </a:r>
          </a:p>
          <a:p>
            <a:pPr>
              <a:spcBef>
                <a:spcPts val="600"/>
              </a:spcBef>
            </a:pPr>
            <a:r>
              <a:rPr lang="en-US" dirty="0"/>
              <a:t>External Volume</a:t>
            </a:r>
          </a:p>
          <a:p>
            <a:pPr>
              <a:spcBef>
                <a:spcPts val="600"/>
              </a:spcBef>
            </a:pPr>
            <a:r>
              <a:rPr lang="en-US" dirty="0"/>
              <a:t>	Uses your own ADLS / S3 / GCS</a:t>
            </a:r>
          </a:p>
          <a:p>
            <a:pPr>
              <a:spcBef>
                <a:spcPts val="600"/>
              </a:spcBef>
            </a:pPr>
            <a:r>
              <a:rPr lang="en-US" dirty="0"/>
              <a:t>	Data persists even if volume is dropped</a:t>
            </a:r>
          </a:p>
          <a:p>
            <a:pPr>
              <a:spcBef>
                <a:spcPts val="600"/>
              </a:spcBef>
            </a:pPr>
            <a:r>
              <a:rPr lang="en-US" dirty="0"/>
              <a:t>External Volume</a:t>
            </a:r>
          </a:p>
          <a:p>
            <a:pPr>
              <a:spcBef>
                <a:spcPts val="600"/>
              </a:spcBef>
            </a:pPr>
            <a:r>
              <a:rPr lang="en-US" dirty="0"/>
              <a:t>	Uses your own ADLS / S3 / GCS</a:t>
            </a:r>
          </a:p>
          <a:p>
            <a:pPr>
              <a:spcBef>
                <a:spcPts val="600"/>
              </a:spcBef>
            </a:pPr>
            <a:r>
              <a:rPr lang="en-US" dirty="0"/>
              <a:t>	Data persists even if volume is dropped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CREATE EXTERNAL VOLUME </a:t>
            </a:r>
            <a:r>
              <a:rPr lang="en-US" dirty="0" err="1"/>
              <a:t>main.sales.ext_files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LOCATIVolume</a:t>
            </a:r>
            <a:r>
              <a:rPr lang="en-US" dirty="0"/>
              <a:t> Path Structure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/Volumes/&lt;catalog&gt;/&lt;schema&gt;/&lt;</a:t>
            </a:r>
            <a:r>
              <a:rPr lang="en-US" dirty="0" err="1"/>
              <a:t>volume_name</a:t>
            </a:r>
            <a:r>
              <a:rPr lang="en-US" dirty="0"/>
              <a:t>&gt;/ON '</a:t>
            </a:r>
            <a:r>
              <a:rPr lang="en-US" dirty="0" err="1"/>
              <a:t>abfss</a:t>
            </a:r>
            <a:r>
              <a:rPr lang="en-US" dirty="0"/>
              <a:t>://raw@storageaccount.dfs.core.windows.net/sales';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676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67A2BC-4322-9F50-627F-5731597D3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623783"/>
              </p:ext>
            </p:extLst>
          </p:nvPr>
        </p:nvGraphicFramePr>
        <p:xfrm>
          <a:off x="740664" y="674529"/>
          <a:ext cx="10131426" cy="219456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523791472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88869175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47206493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7938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Stores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</a:t>
                      </a:r>
                      <a:r>
                        <a:rPr lang="en-IN" sz="1800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2245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Stores structured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</a:t>
                      </a:r>
                      <a:r>
                        <a:rPr lang="en-IN" sz="1800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7077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Supports SQL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</a:t>
                      </a:r>
                      <a:r>
                        <a:rPr lang="en-IN" sz="1800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5028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Governed by Unity Catalog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4942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Used for ML / raw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</a:t>
                      </a:r>
                      <a:r>
                        <a:rPr lang="en-IN" sz="1800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6722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740664" y="3522440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Common Use Cases</a:t>
            </a:r>
          </a:p>
          <a:p>
            <a:pPr lvl="1"/>
            <a:r>
              <a:rPr lang="en-US" dirty="0"/>
              <a:t> Raw ingestion files</a:t>
            </a:r>
            <a:br>
              <a:rPr lang="en-US" dirty="0"/>
            </a:br>
            <a:r>
              <a:rPr lang="en-US" dirty="0"/>
              <a:t> ML models &amp; artifacts</a:t>
            </a:r>
            <a:br>
              <a:rPr lang="en-US" dirty="0"/>
            </a:br>
            <a:r>
              <a:rPr lang="en-US" dirty="0"/>
              <a:t> Checkpoints</a:t>
            </a:r>
            <a:br>
              <a:rPr lang="en-US" dirty="0"/>
            </a:br>
            <a:r>
              <a:rPr lang="en-US" dirty="0"/>
              <a:t> Config files</a:t>
            </a:r>
          </a:p>
        </p:txBody>
      </p:sp>
    </p:spTree>
    <p:extLst>
      <p:ext uri="{BB962C8B-B14F-4D97-AF65-F5344CB8AC3E}">
        <p14:creationId xmlns:p14="http://schemas.microsoft.com/office/powerpoint/2010/main" val="266500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139160"/>
            <a:ext cx="1153972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Delta Live Tables (DLT)?</a:t>
            </a:r>
          </a:p>
          <a:p>
            <a:endParaRPr lang="en-US" sz="2000" b="1" dirty="0"/>
          </a:p>
          <a:p>
            <a:r>
              <a:rPr lang="en-US" b="1" dirty="0"/>
              <a:t>Delta Live Tables (DLT)</a:t>
            </a:r>
            <a:r>
              <a:rPr lang="en-US" dirty="0"/>
              <a:t> is a </a:t>
            </a:r>
            <a:r>
              <a:rPr lang="en-US" b="1" dirty="0"/>
              <a:t>declarative data pipeline framework</a:t>
            </a:r>
            <a:r>
              <a:rPr lang="en-US" dirty="0"/>
              <a:t> in Databricks used to </a:t>
            </a:r>
            <a:r>
              <a:rPr lang="en-US" b="1" dirty="0"/>
              <a:t>build, manage, monitor, and govern reliable data pipelines</a:t>
            </a:r>
            <a:r>
              <a:rPr lang="en-US" dirty="0"/>
              <a:t> using </a:t>
            </a:r>
            <a:r>
              <a:rPr lang="en-US" b="1" dirty="0"/>
              <a:t>Delta Lake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declarative framework allows developers to specify the desired outcome of a system without defining the step-by-step execution logic, leaving execution, optimization, and error handling to the framework.</a:t>
            </a:r>
          </a:p>
          <a:p>
            <a:endParaRPr lang="en-US" dirty="0"/>
          </a:p>
          <a:p>
            <a:r>
              <a:rPr lang="en-US" dirty="0"/>
              <a:t>Instead of writing complex Spark jobs and orchestration logic, </a:t>
            </a:r>
            <a:r>
              <a:rPr lang="en-US" b="1" dirty="0"/>
              <a:t>you declare what the data should look like</a:t>
            </a:r>
            <a:r>
              <a:rPr lang="en-US" dirty="0"/>
              <a:t>, and </a:t>
            </a:r>
            <a:r>
              <a:rPr lang="en-US" b="1" dirty="0"/>
              <a:t>DLT manages how to build and maintain it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697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139160"/>
            <a:ext cx="11539728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en-IN" sz="2000" b="1" dirty="0"/>
          </a:p>
          <a:p>
            <a:pPr>
              <a:spcBef>
                <a:spcPts val="600"/>
              </a:spcBef>
            </a:pPr>
            <a:r>
              <a:rPr lang="en-IN" sz="2000" b="1" dirty="0"/>
              <a:t>Why Delta Live Tables Exists</a:t>
            </a:r>
          </a:p>
          <a:p>
            <a:pPr>
              <a:spcBef>
                <a:spcPts val="600"/>
              </a:spcBef>
            </a:pPr>
            <a:r>
              <a:rPr lang="en-IN" b="1" dirty="0"/>
              <a:t>Traditional Spark pipelines require: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Manual job orchestration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Custom error handling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Schema enforcement logic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Data quality checks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Incremental logic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Monitoring &amp; retries</a:t>
            </a:r>
          </a:p>
          <a:p>
            <a:pPr>
              <a:spcBef>
                <a:spcPts val="600"/>
              </a:spcBef>
            </a:pPr>
            <a:r>
              <a:rPr lang="en-IN" dirty="0"/>
              <a:t>DLT </a:t>
            </a:r>
            <a:r>
              <a:rPr lang="en-IN" b="1" dirty="0"/>
              <a:t>automates all of this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r>
              <a:rPr lang="en-IN" b="1" dirty="0"/>
              <a:t>DLT = Delta Lake + Streaming + Data Quality + Orchestration + Monitoring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11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294608"/>
            <a:ext cx="115397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Key Problems DLT Solves</a:t>
            </a:r>
          </a:p>
          <a:p>
            <a:endParaRPr lang="en-IN" sz="2000" b="1" dirty="0"/>
          </a:p>
          <a:p>
            <a:endParaRPr lang="en-IN" sz="2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2D3DE7-048B-F440-1F43-1C5FF362F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303952"/>
              </p:ext>
            </p:extLst>
          </p:nvPr>
        </p:nvGraphicFramePr>
        <p:xfrm>
          <a:off x="402336" y="802439"/>
          <a:ext cx="10131424" cy="292608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42729930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05365267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 dirty="0"/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How DLT Solves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199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Pipeline failures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Automatic retries &amp;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406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Bad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Built-in data quality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4769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Schema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Schema enforcement &amp; evolution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7496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Complex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Declarative DAG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5591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Operational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Managed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896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Incremental 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Streaming by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7946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Observability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Built-in event logs &amp;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352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155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294608"/>
            <a:ext cx="1153972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Concepts of Delta Live Tables</a:t>
            </a:r>
          </a:p>
          <a:p>
            <a:endParaRPr lang="en-US" sz="2000" b="1" dirty="0"/>
          </a:p>
          <a:p>
            <a:r>
              <a:rPr lang="en-US" sz="2000" b="1" dirty="0"/>
              <a:t>1.Declarative Programming Model</a:t>
            </a:r>
          </a:p>
          <a:p>
            <a:r>
              <a:rPr lang="en-US" sz="2000" dirty="0"/>
              <a:t>You </a:t>
            </a:r>
            <a:r>
              <a:rPr lang="en-US" sz="2000" b="1" dirty="0"/>
              <a:t>define transformations</a:t>
            </a:r>
            <a:r>
              <a:rPr lang="en-US" sz="2000" dirty="0"/>
              <a:t>, not execution steps.</a:t>
            </a:r>
          </a:p>
          <a:p>
            <a:endParaRPr lang="en-US" sz="2000" b="1" dirty="0"/>
          </a:p>
          <a:p>
            <a:r>
              <a:rPr lang="en-US" sz="2000" b="1" dirty="0"/>
              <a:t>Example (Python):</a:t>
            </a:r>
          </a:p>
          <a:p>
            <a:r>
              <a:rPr lang="en-US" sz="2000" b="1" dirty="0"/>
              <a:t>@dlt.table</a:t>
            </a:r>
          </a:p>
          <a:p>
            <a:r>
              <a:rPr lang="en-US" sz="2000" b="1" dirty="0"/>
              <a:t>def </a:t>
            </a:r>
            <a:r>
              <a:rPr lang="en-US" sz="2000" b="1" dirty="0" err="1"/>
              <a:t>bronze_orders</a:t>
            </a:r>
            <a:r>
              <a:rPr lang="en-US" sz="2000" b="1" dirty="0"/>
              <a:t>():</a:t>
            </a:r>
          </a:p>
          <a:p>
            <a:r>
              <a:rPr lang="en-US" sz="2000" b="1" dirty="0"/>
              <a:t>    return </a:t>
            </a:r>
            <a:r>
              <a:rPr lang="en-US" sz="2000" b="1" dirty="0" err="1"/>
              <a:t>spark.read.format</a:t>
            </a:r>
            <a:r>
              <a:rPr lang="en-US" sz="2000" b="1" dirty="0"/>
              <a:t>("csv").load("/raw/orders")</a:t>
            </a:r>
          </a:p>
          <a:p>
            <a:endParaRPr lang="en-US" sz="2000" b="1" dirty="0"/>
          </a:p>
          <a:p>
            <a:r>
              <a:rPr lang="en-US" sz="2000" dirty="0"/>
              <a:t>You do </a:t>
            </a:r>
            <a:r>
              <a:rPr lang="en-US" sz="2000" b="1" dirty="0"/>
              <a:t>NOT</a:t>
            </a:r>
            <a:r>
              <a:rPr lang="en-US" sz="20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Manage clusters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Write checkpoints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Schedule jobs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Handle retries</a:t>
            </a:r>
          </a:p>
          <a:p>
            <a:r>
              <a:rPr lang="en-US" sz="2000" dirty="0"/>
              <a:t>DLT does it automatically.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31883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294608"/>
            <a:ext cx="1153972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Concepts of Delta Live Tables</a:t>
            </a:r>
          </a:p>
          <a:p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2. Pipeline-Managed Tables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DLT creates </a:t>
            </a:r>
            <a:r>
              <a:rPr lang="en-US" sz="2000" b="1" dirty="0"/>
              <a:t>managed Delta tables</a:t>
            </a:r>
            <a:r>
              <a:rPr lang="en-US" sz="2000" dirty="0"/>
              <a:t>: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Stored in pipeline storage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Automatically versioned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Automatically optimized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Types: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Streaming tables</a:t>
            </a:r>
            <a:endParaRPr lang="en-US" sz="2000" dirty="0"/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Materialized views</a:t>
            </a:r>
            <a:endParaRPr lang="en-US" sz="2000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89599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294608"/>
            <a:ext cx="115397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Concepts of Delta Live Tables</a:t>
            </a:r>
          </a:p>
          <a:p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3. Built-in Data Quality (Expectations)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DLT allows </a:t>
            </a:r>
            <a:r>
              <a:rPr lang="en-US" sz="2000" b="1" dirty="0"/>
              <a:t>data quality rules</a:t>
            </a:r>
            <a:r>
              <a:rPr lang="en-US" sz="2000" dirty="0"/>
              <a:t> called </a:t>
            </a:r>
            <a:r>
              <a:rPr lang="en-US" sz="2000" b="1" dirty="0"/>
              <a:t>Expectations</a:t>
            </a:r>
            <a:r>
              <a:rPr lang="en-US" sz="2000" dirty="0"/>
              <a:t>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@dlt.expect("valid_order_id", "</a:t>
            </a:r>
            <a:r>
              <a:rPr lang="en-US" sz="2000" dirty="0" err="1"/>
              <a:t>order_id</a:t>
            </a:r>
            <a:r>
              <a:rPr lang="en-US" sz="2000" dirty="0"/>
              <a:t> IS NOT NULL")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@dlt.expect_or_drop("positive_amount", "amount &gt; 0")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@dlt.table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def </a:t>
            </a:r>
            <a:r>
              <a:rPr lang="en-US" sz="2000" dirty="0" err="1"/>
              <a:t>silver_orders</a:t>
            </a:r>
            <a:r>
              <a:rPr lang="en-US" sz="2000" dirty="0"/>
              <a:t>():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    return </a:t>
            </a:r>
            <a:r>
              <a:rPr lang="en-US" sz="2000" dirty="0" err="1"/>
              <a:t>dlt.read</a:t>
            </a:r>
            <a:r>
              <a:rPr lang="en-US" sz="2000" dirty="0"/>
              <a:t>("</a:t>
            </a:r>
            <a:r>
              <a:rPr lang="en-US" sz="2000" dirty="0" err="1"/>
              <a:t>bronze_orders</a:t>
            </a:r>
            <a:r>
              <a:rPr lang="en-US" sz="2000" dirty="0"/>
              <a:t>")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Types of expectations: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	</a:t>
            </a:r>
            <a:r>
              <a:rPr lang="en-US" sz="2000" dirty="0"/>
              <a:t>expect → log failures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	</a:t>
            </a:r>
            <a:r>
              <a:rPr lang="en-US" sz="2000" dirty="0" err="1"/>
              <a:t>expect_or_drop</a:t>
            </a:r>
            <a:r>
              <a:rPr lang="en-US" sz="2000" dirty="0"/>
              <a:t> → drop bad records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	</a:t>
            </a:r>
            <a:r>
              <a:rPr lang="en-US" sz="2000" dirty="0" err="1"/>
              <a:t>expect_or_fail</a:t>
            </a:r>
            <a:r>
              <a:rPr lang="en-US" sz="2000" dirty="0"/>
              <a:t> → fail pipeline</a:t>
            </a:r>
          </a:p>
          <a:p>
            <a:pPr lvl="1">
              <a:spcBef>
                <a:spcPts val="600"/>
              </a:spcBef>
            </a:pPr>
            <a:endParaRPr lang="en-US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98352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294608"/>
            <a:ext cx="11539728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Concepts of Delta Live Tables</a:t>
            </a:r>
          </a:p>
          <a:p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4. Streaming by Default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DLT pipelines are </a:t>
            </a:r>
            <a:r>
              <a:rPr lang="en-US" sz="2000" b="1" dirty="0"/>
              <a:t>incremental by design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Even batch sources: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Are processed incrementally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Use checkpoints internally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Avoid reprocessing old data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This gives: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Near-real-time pipelines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Exactly-once processing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High scalability</a:t>
            </a:r>
          </a:p>
          <a:p>
            <a:pPr lvl="1">
              <a:spcBef>
                <a:spcPts val="600"/>
              </a:spcBef>
            </a:pPr>
            <a:endParaRPr lang="en-US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48719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69CD29-BA5C-5E0E-D0D9-19E62DDFBEDC}"/>
              </a:ext>
            </a:extLst>
          </p:cNvPr>
          <p:cNvSpPr txBox="1"/>
          <p:nvPr/>
        </p:nvSpPr>
        <p:spPr>
          <a:xfrm>
            <a:off x="326136" y="294608"/>
            <a:ext cx="1153972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Concepts of Delta Live Tables</a:t>
            </a:r>
          </a:p>
          <a:p>
            <a:endParaRPr lang="en-US" sz="2000" b="1" dirty="0"/>
          </a:p>
          <a:p>
            <a:r>
              <a:rPr lang="en-US" sz="2000" b="1" dirty="0"/>
              <a:t>Medallion Architecture in DLT</a:t>
            </a:r>
          </a:p>
          <a:p>
            <a:r>
              <a:rPr lang="en-US" sz="2000" dirty="0"/>
              <a:t>	DLT is </a:t>
            </a:r>
            <a:r>
              <a:rPr lang="en-US" sz="2000" b="1" dirty="0"/>
              <a:t>best suited</a:t>
            </a:r>
            <a:r>
              <a:rPr lang="en-US" sz="2000" dirty="0"/>
              <a:t> for the </a:t>
            </a:r>
            <a:r>
              <a:rPr lang="en-US" sz="2000" b="1" dirty="0"/>
              <a:t>Bronze–Silver–Gold</a:t>
            </a:r>
            <a:r>
              <a:rPr lang="en-US" sz="2000" dirty="0"/>
              <a:t> pattern.</a:t>
            </a:r>
          </a:p>
          <a:p>
            <a:endParaRPr lang="en-US" sz="2000" b="1" dirty="0"/>
          </a:p>
          <a:p>
            <a:endParaRPr lang="en-US" sz="2000" b="1" dirty="0"/>
          </a:p>
          <a:p>
            <a:pPr lvl="1">
              <a:spcBef>
                <a:spcPts val="600"/>
              </a:spcBef>
            </a:pPr>
            <a:endParaRPr lang="en-US" sz="2000" b="1" dirty="0"/>
          </a:p>
          <a:p>
            <a:endParaRPr lang="en-IN"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4890B5-28F1-6F9F-6787-FDFCD3EFF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578307"/>
              </p:ext>
            </p:extLst>
          </p:nvPr>
        </p:nvGraphicFramePr>
        <p:xfrm>
          <a:off x="326136" y="1965960"/>
          <a:ext cx="6202680" cy="1463040"/>
        </p:xfrm>
        <a:graphic>
          <a:graphicData uri="http://schemas.openxmlformats.org/drawingml/2006/table">
            <a:tbl>
              <a:tblPr/>
              <a:tblGrid>
                <a:gridCol w="2645664">
                  <a:extLst>
                    <a:ext uri="{9D8B030D-6E8A-4147-A177-3AD203B41FA5}">
                      <a16:colId xmlns:a16="http://schemas.microsoft.com/office/drawing/2014/main" val="4021749807"/>
                    </a:ext>
                  </a:extLst>
                </a:gridCol>
                <a:gridCol w="3557016">
                  <a:extLst>
                    <a:ext uri="{9D8B030D-6E8A-4147-A177-3AD203B41FA5}">
                      <a16:colId xmlns:a16="http://schemas.microsoft.com/office/drawing/2014/main" val="304292781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0411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Bronze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Raw, ingested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8638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Cleaned, validated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8582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Aggregated, business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576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639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72E66-599A-C312-E998-117FAD2AC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792" y="142774"/>
            <a:ext cx="7316589" cy="671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29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609447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DLT Pipeline Types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1. Triggered Pipeline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Runs once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Batch-like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Used for historical loads</a:t>
            </a:r>
          </a:p>
          <a:p>
            <a:pPr>
              <a:spcBef>
                <a:spcPts val="600"/>
              </a:spcBef>
            </a:pPr>
            <a:r>
              <a:rPr lang="en-US" b="1" dirty="0"/>
              <a:t>2. Continuous Pipeline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Always running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Streaming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Near real-time processing</a:t>
            </a:r>
          </a:p>
        </p:txBody>
      </p:sp>
    </p:spTree>
    <p:extLst>
      <p:ext uri="{BB962C8B-B14F-4D97-AF65-F5344CB8AC3E}">
        <p14:creationId xmlns:p14="http://schemas.microsoft.com/office/powerpoint/2010/main" val="2826561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6094476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DLT Programming Interfaces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b="1" dirty="0"/>
              <a:t>Python (Most common)</a:t>
            </a:r>
          </a:p>
          <a:p>
            <a:endParaRPr lang="en-US" b="1" dirty="0"/>
          </a:p>
          <a:p>
            <a:r>
              <a:rPr lang="en-US" dirty="0"/>
              <a:t>import </a:t>
            </a:r>
            <a:r>
              <a:rPr lang="en-US" dirty="0" err="1"/>
              <a:t>dlt</a:t>
            </a:r>
            <a:endParaRPr lang="en-US" dirty="0"/>
          </a:p>
          <a:p>
            <a:r>
              <a:rPr lang="en-US" dirty="0"/>
              <a:t>@dlt.table(</a:t>
            </a:r>
          </a:p>
          <a:p>
            <a:r>
              <a:rPr lang="en-US" dirty="0"/>
              <a:t>  comment="Cleaned orders"</a:t>
            </a:r>
          </a:p>
          <a:p>
            <a:r>
              <a:rPr lang="en-US" dirty="0"/>
              <a:t>)</a:t>
            </a:r>
          </a:p>
          <a:p>
            <a:r>
              <a:rPr lang="en-US" dirty="0"/>
              <a:t>def </a:t>
            </a:r>
            <a:r>
              <a:rPr lang="en-US" dirty="0" err="1"/>
              <a:t>silver_orders</a:t>
            </a:r>
            <a:r>
              <a:rPr lang="en-US" dirty="0"/>
              <a:t>():</a:t>
            </a:r>
          </a:p>
          <a:p>
            <a:r>
              <a:rPr lang="en-US" dirty="0"/>
              <a:t>    return </a:t>
            </a:r>
            <a:r>
              <a:rPr lang="en-US" dirty="0" err="1"/>
              <a:t>dlt.read</a:t>
            </a:r>
            <a:r>
              <a:rPr lang="en-US" dirty="0"/>
              <a:t>("</a:t>
            </a:r>
            <a:r>
              <a:rPr lang="en-US" dirty="0" err="1"/>
              <a:t>bronze_orders</a:t>
            </a:r>
            <a:r>
              <a:rPr lang="en-US" dirty="0"/>
              <a:t>")</a:t>
            </a:r>
          </a:p>
          <a:p>
            <a:endParaRPr lang="en-US" b="1" dirty="0"/>
          </a:p>
          <a:p>
            <a:r>
              <a:rPr lang="en-IN" b="1" dirty="0"/>
              <a:t>2. SQL DLT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CREATE LIVE TABLE </a:t>
            </a:r>
            <a:r>
              <a:rPr lang="en-US" dirty="0" err="1"/>
              <a:t>silver_orders</a:t>
            </a:r>
            <a:endParaRPr lang="en-US" dirty="0"/>
          </a:p>
          <a:p>
            <a:r>
              <a:rPr lang="en-US" dirty="0"/>
              <a:t>AS</a:t>
            </a:r>
          </a:p>
          <a:p>
            <a:r>
              <a:rPr lang="en-US" dirty="0"/>
              <a:t>SELECT *</a:t>
            </a:r>
          </a:p>
          <a:p>
            <a:r>
              <a:rPr lang="en-US" dirty="0"/>
              <a:t>FROM </a:t>
            </a:r>
            <a:r>
              <a:rPr lang="en-US" dirty="0" err="1"/>
              <a:t>LIVE.bronze_orders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order_id</a:t>
            </a:r>
            <a:r>
              <a:rPr lang="en-US" dirty="0"/>
              <a:t> IS NOT NULL;</a:t>
            </a: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0703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Reading data in DLT</a:t>
            </a:r>
          </a:p>
          <a:p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985A79-E6AC-5C3D-A405-DF63AD5B3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89376"/>
              </p:ext>
            </p:extLst>
          </p:nvPr>
        </p:nvGraphicFramePr>
        <p:xfrm>
          <a:off x="493776" y="976281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60463399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46752858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3662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dlt.read()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Read batch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7121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dlt.read_stream()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Read streaming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8695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LIVE.table_name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SQL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6129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FF7D9F-B5CC-7B4C-81C1-3B04A73CEC41}"/>
              </a:ext>
            </a:extLst>
          </p:cNvPr>
          <p:cNvSpPr txBox="1"/>
          <p:nvPr/>
        </p:nvSpPr>
        <p:spPr>
          <a:xfrm>
            <a:off x="386334" y="278623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 Types in DLT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8381B7-EC83-4A03-15A0-11476FDD2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351440"/>
              </p:ext>
            </p:extLst>
          </p:nvPr>
        </p:nvGraphicFramePr>
        <p:xfrm>
          <a:off x="493776" y="3429000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24529323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8946102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Table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3789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Streaming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Continuously updated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401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Materialized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Batch-like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5635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Managed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DLT managed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3171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External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User-managed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12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136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609447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Data Lineage &amp; Dependency Graph</a:t>
            </a:r>
          </a:p>
          <a:p>
            <a:pPr>
              <a:spcBef>
                <a:spcPts val="600"/>
              </a:spcBef>
            </a:pPr>
            <a:r>
              <a:rPr lang="en-US" dirty="0"/>
              <a:t>DLT automatically: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Builds </a:t>
            </a:r>
            <a:r>
              <a:rPr lang="en-US" b="1" dirty="0"/>
              <a:t>DAG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Tracks </a:t>
            </a:r>
            <a:r>
              <a:rPr lang="en-US" b="1" dirty="0"/>
              <a:t>dependencies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Shows </a:t>
            </a:r>
            <a:r>
              <a:rPr lang="en-US" b="1" dirty="0"/>
              <a:t>lineage graph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You get: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visibility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Impact analysis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Easy debugging</a:t>
            </a:r>
          </a:p>
          <a:p>
            <a:pPr>
              <a:spcBef>
                <a:spcPts val="6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5532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609447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Monitoring &amp; Observability</a:t>
            </a:r>
          </a:p>
          <a:p>
            <a:r>
              <a:rPr lang="en-IN" dirty="0"/>
              <a:t>DLT provides: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Pipeline UI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Event logs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Record counts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Expectation metrics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Error details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Processing latency</a:t>
            </a:r>
          </a:p>
          <a:p>
            <a:r>
              <a:rPr lang="en-IN" dirty="0"/>
              <a:t>No custom logging needed.</a:t>
            </a:r>
          </a:p>
          <a:p>
            <a:endParaRPr lang="en-IN" dirty="0"/>
          </a:p>
          <a:p>
            <a:pPr>
              <a:spcBef>
                <a:spcPts val="600"/>
              </a:spcBef>
            </a:pPr>
            <a:r>
              <a:rPr lang="en-US" b="1" dirty="0"/>
              <a:t>Error Handling in DLT</a:t>
            </a:r>
          </a:p>
          <a:p>
            <a:pPr>
              <a:spcBef>
                <a:spcPts val="600"/>
              </a:spcBef>
            </a:pPr>
            <a:r>
              <a:rPr lang="en-US" dirty="0"/>
              <a:t>DLT automatically: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Retries failed tasks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Resumes from checkpoints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Captures errors in event logs</a:t>
            </a:r>
          </a:p>
          <a:p>
            <a:endParaRPr lang="en-IN" dirty="0"/>
          </a:p>
          <a:p>
            <a:r>
              <a:rPr lang="en-IN" dirty="0"/>
              <a:t>You can query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SELECT * FROM </a:t>
            </a:r>
            <a:r>
              <a:rPr lang="en-US" b="1" dirty="0" err="1"/>
              <a:t>event_log</a:t>
            </a: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WHERE level = 'ERROR';</a:t>
            </a:r>
          </a:p>
          <a:p>
            <a:pPr>
              <a:spcBef>
                <a:spcPts val="6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5862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609447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DLT vs Traditional Delta Tables</a:t>
            </a:r>
          </a:p>
          <a:p>
            <a:pPr>
              <a:spcBef>
                <a:spcPts val="600"/>
              </a:spcBef>
            </a:pP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4381BE-7B50-BA1E-487C-FBFD55911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176826"/>
              </p:ext>
            </p:extLst>
          </p:nvPr>
        </p:nvGraphicFramePr>
        <p:xfrm>
          <a:off x="386334" y="932688"/>
          <a:ext cx="10131426" cy="292608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84112779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53265089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058055679"/>
                    </a:ext>
                  </a:extLst>
                </a:gridCol>
              </a:tblGrid>
              <a:tr h="239408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Delta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242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054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3007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Streaming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Built-in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3038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Quality checks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Built-in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3481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6296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Lineage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353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485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951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6094476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When to Use Delta Live Tables</a:t>
            </a:r>
          </a:p>
          <a:p>
            <a:pPr>
              <a:spcBef>
                <a:spcPts val="600"/>
              </a:spcBef>
            </a:pPr>
            <a:r>
              <a:rPr lang="en-IN" b="1" dirty="0"/>
              <a:t>Use DLT when: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 Building </a:t>
            </a:r>
            <a:r>
              <a:rPr lang="en-IN" b="1" dirty="0"/>
              <a:t>ETL / ELT pipelines</a:t>
            </a:r>
            <a:br>
              <a:rPr lang="en-IN" dirty="0"/>
            </a:br>
            <a:r>
              <a:rPr lang="en-IN" dirty="0"/>
              <a:t> Using </a:t>
            </a:r>
            <a:r>
              <a:rPr lang="en-IN" b="1" dirty="0"/>
              <a:t>Bronze-Silver-Gold</a:t>
            </a:r>
            <a:br>
              <a:rPr lang="en-IN" dirty="0"/>
            </a:br>
            <a:r>
              <a:rPr lang="en-IN" dirty="0"/>
              <a:t> Need </a:t>
            </a:r>
            <a:r>
              <a:rPr lang="en-IN" b="1" dirty="0"/>
              <a:t>data quality guarantees</a:t>
            </a:r>
            <a:br>
              <a:rPr lang="en-IN" dirty="0"/>
            </a:br>
            <a:r>
              <a:rPr lang="en-IN" dirty="0"/>
              <a:t> Want </a:t>
            </a:r>
            <a:r>
              <a:rPr lang="en-IN" b="1" dirty="0"/>
              <a:t>low operational overhead</a:t>
            </a:r>
            <a:br>
              <a:rPr lang="en-IN" dirty="0"/>
            </a:br>
            <a:r>
              <a:rPr lang="en-IN" dirty="0"/>
              <a:t> Streaming + batch together</a:t>
            </a:r>
          </a:p>
          <a:p>
            <a:pPr>
              <a:spcBef>
                <a:spcPts val="600"/>
              </a:spcBef>
            </a:pPr>
            <a:r>
              <a:rPr lang="en-IN" b="1" dirty="0"/>
              <a:t>Avoid DLT when:</a:t>
            </a:r>
          </a:p>
          <a:p>
            <a:pPr>
              <a:spcBef>
                <a:spcPts val="600"/>
              </a:spcBef>
            </a:pPr>
            <a:r>
              <a:rPr lang="en-IN" dirty="0"/>
              <a:t>	Ad-hoc analysis</a:t>
            </a:r>
            <a:br>
              <a:rPr lang="en-IN" dirty="0"/>
            </a:br>
            <a:r>
              <a:rPr lang="en-IN" dirty="0"/>
              <a:t>	Complex ML training jobs</a:t>
            </a:r>
            <a:br>
              <a:rPr lang="en-IN" dirty="0"/>
            </a:br>
            <a:r>
              <a:rPr lang="en-IN" dirty="0"/>
              <a:t>	One-time transformations</a:t>
            </a:r>
          </a:p>
          <a:p>
            <a:pPr>
              <a:spcBef>
                <a:spcPts val="6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49362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1107109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Delta Sharing?</a:t>
            </a:r>
          </a:p>
          <a:p>
            <a:pPr>
              <a:spcBef>
                <a:spcPts val="600"/>
              </a:spcBef>
            </a:pPr>
            <a:r>
              <a:rPr lang="en-US" b="1" dirty="0"/>
              <a:t>Delta Sharing is an open protocol for secure data sharing that allows organizations to share live data across: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Different companies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Different clouds (Azure / AWS / GCP)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Different platforms (Databricks, Spark, Pandas, BI tools)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	No data copy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	Read-only access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	Always up-to-date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 stays with the owner. Consumers query it securely.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38173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444699"/>
            <a:ext cx="1107109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Why Delta Sharing Was Needed</a:t>
            </a:r>
          </a:p>
          <a:p>
            <a:pPr>
              <a:spcBef>
                <a:spcPts val="600"/>
              </a:spcBef>
            </a:pPr>
            <a:r>
              <a:rPr lang="en-US" b="1" dirty="0"/>
              <a:t>Traditional Data Sharing Problems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CSV / Excel exports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SFTP file transfers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Periodic snapshots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Data duplication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Security &amp; version issues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Result: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Stale data</a:t>
            </a:r>
          </a:p>
          <a:p>
            <a:pPr>
              <a:spcBef>
                <a:spcPts val="600"/>
              </a:spcBef>
            </a:pPr>
            <a:r>
              <a:rPr lang="en-US" b="1" dirty="0"/>
              <a:t>	High storage cost</a:t>
            </a:r>
          </a:p>
          <a:p>
            <a:pPr>
              <a:spcBef>
                <a:spcPts val="600"/>
              </a:spcBef>
            </a:pPr>
            <a:r>
              <a:rPr lang="en-US" b="1" dirty="0"/>
              <a:t>	Manual governance</a:t>
            </a:r>
          </a:p>
          <a:p>
            <a:pPr>
              <a:spcBef>
                <a:spcPts val="600"/>
              </a:spcBef>
            </a:pPr>
            <a:r>
              <a:rPr lang="en-US" b="1" dirty="0"/>
              <a:t>	Compliance risk</a:t>
            </a:r>
          </a:p>
        </p:txBody>
      </p:sp>
    </p:spTree>
    <p:extLst>
      <p:ext uri="{BB962C8B-B14F-4D97-AF65-F5344CB8AC3E}">
        <p14:creationId xmlns:p14="http://schemas.microsoft.com/office/powerpoint/2010/main" val="836690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D6CBF-9AD7-F770-9313-DBD6ED357F94}"/>
              </a:ext>
            </a:extLst>
          </p:cNvPr>
          <p:cNvSpPr txBox="1"/>
          <p:nvPr/>
        </p:nvSpPr>
        <p:spPr>
          <a:xfrm>
            <a:off x="386334" y="220774"/>
            <a:ext cx="11071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What Delta Sharing Solves</a:t>
            </a: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2BE194-B678-619B-DCC3-8E1010970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383070"/>
              </p:ext>
            </p:extLst>
          </p:nvPr>
        </p:nvGraphicFramePr>
        <p:xfrm>
          <a:off x="502920" y="590106"/>
          <a:ext cx="10131424" cy="21945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8323238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19560247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Challenge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Delta Sharing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6395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duplication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Eliminated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5128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freshness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9140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Read-only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432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Central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4414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 Massive 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6211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8D3450-A827-D813-8BC6-7289B9C0BC17}"/>
              </a:ext>
            </a:extLst>
          </p:cNvPr>
          <p:cNvSpPr txBox="1"/>
          <p:nvPr/>
        </p:nvSpPr>
        <p:spPr>
          <a:xfrm>
            <a:off x="386334" y="2944368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Concepts</a:t>
            </a:r>
          </a:p>
          <a:p>
            <a:r>
              <a:rPr lang="en-IN" dirty="0"/>
              <a:t>Provider</a:t>
            </a:r>
          </a:p>
          <a:p>
            <a:pPr lvl="1"/>
            <a:r>
              <a:rPr lang="en-IN" dirty="0"/>
              <a:t>The data owner</a:t>
            </a:r>
          </a:p>
          <a:p>
            <a:pPr lvl="1"/>
            <a:r>
              <a:rPr lang="en-IN" dirty="0"/>
              <a:t>Owns the Delta tables</a:t>
            </a:r>
          </a:p>
          <a:p>
            <a:pPr lvl="1"/>
            <a:r>
              <a:rPr lang="en-IN" dirty="0"/>
              <a:t>Controls access</a:t>
            </a:r>
          </a:p>
          <a:p>
            <a:r>
              <a:rPr lang="en-IN" b="1" dirty="0"/>
              <a:t>Share</a:t>
            </a:r>
          </a:p>
          <a:p>
            <a:pPr lvl="1"/>
            <a:r>
              <a:rPr lang="en-IN" dirty="0"/>
              <a:t>Logical collection of:</a:t>
            </a:r>
          </a:p>
          <a:p>
            <a:pPr lvl="1"/>
            <a:r>
              <a:rPr lang="en-IN" dirty="0"/>
              <a:t>Tables</a:t>
            </a:r>
          </a:p>
          <a:p>
            <a:pPr lvl="1"/>
            <a:r>
              <a:rPr lang="en-IN" dirty="0"/>
              <a:t>Views</a:t>
            </a:r>
          </a:p>
          <a:p>
            <a:r>
              <a:rPr lang="en-IN" b="1" dirty="0"/>
              <a:t>Recipient</a:t>
            </a:r>
          </a:p>
          <a:p>
            <a:r>
              <a:rPr lang="en-IN" dirty="0"/>
              <a:t>	The data consumer</a:t>
            </a:r>
          </a:p>
          <a:p>
            <a:r>
              <a:rPr lang="en-IN" dirty="0"/>
              <a:t>	External company</a:t>
            </a:r>
          </a:p>
          <a:p>
            <a:r>
              <a:rPr lang="en-IN" dirty="0"/>
              <a:t>	Partner</a:t>
            </a:r>
          </a:p>
        </p:txBody>
      </p:sp>
    </p:spTree>
    <p:extLst>
      <p:ext uri="{BB962C8B-B14F-4D97-AF65-F5344CB8AC3E}">
        <p14:creationId xmlns:p14="http://schemas.microsoft.com/office/powerpoint/2010/main" val="3959732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Delta Sharing? | Databricks on AWS">
            <a:extLst>
              <a:ext uri="{FF2B5EF4-FFF2-40B4-BE49-F238E27FC236}">
                <a16:creationId xmlns:a16="http://schemas.microsoft.com/office/drawing/2014/main" id="{004BBAEC-F9EC-7437-5063-F90F5B8B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553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6094476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Flow:</a:t>
            </a:r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Provider defines </a:t>
            </a:r>
            <a:r>
              <a:rPr lang="en-US" b="1" dirty="0"/>
              <a:t>Share</a:t>
            </a:r>
            <a:endParaRPr lang="en-US" dirty="0"/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Provider adds </a:t>
            </a:r>
            <a:r>
              <a:rPr lang="en-US" b="1" dirty="0"/>
              <a:t>Tables / Views</a:t>
            </a:r>
            <a:endParaRPr lang="en-US" dirty="0"/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Provider grants access to </a:t>
            </a:r>
            <a:r>
              <a:rPr lang="en-US" b="1" dirty="0"/>
              <a:t>Recipient</a:t>
            </a:r>
            <a:endParaRPr lang="en-US" dirty="0"/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Recipient queries data </a:t>
            </a:r>
            <a:r>
              <a:rPr lang="en-US" b="1" dirty="0"/>
              <a:t>live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Data </a:t>
            </a:r>
            <a:r>
              <a:rPr lang="en-US" b="1" dirty="0"/>
              <a:t>never leaves</a:t>
            </a:r>
            <a:r>
              <a:rPr lang="en-US" dirty="0"/>
              <a:t> provider storage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What Can Be Shared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52886B-18F6-51FD-890A-4A414D174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035078"/>
              </p:ext>
            </p:extLst>
          </p:nvPr>
        </p:nvGraphicFramePr>
        <p:xfrm>
          <a:off x="329184" y="3213354"/>
          <a:ext cx="10131424" cy="21945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84168363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0251533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 dirty="0"/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0301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Delta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063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3291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Parquet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602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Time Travel Versions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6819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Write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0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720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609447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Security &amp; Governance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Read-only access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UPDATE / DELETE / INSERT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Table-level &amp; view-level access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Row &amp; column masking via views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Central audit logging</a:t>
            </a:r>
          </a:p>
          <a:p>
            <a:pPr lvl="1"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99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CLONE in Databricks?</a:t>
            </a:r>
          </a:p>
          <a:p>
            <a:pPr>
              <a:spcBef>
                <a:spcPts val="600"/>
              </a:spcBef>
            </a:pPr>
            <a:r>
              <a:rPr lang="en-US" dirty="0"/>
              <a:t>CLONE is a Delta Lake feature that allows you to create a copy of an existing Delta table.</a:t>
            </a:r>
          </a:p>
          <a:p>
            <a:pPr>
              <a:spcBef>
                <a:spcPts val="600"/>
              </a:spcBef>
            </a:pPr>
            <a:r>
              <a:rPr lang="en-US" dirty="0"/>
              <a:t>It copies:</a:t>
            </a:r>
          </a:p>
          <a:p>
            <a:pPr>
              <a:spcBef>
                <a:spcPts val="600"/>
              </a:spcBef>
            </a:pPr>
            <a:r>
              <a:rPr lang="en-US" dirty="0"/>
              <a:t>	Table schema</a:t>
            </a:r>
          </a:p>
          <a:p>
            <a:pPr>
              <a:spcBef>
                <a:spcPts val="600"/>
              </a:spcBef>
            </a:pPr>
            <a:r>
              <a:rPr lang="en-US" dirty="0"/>
              <a:t>	Table metadata</a:t>
            </a:r>
          </a:p>
          <a:p>
            <a:pPr>
              <a:spcBef>
                <a:spcPts val="600"/>
              </a:spcBef>
            </a:pPr>
            <a:r>
              <a:rPr lang="en-US" dirty="0"/>
              <a:t>	Optionally the data files</a:t>
            </a:r>
          </a:p>
          <a:p>
            <a:pPr>
              <a:spcBef>
                <a:spcPts val="600"/>
              </a:spcBef>
            </a:pPr>
            <a:r>
              <a:rPr lang="en-US" dirty="0"/>
              <a:t> Used for testing, backup, sandboxing, and migrations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Why CLONE is Needed</a:t>
            </a:r>
          </a:p>
          <a:p>
            <a:pPr>
              <a:spcBef>
                <a:spcPts val="600"/>
              </a:spcBef>
            </a:pPr>
            <a:r>
              <a:rPr lang="en-US" b="1" dirty="0"/>
              <a:t>Problems Without CLONE</a:t>
            </a:r>
          </a:p>
          <a:p>
            <a:pPr>
              <a:spcBef>
                <a:spcPts val="600"/>
              </a:spcBef>
            </a:pPr>
            <a:r>
              <a:rPr lang="en-US" dirty="0"/>
              <a:t>	Copying data manually using INSERT INTO</a:t>
            </a:r>
          </a:p>
          <a:p>
            <a:pPr>
              <a:spcBef>
                <a:spcPts val="600"/>
              </a:spcBef>
            </a:pPr>
            <a:r>
              <a:rPr lang="en-US" dirty="0"/>
              <a:t>	Slow and expensive</a:t>
            </a:r>
          </a:p>
          <a:p>
            <a:pPr>
              <a:spcBef>
                <a:spcPts val="600"/>
              </a:spcBef>
            </a:pPr>
            <a:r>
              <a:rPr lang="en-US" dirty="0"/>
              <a:t>	Risk of data inconsistency</a:t>
            </a:r>
          </a:p>
          <a:p>
            <a:pPr>
              <a:spcBef>
                <a:spcPts val="600"/>
              </a:spcBef>
            </a:pPr>
            <a:r>
              <a:rPr lang="en-US" dirty="0"/>
              <a:t>	Duplicate ETL pipelines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CLONE Solves:</a:t>
            </a:r>
          </a:p>
          <a:p>
            <a:pPr>
              <a:spcBef>
                <a:spcPts val="600"/>
              </a:spcBef>
            </a:pPr>
            <a:r>
              <a:rPr lang="en-US" dirty="0"/>
              <a:t>	Fast table duplication</a:t>
            </a:r>
          </a:p>
          <a:p>
            <a:pPr>
              <a:spcBef>
                <a:spcPts val="600"/>
              </a:spcBef>
            </a:pPr>
            <a:r>
              <a:rPr lang="en-US" dirty="0"/>
              <a:t>	Minimal storage (shallow clone)</a:t>
            </a:r>
          </a:p>
          <a:p>
            <a:pPr>
              <a:spcBef>
                <a:spcPts val="600"/>
              </a:spcBef>
            </a:pPr>
            <a:r>
              <a:rPr lang="en-US" dirty="0"/>
              <a:t>	Safe experimentation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32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CLONE</a:t>
            </a:r>
          </a:p>
          <a:p>
            <a:r>
              <a:rPr lang="en-US" dirty="0"/>
              <a:t>Databricks supports </a:t>
            </a:r>
            <a:r>
              <a:rPr lang="en-US" b="1" dirty="0"/>
              <a:t>two types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BF2F6E-DA92-7370-73D4-6BAC27C4C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088468"/>
              </p:ext>
            </p:extLst>
          </p:nvPr>
        </p:nvGraphicFramePr>
        <p:xfrm>
          <a:off x="292608" y="1259745"/>
          <a:ext cx="10131424" cy="109728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58754018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677336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7239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Shallow Clone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Copies metadata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1190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Deep Clone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Copies metadata +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7727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B41656-B3E7-4B41-1664-7F4589A661F6}"/>
              </a:ext>
            </a:extLst>
          </p:cNvPr>
          <p:cNvSpPr txBox="1"/>
          <p:nvPr/>
        </p:nvSpPr>
        <p:spPr>
          <a:xfrm>
            <a:off x="292608" y="2741182"/>
            <a:ext cx="6094476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SHALLOW CLONE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What is Shallow Clone?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Creates a new table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References the same data files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Only metadata is copied</a:t>
            </a:r>
          </a:p>
          <a:p>
            <a:pPr>
              <a:spcBef>
                <a:spcPts val="600"/>
              </a:spcBef>
            </a:pPr>
            <a:r>
              <a:rPr lang="en-US" dirty="0"/>
              <a:t>No data duplication</a:t>
            </a:r>
            <a:br>
              <a:rPr lang="en-US" dirty="0"/>
            </a:br>
            <a:r>
              <a:rPr lang="en-US" dirty="0"/>
              <a:t>Extremely fast</a:t>
            </a:r>
            <a:br>
              <a:rPr lang="en-US" dirty="0"/>
            </a:br>
            <a:r>
              <a:rPr lang="en-US" dirty="0"/>
              <a:t> Very low storage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15AAB-D676-C373-2A1A-62A9942F2255}"/>
              </a:ext>
            </a:extLst>
          </p:cNvPr>
          <p:cNvSpPr txBox="1"/>
          <p:nvPr/>
        </p:nvSpPr>
        <p:spPr>
          <a:xfrm>
            <a:off x="395478" y="569358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TABLE </a:t>
            </a:r>
            <a:r>
              <a:rPr lang="en-IN" dirty="0" err="1"/>
              <a:t>sales_clone_shallow</a:t>
            </a:r>
            <a:endParaRPr lang="en-IN" dirty="0"/>
          </a:p>
          <a:p>
            <a:r>
              <a:rPr lang="en-IN" dirty="0"/>
              <a:t>SHALLOW CLONE sales;</a:t>
            </a:r>
          </a:p>
        </p:txBody>
      </p:sp>
    </p:spTree>
    <p:extLst>
      <p:ext uri="{BB962C8B-B14F-4D97-AF65-F5344CB8AC3E}">
        <p14:creationId xmlns:p14="http://schemas.microsoft.com/office/powerpoint/2010/main" val="2294883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SHALLOW CLONE behavior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D20B92-0FAC-DCC6-E5E0-59B550F45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101804"/>
              </p:ext>
            </p:extLst>
          </p:nvPr>
        </p:nvGraphicFramePr>
        <p:xfrm>
          <a:off x="203454" y="1012857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83278321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4931060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7682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Insert into clone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New files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2878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Insert into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Not reflected in clone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6817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Delete source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Clone breaks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636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Time travel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Independent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657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35D99E-4470-060D-6180-826B07F7EAC8}"/>
              </a:ext>
            </a:extLst>
          </p:cNvPr>
          <p:cNvSpPr txBox="1"/>
          <p:nvPr/>
        </p:nvSpPr>
        <p:spPr>
          <a:xfrm>
            <a:off x="203454" y="3213991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DEEP CLONE (Concept)</a:t>
            </a:r>
          </a:p>
          <a:p>
            <a:r>
              <a:rPr lang="en-IN" b="1" dirty="0"/>
              <a:t>What is Deep Clone?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Creates a </a:t>
            </a:r>
            <a:r>
              <a:rPr lang="en-IN" b="1" dirty="0"/>
              <a:t>full physical copy</a:t>
            </a:r>
            <a:endParaRPr lang="en-IN" dirty="0"/>
          </a:p>
          <a:p>
            <a:endParaRPr lang="en-IN" dirty="0"/>
          </a:p>
          <a:p>
            <a:r>
              <a:rPr lang="en-IN" dirty="0"/>
              <a:t>Copies: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Schema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Metadata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Independent 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Safe for long-term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More storage &amp; time</a:t>
            </a:r>
          </a:p>
        </p:txBody>
      </p:sp>
    </p:spTree>
    <p:extLst>
      <p:ext uri="{BB962C8B-B14F-4D97-AF65-F5344CB8AC3E}">
        <p14:creationId xmlns:p14="http://schemas.microsoft.com/office/powerpoint/2010/main" val="3957243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CREATE TABLE </a:t>
            </a:r>
            <a:r>
              <a:rPr lang="en-US" b="1" dirty="0" err="1"/>
              <a:t>sales_clone_deep</a:t>
            </a:r>
            <a:endParaRPr lang="en-US" b="1" dirty="0"/>
          </a:p>
          <a:p>
            <a:r>
              <a:rPr lang="en-US" b="1" dirty="0"/>
              <a:t>DEEP CLONE sales;</a:t>
            </a:r>
          </a:p>
          <a:p>
            <a:endParaRPr lang="en-US" b="1" dirty="0"/>
          </a:p>
          <a:p>
            <a:r>
              <a:rPr lang="en-US" dirty="0"/>
              <a:t>Data copied</a:t>
            </a:r>
          </a:p>
          <a:p>
            <a:r>
              <a:rPr lang="en-US" dirty="0"/>
              <a:t>Independent storage</a:t>
            </a:r>
            <a:br>
              <a:rPr lang="en-US" dirty="0"/>
            </a:br>
            <a:r>
              <a:rPr lang="en-US" dirty="0"/>
              <a:t>Safe even if source deleted</a:t>
            </a:r>
            <a:endParaRPr lang="en-US" b="1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550C0-F9F6-8185-D66C-B123E8172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754851"/>
              </p:ext>
            </p:extLst>
          </p:nvPr>
        </p:nvGraphicFramePr>
        <p:xfrm>
          <a:off x="203454" y="2375313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13619856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96160763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7539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Insert into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Not reflected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8719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Delete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Clone unaffected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8132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Full copy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028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Slower than shallow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403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34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Slide 14 – CLONE vs CREATE TABLE AS SELECT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5F7786-510D-EC78-A63E-3418F9C3E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559096"/>
              </p:ext>
            </p:extLst>
          </p:nvPr>
        </p:nvGraphicFramePr>
        <p:xfrm>
          <a:off x="203454" y="967137"/>
          <a:ext cx="10131426" cy="219456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940543109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067444344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1850932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1095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564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Rebuilt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1314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7315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3854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Backup /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59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D62CD0-25C0-68CC-BFC1-B1A8C24C3BCD}"/>
              </a:ext>
            </a:extLst>
          </p:cNvPr>
          <p:cNvSpPr txBox="1"/>
          <p:nvPr/>
        </p:nvSpPr>
        <p:spPr>
          <a:xfrm>
            <a:off x="203454" y="344168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CLONE with Time Travel</a:t>
            </a:r>
          </a:p>
          <a:p>
            <a:r>
              <a:rPr lang="en-IN" dirty="0"/>
              <a:t>	You can clone older versions of a table.</a:t>
            </a:r>
          </a:p>
          <a:p>
            <a:endParaRPr lang="en-IN" dirty="0"/>
          </a:p>
          <a:p>
            <a:r>
              <a:rPr lang="en-IN" dirty="0"/>
              <a:t>CREATE TABLE sales_clone_v5</a:t>
            </a:r>
          </a:p>
          <a:p>
            <a:r>
              <a:rPr lang="en-IN" dirty="0"/>
              <a:t>DEEP CLONE sales VERSION AS OF 5;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OR</a:t>
            </a:r>
          </a:p>
          <a:p>
            <a:endParaRPr lang="en-IN" dirty="0"/>
          </a:p>
          <a:p>
            <a:r>
              <a:rPr lang="en-IN" dirty="0"/>
              <a:t>CREATE TABLE </a:t>
            </a:r>
            <a:r>
              <a:rPr lang="en-IN" dirty="0" err="1"/>
              <a:t>sales_clone_time</a:t>
            </a:r>
            <a:endParaRPr lang="en-IN" dirty="0"/>
          </a:p>
          <a:p>
            <a:r>
              <a:rPr lang="en-IN" dirty="0"/>
              <a:t>SHALLOW CLONE sales TIMESTAMP AS OF '2025-03-01';</a:t>
            </a:r>
          </a:p>
        </p:txBody>
      </p:sp>
    </p:spTree>
    <p:extLst>
      <p:ext uri="{BB962C8B-B14F-4D97-AF65-F5344CB8AC3E}">
        <p14:creationId xmlns:p14="http://schemas.microsoft.com/office/powerpoint/2010/main" val="320370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CLONE vs CREATE TABLE AS SELECT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5F7786-510D-EC78-A63E-3418F9C3E66A}"/>
              </a:ext>
            </a:extLst>
          </p:cNvPr>
          <p:cNvGraphicFramePr>
            <a:graphicFrameLocks noGrp="1"/>
          </p:cNvGraphicFramePr>
          <p:nvPr/>
        </p:nvGraphicFramePr>
        <p:xfrm>
          <a:off x="203454" y="967137"/>
          <a:ext cx="10131426" cy="219456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940543109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067444344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1850932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1095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564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Rebuilt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1314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7315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3854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Backup /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59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D62CD0-25C0-68CC-BFC1-B1A8C24C3BCD}"/>
              </a:ext>
            </a:extLst>
          </p:cNvPr>
          <p:cNvSpPr txBox="1"/>
          <p:nvPr/>
        </p:nvSpPr>
        <p:spPr>
          <a:xfrm>
            <a:off x="203454" y="344168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CLONE with Time Travel</a:t>
            </a:r>
          </a:p>
          <a:p>
            <a:r>
              <a:rPr lang="en-IN" dirty="0"/>
              <a:t>	You can clone older versions of a table.</a:t>
            </a:r>
          </a:p>
          <a:p>
            <a:endParaRPr lang="en-IN" dirty="0"/>
          </a:p>
          <a:p>
            <a:r>
              <a:rPr lang="en-IN" dirty="0"/>
              <a:t>CREATE TABLE sales_clone_v5</a:t>
            </a:r>
          </a:p>
          <a:p>
            <a:r>
              <a:rPr lang="en-IN" dirty="0"/>
              <a:t>DEEP CLONE sales VERSION AS OF 5;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OR</a:t>
            </a:r>
          </a:p>
          <a:p>
            <a:endParaRPr lang="en-IN" dirty="0"/>
          </a:p>
          <a:p>
            <a:r>
              <a:rPr lang="en-IN" dirty="0"/>
              <a:t>CREATE TABLE </a:t>
            </a:r>
            <a:r>
              <a:rPr lang="en-IN" dirty="0" err="1"/>
              <a:t>sales_clone_time</a:t>
            </a:r>
            <a:endParaRPr lang="en-IN" dirty="0"/>
          </a:p>
          <a:p>
            <a:r>
              <a:rPr lang="en-IN" dirty="0"/>
              <a:t>SHALLOW CLONE sales TIMESTAMP AS OF '2025-03-01';</a:t>
            </a:r>
          </a:p>
        </p:txBody>
      </p:sp>
    </p:spTree>
    <p:extLst>
      <p:ext uri="{BB962C8B-B14F-4D97-AF65-F5344CB8AC3E}">
        <p14:creationId xmlns:p14="http://schemas.microsoft.com/office/powerpoint/2010/main" val="2747255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are Deletion Vectors?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Deletion Vectors (DV) are a Delta Lake feature that allows row-level DELETE, UPDATE, and MERGE operations without rewriting the underlying Parquet data files.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 Instead of rewriting files, Delta Lake records which rows are deleted.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Why Deletion Vectors Were Introduced</a:t>
            </a:r>
          </a:p>
          <a:p>
            <a:pPr>
              <a:spcBef>
                <a:spcPts val="600"/>
              </a:spcBef>
            </a:pPr>
            <a:r>
              <a:rPr lang="en-US" b="1" dirty="0"/>
              <a:t>Traditional Delta DELETE behavior</a:t>
            </a:r>
          </a:p>
          <a:p>
            <a:pPr>
              <a:spcBef>
                <a:spcPts val="600"/>
              </a:spcBef>
            </a:pPr>
            <a:r>
              <a:rPr lang="en-US" b="1" dirty="0"/>
              <a:t>	DELETE rewrites entire Parquet files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High I/O cost</a:t>
            </a:r>
          </a:p>
          <a:p>
            <a:pPr>
              <a:spcBef>
                <a:spcPts val="600"/>
              </a:spcBef>
            </a:pPr>
            <a:r>
              <a:rPr lang="en-US" b="1" dirty="0"/>
              <a:t>	Slow on large tables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	Expensive for frequent deletes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Deletion Vectors solve:</a:t>
            </a:r>
          </a:p>
          <a:p>
            <a:pPr>
              <a:spcBef>
                <a:spcPts val="600"/>
              </a:spcBef>
            </a:pPr>
            <a:r>
              <a:rPr lang="en-US" b="1" dirty="0"/>
              <a:t>	Faster DELETE</a:t>
            </a:r>
          </a:p>
          <a:p>
            <a:pPr>
              <a:spcBef>
                <a:spcPts val="600"/>
              </a:spcBef>
            </a:pPr>
            <a:r>
              <a:rPr lang="en-US" b="1" dirty="0"/>
              <a:t>	Less storage churn</a:t>
            </a:r>
          </a:p>
          <a:p>
            <a:pPr>
              <a:spcBef>
                <a:spcPts val="600"/>
              </a:spcBef>
            </a:pPr>
            <a:r>
              <a:rPr lang="en-US" b="1" dirty="0"/>
              <a:t>	Better performance</a:t>
            </a:r>
          </a:p>
          <a:p>
            <a:pPr>
              <a:spcBef>
                <a:spcPts val="600"/>
              </a:spcBef>
            </a:pPr>
            <a:r>
              <a:rPr lang="en-US" b="1" dirty="0"/>
              <a:t>	Efficient row-level operations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96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Simple Concept </a:t>
            </a:r>
          </a:p>
          <a:p>
            <a:pPr>
              <a:spcBef>
                <a:spcPts val="600"/>
              </a:spcBef>
            </a:pPr>
            <a:r>
              <a:rPr lang="en-US" dirty="0"/>
              <a:t>Think of a Parquet file as a page in a ledger.</a:t>
            </a:r>
          </a:p>
          <a:p>
            <a:pPr>
              <a:spcBef>
                <a:spcPts val="600"/>
              </a:spcBef>
            </a:pPr>
            <a:r>
              <a:rPr lang="en-US" dirty="0"/>
              <a:t>Old method: Tear the page and rewrite it</a:t>
            </a:r>
          </a:p>
          <a:p>
            <a:pPr>
              <a:spcBef>
                <a:spcPts val="600"/>
              </a:spcBef>
            </a:pPr>
            <a:r>
              <a:rPr lang="en-US" b="1" dirty="0"/>
              <a:t>Deletion Vectors:</a:t>
            </a:r>
          </a:p>
          <a:p>
            <a:pPr>
              <a:spcBef>
                <a:spcPts val="600"/>
              </a:spcBef>
            </a:pPr>
            <a:r>
              <a:rPr lang="en-US" dirty="0"/>
              <a:t>	Keep the page</a:t>
            </a:r>
          </a:p>
          <a:p>
            <a:pPr>
              <a:spcBef>
                <a:spcPts val="600"/>
              </a:spcBef>
            </a:pPr>
            <a:r>
              <a:rPr lang="en-US" dirty="0"/>
              <a:t>	Put a checklist marking rows as deleted</a:t>
            </a:r>
          </a:p>
          <a:p>
            <a:pPr>
              <a:spcBef>
                <a:spcPts val="600"/>
              </a:spcBef>
            </a:pPr>
            <a:r>
              <a:rPr lang="en-US" dirty="0"/>
              <a:t>	 Page remains</a:t>
            </a:r>
          </a:p>
          <a:p>
            <a:pPr>
              <a:spcBef>
                <a:spcPts val="600"/>
              </a:spcBef>
            </a:pPr>
            <a:r>
              <a:rPr lang="en-US" dirty="0"/>
              <a:t>	Deleted rows are skipped when you query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What Exactly Is a Deletion Vector?</a:t>
            </a:r>
          </a:p>
          <a:p>
            <a:pPr>
              <a:spcBef>
                <a:spcPts val="600"/>
              </a:spcBef>
            </a:pPr>
            <a:r>
              <a:rPr lang="en-US" dirty="0"/>
              <a:t>A </a:t>
            </a:r>
            <a:r>
              <a:rPr lang="en-US" b="1" dirty="0"/>
              <a:t>Deletion Vector</a:t>
            </a:r>
            <a:r>
              <a:rPr lang="en-US" dirty="0"/>
              <a:t> is: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bitmap / index structure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Stored separately from data files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Tracks </a:t>
            </a:r>
            <a:r>
              <a:rPr lang="en-US" b="1" dirty="0"/>
              <a:t>row positions that are deleted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DV + Data File = Logical table state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809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Components:</a:t>
            </a:r>
          </a:p>
          <a:p>
            <a:pPr>
              <a:spcBef>
                <a:spcPts val="600"/>
              </a:spcBef>
            </a:pPr>
            <a:r>
              <a:rPr lang="en-US" dirty="0"/>
              <a:t>	Original Parquet data file</a:t>
            </a:r>
          </a:p>
          <a:p>
            <a:pPr>
              <a:spcBef>
                <a:spcPts val="600"/>
              </a:spcBef>
            </a:pPr>
            <a:r>
              <a:rPr lang="en-US" dirty="0"/>
              <a:t>	Deletion Vector file (DV)</a:t>
            </a:r>
          </a:p>
          <a:p>
            <a:pPr>
              <a:spcBef>
                <a:spcPts val="600"/>
              </a:spcBef>
            </a:pPr>
            <a:r>
              <a:rPr lang="en-US" dirty="0"/>
              <a:t>	_</a:t>
            </a:r>
            <a:r>
              <a:rPr lang="en-US" dirty="0" err="1"/>
              <a:t>delta_log</a:t>
            </a:r>
            <a:r>
              <a:rPr lang="en-US" dirty="0"/>
              <a:t> entry referencing DV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Delta Reader:</a:t>
            </a:r>
          </a:p>
          <a:p>
            <a:pPr>
              <a:spcBef>
                <a:spcPts val="600"/>
              </a:spcBef>
            </a:pPr>
            <a:r>
              <a:rPr lang="en-US" dirty="0"/>
              <a:t>	Reads data file</a:t>
            </a:r>
          </a:p>
          <a:p>
            <a:pPr>
              <a:spcBef>
                <a:spcPts val="600"/>
              </a:spcBef>
            </a:pPr>
            <a:r>
              <a:rPr lang="en-US" dirty="0"/>
              <a:t>	Applies DV</a:t>
            </a:r>
          </a:p>
          <a:p>
            <a:pPr>
              <a:spcBef>
                <a:spcPts val="600"/>
              </a:spcBef>
            </a:pPr>
            <a:r>
              <a:rPr lang="en-US" dirty="0"/>
              <a:t>	Skips deleted rows</a:t>
            </a:r>
          </a:p>
          <a:p>
            <a:endParaRPr lang="en-US" b="1" dirty="0"/>
          </a:p>
          <a:p>
            <a:r>
              <a:rPr lang="en-US" b="1" dirty="0"/>
              <a:t>When Are Deletion Vectors Used?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Row-level DELETE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UPDATE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MERGE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Change Data Capture (CDC)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311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Feature availability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179C2D-3674-F5CC-D10E-31910ADCF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901279"/>
              </p:ext>
            </p:extLst>
          </p:nvPr>
        </p:nvGraphicFramePr>
        <p:xfrm>
          <a:off x="283464" y="866553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83473318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9768375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4869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Delta table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8768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Databricks 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DBR 12+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5191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Default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Enabled in newer runtimes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664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Open-source Delta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9914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126254-F303-2D58-9A82-E6DFF875B138}"/>
              </a:ext>
            </a:extLst>
          </p:cNvPr>
          <p:cNvSpPr txBox="1"/>
          <p:nvPr/>
        </p:nvSpPr>
        <p:spPr>
          <a:xfrm>
            <a:off x="368046" y="3129125"/>
            <a:ext cx="79804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Enable Deletion Vectors (Explicit)</a:t>
            </a:r>
          </a:p>
          <a:p>
            <a:r>
              <a:rPr lang="en-IN" dirty="0"/>
              <a:t>ALTER TABLE sales</a:t>
            </a:r>
          </a:p>
          <a:p>
            <a:r>
              <a:rPr lang="en-IN" dirty="0"/>
              <a:t>SET TBLPROPERTIES (</a:t>
            </a:r>
          </a:p>
          <a:p>
            <a:r>
              <a:rPr lang="en-IN" dirty="0"/>
              <a:t>  '</a:t>
            </a:r>
            <a:r>
              <a:rPr lang="en-IN" dirty="0" err="1"/>
              <a:t>delta.enableDeletionVectors</a:t>
            </a:r>
            <a:r>
              <a:rPr lang="en-IN" dirty="0"/>
              <a:t>' = true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Check status:</a:t>
            </a:r>
          </a:p>
          <a:p>
            <a:endParaRPr lang="en-IN" dirty="0"/>
          </a:p>
          <a:p>
            <a:r>
              <a:rPr lang="en-IN" dirty="0"/>
              <a:t>DESCRIBE DETAIL sales;</a:t>
            </a:r>
          </a:p>
        </p:txBody>
      </p:sp>
    </p:spTree>
    <p:extLst>
      <p:ext uri="{BB962C8B-B14F-4D97-AF65-F5344CB8AC3E}">
        <p14:creationId xmlns:p14="http://schemas.microsoft.com/office/powerpoint/2010/main" val="516469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CCD22-2DF8-B05A-098B-00D5FD3BB232}"/>
              </a:ext>
            </a:extLst>
          </p:cNvPr>
          <p:cNvSpPr txBox="1"/>
          <p:nvPr/>
        </p:nvSpPr>
        <p:spPr>
          <a:xfrm>
            <a:off x="203454" y="366421"/>
            <a:ext cx="10769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What Physically Happens?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7CB6BA-22C7-5334-A4AE-F8EB13DAC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94847"/>
              </p:ext>
            </p:extLst>
          </p:nvPr>
        </p:nvGraphicFramePr>
        <p:xfrm>
          <a:off x="203454" y="866553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1612454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087429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4279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Remains unchanged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6600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DV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Records deleted row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1295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Delta 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Points to DV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1289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Query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Skips deleted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187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154256-D3EE-A3C2-3C97-9A54B04105B1}"/>
              </a:ext>
            </a:extLst>
          </p:cNvPr>
          <p:cNvSpPr txBox="1"/>
          <p:nvPr/>
        </p:nvSpPr>
        <p:spPr>
          <a:xfrm>
            <a:off x="349758" y="2887682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DELETE Without Deletion Vectors (Old Way)</a:t>
            </a:r>
          </a:p>
          <a:p>
            <a:r>
              <a:rPr lang="en-IN" dirty="0"/>
              <a:t>DELETE FROM sales WHERE region = 'EU’;</a:t>
            </a:r>
          </a:p>
          <a:p>
            <a:endParaRPr lang="en-IN" dirty="0"/>
          </a:p>
          <a:p>
            <a:r>
              <a:rPr lang="en-IN" dirty="0"/>
              <a:t>	 Rewrites entire Parquet files</a:t>
            </a:r>
          </a:p>
          <a:p>
            <a:r>
              <a:rPr lang="en-IN" dirty="0"/>
              <a:t>	Slow on large tables</a:t>
            </a:r>
          </a:p>
          <a:p>
            <a:endParaRPr lang="en-IN" dirty="0"/>
          </a:p>
          <a:p>
            <a:r>
              <a:rPr lang="en-IN" dirty="0"/>
              <a:t> DELETE With Deletion Vectors (New Way)</a:t>
            </a:r>
          </a:p>
          <a:p>
            <a:r>
              <a:rPr lang="en-IN" dirty="0"/>
              <a:t>DELETE FROM sales WHERE region = 'EU’;</a:t>
            </a:r>
          </a:p>
          <a:p>
            <a:r>
              <a:rPr lang="en-IN" dirty="0"/>
              <a:t>	 No file rewrite</a:t>
            </a:r>
          </a:p>
          <a:p>
            <a:r>
              <a:rPr lang="en-IN" dirty="0"/>
              <a:t>	Only DV updated</a:t>
            </a:r>
          </a:p>
          <a:p>
            <a:r>
              <a:rPr lang="en-IN" dirty="0"/>
              <a:t>	 Much faster</a:t>
            </a:r>
          </a:p>
        </p:txBody>
      </p:sp>
    </p:spTree>
    <p:extLst>
      <p:ext uri="{BB962C8B-B14F-4D97-AF65-F5344CB8AC3E}">
        <p14:creationId xmlns:p14="http://schemas.microsoft.com/office/powerpoint/2010/main" val="2409231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493776" y="685800"/>
            <a:ext cx="86479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UPDATE Example Using Deletion Vectors</a:t>
            </a:r>
          </a:p>
          <a:p>
            <a:r>
              <a:rPr lang="en-IN" dirty="0"/>
              <a:t>UPDATE sales</a:t>
            </a:r>
          </a:p>
          <a:p>
            <a:r>
              <a:rPr lang="en-IN" dirty="0"/>
              <a:t>SET amount = amount * 1.1</a:t>
            </a:r>
          </a:p>
          <a:p>
            <a:r>
              <a:rPr lang="en-IN" dirty="0"/>
              <a:t>WHERE region = 'US';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Under the hood:</a:t>
            </a:r>
          </a:p>
          <a:p>
            <a:r>
              <a:rPr lang="en-IN" dirty="0"/>
              <a:t>	Old rows → marked deleted via DV</a:t>
            </a:r>
          </a:p>
          <a:p>
            <a:r>
              <a:rPr lang="en-IN" dirty="0"/>
              <a:t>	New rows → appended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 Efficient</a:t>
            </a:r>
          </a:p>
          <a:p>
            <a:r>
              <a:rPr lang="en-IN" dirty="0"/>
              <a:t> Minimal rewrite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0DCD4-83ED-0AC9-386B-DE9BEC1C1A3E}"/>
              </a:ext>
            </a:extLst>
          </p:cNvPr>
          <p:cNvSpPr txBox="1"/>
          <p:nvPr/>
        </p:nvSpPr>
        <p:spPr>
          <a:xfrm>
            <a:off x="395478" y="4519136"/>
            <a:ext cx="60944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Query Performance Impact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Slight overhead to apply DV at read time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Negligible compared to rewrite cost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Optimized by Databricks engine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Best for </a:t>
            </a:r>
            <a:r>
              <a:rPr lang="en-US" b="1" dirty="0"/>
              <a:t>frequent deletes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77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493776" y="685800"/>
            <a:ext cx="11109960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Databricks Unity Catalog (UC)</a:t>
            </a:r>
            <a:r>
              <a:rPr lang="en-US" dirty="0"/>
              <a:t>, </a:t>
            </a:r>
            <a:r>
              <a:rPr lang="en-US" b="1" dirty="0"/>
              <a:t>functions</a:t>
            </a:r>
            <a:r>
              <a:rPr lang="en-US" dirty="0"/>
              <a:t> are governed, reusable logic objects—very similar to tables and views—that live inside a </a:t>
            </a:r>
            <a:r>
              <a:rPr lang="en-US" b="1" dirty="0" err="1"/>
              <a:t>catalog.schema</a:t>
            </a:r>
            <a:r>
              <a:rPr lang="en-US" dirty="0"/>
              <a:t> and are controlled with </a:t>
            </a:r>
            <a:r>
              <a:rPr lang="en-US" b="1" dirty="0"/>
              <a:t>fine-grained permissions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What are Functions in Unity Catalog?</a:t>
            </a:r>
          </a:p>
          <a:p>
            <a:pPr>
              <a:spcBef>
                <a:spcPts val="600"/>
              </a:spcBef>
            </a:pPr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in Unity Catalog is: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named, reusable computation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Stored centrally in </a:t>
            </a:r>
            <a:r>
              <a:rPr lang="en-US" b="1" dirty="0" err="1"/>
              <a:t>catalog.schema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Callable from </a:t>
            </a:r>
            <a:r>
              <a:rPr lang="en-US" b="1" dirty="0"/>
              <a:t>SQL</a:t>
            </a:r>
            <a:r>
              <a:rPr lang="en-US" dirty="0"/>
              <a:t>, </a:t>
            </a:r>
            <a:r>
              <a:rPr lang="en-US" b="1" dirty="0"/>
              <a:t>notebooks</a:t>
            </a:r>
            <a:r>
              <a:rPr lang="en-US" dirty="0"/>
              <a:t>, and </a:t>
            </a:r>
            <a:r>
              <a:rPr lang="en-US" b="1" dirty="0"/>
              <a:t>dashboards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Fully governed with </a:t>
            </a:r>
            <a:r>
              <a:rPr lang="en-US" b="1" dirty="0"/>
              <a:t>GRANT / REVOKE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Shareable across </a:t>
            </a:r>
            <a:r>
              <a:rPr lang="en-US" b="1" dirty="0"/>
              <a:t>workspaces</a:t>
            </a:r>
            <a:r>
              <a:rPr lang="en-US" dirty="0"/>
              <a:t> in the same </a:t>
            </a:r>
            <a:r>
              <a:rPr lang="en-US" dirty="0" err="1"/>
              <a:t>metastore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Types of Functions in Unity Catalog</a:t>
            </a:r>
          </a:p>
          <a:p>
            <a:pPr>
              <a:spcBef>
                <a:spcPts val="600"/>
              </a:spcBef>
            </a:pPr>
            <a:r>
              <a:rPr lang="en-US" dirty="0"/>
              <a:t>Unity Catalog supports </a:t>
            </a:r>
            <a:r>
              <a:rPr lang="en-US" b="1" dirty="0"/>
              <a:t>two main types</a:t>
            </a:r>
            <a:r>
              <a:rPr lang="en-US" dirty="0"/>
              <a:t> of functions: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A. SQL Functions (Scalar / Table Functions)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B. Python Functions (User-Defined Functions – UDFs)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342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493776" y="685800"/>
            <a:ext cx="111099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Scalar SQL Functions</a:t>
            </a:r>
          </a:p>
          <a:p>
            <a:r>
              <a:rPr lang="en-US" dirty="0"/>
              <a:t>	Return a single value per row</a:t>
            </a:r>
          </a:p>
          <a:p>
            <a:endParaRPr lang="en-US" dirty="0"/>
          </a:p>
          <a:p>
            <a:r>
              <a:rPr lang="en-US" dirty="0"/>
              <a:t>Example: GST calculation</a:t>
            </a:r>
          </a:p>
          <a:p>
            <a:endParaRPr lang="en-US" dirty="0"/>
          </a:p>
          <a:p>
            <a:r>
              <a:rPr lang="en-US" dirty="0"/>
              <a:t>CREATE FUNCTION </a:t>
            </a:r>
            <a:r>
              <a:rPr lang="en-US" dirty="0" err="1"/>
              <a:t>calculate_gst</a:t>
            </a:r>
            <a:r>
              <a:rPr lang="en-US" dirty="0"/>
              <a:t>(amount DOUBLE)</a:t>
            </a:r>
          </a:p>
          <a:p>
            <a:r>
              <a:rPr lang="en-US" dirty="0"/>
              <a:t>RETURNS DOUBLE</a:t>
            </a:r>
          </a:p>
          <a:p>
            <a:r>
              <a:rPr lang="en-US" dirty="0"/>
              <a:t>	RETURN amount * 0.18;</a:t>
            </a:r>
          </a:p>
          <a:p>
            <a:endParaRPr lang="en-US" dirty="0"/>
          </a:p>
          <a:p>
            <a:r>
              <a:rPr lang="en-US" b="1" dirty="0"/>
              <a:t>Table-Valued Functions (TVF)</a:t>
            </a:r>
          </a:p>
          <a:p>
            <a:r>
              <a:rPr lang="en-US" dirty="0"/>
              <a:t>	Return a result set (table)</a:t>
            </a:r>
          </a:p>
          <a:p>
            <a:endParaRPr lang="en-US" dirty="0"/>
          </a:p>
          <a:p>
            <a:r>
              <a:rPr lang="en-US" dirty="0"/>
              <a:t>Example: Filter high-value invoices</a:t>
            </a:r>
          </a:p>
          <a:p>
            <a:endParaRPr lang="en-US" dirty="0"/>
          </a:p>
          <a:p>
            <a:r>
              <a:rPr lang="en-US" dirty="0"/>
              <a:t>CREATE FUNCTION </a:t>
            </a:r>
            <a:r>
              <a:rPr lang="en-US" dirty="0" err="1"/>
              <a:t>main.finance.high_value_invoices</a:t>
            </a:r>
            <a:r>
              <a:rPr lang="en-US" dirty="0"/>
              <a:t>(</a:t>
            </a:r>
            <a:r>
              <a:rPr lang="en-US" dirty="0" err="1"/>
              <a:t>min_amount</a:t>
            </a:r>
            <a:r>
              <a:rPr lang="en-US" dirty="0"/>
              <a:t> DOUBLE)</a:t>
            </a:r>
          </a:p>
          <a:p>
            <a:r>
              <a:rPr lang="en-US" dirty="0"/>
              <a:t>RETURNS TABLE (</a:t>
            </a:r>
            <a:r>
              <a:rPr lang="en-US" dirty="0" err="1"/>
              <a:t>invoice_id</a:t>
            </a:r>
            <a:r>
              <a:rPr lang="en-US" dirty="0"/>
              <a:t> STRING, amount DOUBLE)</a:t>
            </a:r>
          </a:p>
          <a:p>
            <a:r>
              <a:rPr lang="en-US" dirty="0"/>
              <a:t>RETURN</a:t>
            </a:r>
          </a:p>
          <a:p>
            <a:r>
              <a:rPr lang="en-US" dirty="0"/>
              <a:t>  SELECT </a:t>
            </a:r>
            <a:r>
              <a:rPr lang="en-US" dirty="0" err="1"/>
              <a:t>invoice_id</a:t>
            </a:r>
            <a:r>
              <a:rPr lang="en-US" dirty="0"/>
              <a:t>, amount</a:t>
            </a:r>
          </a:p>
          <a:p>
            <a:r>
              <a:rPr lang="en-US" dirty="0"/>
              <a:t>  FROM </a:t>
            </a:r>
            <a:r>
              <a:rPr lang="en-US" dirty="0" err="1"/>
              <a:t>main.finance.invoices</a:t>
            </a:r>
            <a:endParaRPr lang="en-US" dirty="0"/>
          </a:p>
          <a:p>
            <a:r>
              <a:rPr lang="en-US" dirty="0"/>
              <a:t>  WHERE amount &gt;= </a:t>
            </a:r>
            <a:r>
              <a:rPr lang="en-US" dirty="0" err="1"/>
              <a:t>min_amount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065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493776" y="685800"/>
            <a:ext cx="111099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Python Functions (UC Python UDFs)</a:t>
            </a:r>
          </a:p>
          <a:p>
            <a:endParaRPr lang="en-IN" dirty="0"/>
          </a:p>
          <a:p>
            <a:r>
              <a:rPr lang="en-IN" dirty="0"/>
              <a:t>Unity </a:t>
            </a:r>
            <a:r>
              <a:rPr lang="en-IN" dirty="0" err="1"/>
              <a:t>Catalog</a:t>
            </a:r>
            <a:r>
              <a:rPr lang="en-IN" dirty="0"/>
              <a:t> allows governed Python UDFs, stored centrally and reusable.</a:t>
            </a:r>
          </a:p>
          <a:p>
            <a:endParaRPr lang="en-IN" dirty="0"/>
          </a:p>
          <a:p>
            <a:r>
              <a:rPr lang="en-IN" dirty="0"/>
              <a:t>Example: Mask PAN number</a:t>
            </a:r>
          </a:p>
          <a:p>
            <a:endParaRPr lang="en-IN" dirty="0"/>
          </a:p>
          <a:p>
            <a:r>
              <a:rPr lang="en-IN" dirty="0"/>
              <a:t>CREATE FUNCTION </a:t>
            </a:r>
            <a:r>
              <a:rPr lang="en-IN" dirty="0" err="1"/>
              <a:t>main.security.mask_pan</a:t>
            </a:r>
            <a:r>
              <a:rPr lang="en-IN" dirty="0"/>
              <a:t>(pan STRING)</a:t>
            </a:r>
          </a:p>
          <a:p>
            <a:r>
              <a:rPr lang="en-IN" dirty="0"/>
              <a:t>RETURNS STRING</a:t>
            </a:r>
          </a:p>
          <a:p>
            <a:r>
              <a:rPr lang="en-IN" dirty="0"/>
              <a:t>LANGUAGE PYTHON</a:t>
            </a:r>
          </a:p>
          <a:p>
            <a:r>
              <a:rPr lang="en-IN" dirty="0"/>
              <a:t>AS $$</a:t>
            </a:r>
          </a:p>
          <a:p>
            <a:r>
              <a:rPr lang="en-IN" dirty="0"/>
              <a:t>return pan[:2] + "XXXX" + pan[-2:]</a:t>
            </a:r>
          </a:p>
          <a:p>
            <a:r>
              <a:rPr lang="en-IN" dirty="0"/>
              <a:t>$$;</a:t>
            </a:r>
          </a:p>
        </p:txBody>
      </p:sp>
    </p:spTree>
    <p:extLst>
      <p:ext uri="{BB962C8B-B14F-4D97-AF65-F5344CB8AC3E}">
        <p14:creationId xmlns:p14="http://schemas.microsoft.com/office/powerpoint/2010/main" val="4109600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210312" y="256032"/>
            <a:ext cx="1198168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</a:t>
            </a:r>
            <a:r>
              <a:rPr lang="en-US" b="1" i="1" dirty="0"/>
              <a:t>Lakehouse Federation</a:t>
            </a:r>
            <a:r>
              <a:rPr lang="en-US" b="1" dirty="0"/>
              <a:t> Means</a:t>
            </a:r>
          </a:p>
          <a:p>
            <a:pPr>
              <a:spcBef>
                <a:spcPts val="600"/>
              </a:spcBef>
            </a:pPr>
            <a:r>
              <a:rPr lang="en-US" b="1" dirty="0"/>
              <a:t>Lakehouse Federation</a:t>
            </a:r>
            <a:r>
              <a:rPr lang="en-US" dirty="0"/>
              <a:t> is a </a:t>
            </a:r>
            <a:r>
              <a:rPr lang="en-US" b="1" dirty="0"/>
              <a:t>query federation platform</a:t>
            </a:r>
            <a:r>
              <a:rPr lang="en-US" dirty="0"/>
              <a:t> that lets you run queries </a:t>
            </a:r>
            <a:r>
              <a:rPr lang="en-US" b="1" dirty="0"/>
              <a:t>across multiple external data sources</a:t>
            </a:r>
            <a:r>
              <a:rPr lang="en-US" dirty="0"/>
              <a:t> from within a </a:t>
            </a:r>
            <a:r>
              <a:rPr lang="en-US" b="1" dirty="0"/>
              <a:t>Lakehouse platform</a:t>
            </a:r>
            <a:r>
              <a:rPr lang="en-US" dirty="0"/>
              <a:t> (such as </a:t>
            </a:r>
            <a:r>
              <a:rPr lang="en-US" b="1" dirty="0"/>
              <a:t>Databricks</a:t>
            </a:r>
            <a:r>
              <a:rPr lang="en-US" dirty="0"/>
              <a:t>), without moving or copying the underlying data to a central repository.</a:t>
            </a:r>
          </a:p>
          <a:p>
            <a:pPr>
              <a:spcBef>
                <a:spcPts val="600"/>
              </a:spcBef>
            </a:pPr>
            <a:r>
              <a:rPr lang="en-US" dirty="0"/>
              <a:t>Most implementations—like </a:t>
            </a:r>
            <a:r>
              <a:rPr lang="en-US" b="1" dirty="0"/>
              <a:t>Databricks Lakehouse Federation with Unity Catalog</a:t>
            </a:r>
            <a:r>
              <a:rPr lang="en-US" dirty="0"/>
              <a:t>—work by connecting external systems (databases, warehouses, other </a:t>
            </a:r>
            <a:r>
              <a:rPr lang="en-US" dirty="0" err="1"/>
              <a:t>databricks</a:t>
            </a:r>
            <a:r>
              <a:rPr lang="en-US" dirty="0"/>
              <a:t>) into a unified view so you can: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Query disparate data sources</a:t>
            </a:r>
            <a:r>
              <a:rPr lang="en-US" dirty="0"/>
              <a:t> (e.g., MySQL, PostgreSQL, Snowflake, Redshift, </a:t>
            </a:r>
            <a:r>
              <a:rPr lang="en-US" dirty="0" err="1"/>
              <a:t>BigQuery</a:t>
            </a:r>
            <a:r>
              <a:rPr lang="en-US" dirty="0"/>
              <a:t>) together using a single interface.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Avoid data movement or replication</a:t>
            </a:r>
            <a:r>
              <a:rPr lang="en-US" dirty="0"/>
              <a:t>, which saves storage costs and keeps data fresh.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unified metadata, governance, and access controls</a:t>
            </a:r>
            <a:r>
              <a:rPr lang="en-US" dirty="0"/>
              <a:t> through a central catalog (like </a:t>
            </a:r>
            <a:r>
              <a:rPr lang="en-US" b="1" dirty="0"/>
              <a:t>Unity Catalog</a:t>
            </a:r>
            <a:r>
              <a:rPr lang="en-US" dirty="0"/>
              <a:t>).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Create </a:t>
            </a:r>
            <a:r>
              <a:rPr lang="en-US" b="1" dirty="0"/>
              <a:t>foreign catalogs</a:t>
            </a:r>
            <a:r>
              <a:rPr lang="en-US" dirty="0"/>
              <a:t>, which are virtual representations of external databases inside the </a:t>
            </a:r>
            <a:r>
              <a:rPr lang="en-US" dirty="0" err="1"/>
              <a:t>lakehouse</a:t>
            </a:r>
            <a:r>
              <a:rPr lang="en-US" dirty="0"/>
              <a:t> catalog so SQL queries can treat them like local tables. </a:t>
            </a:r>
          </a:p>
          <a:p>
            <a:pPr>
              <a:spcBef>
                <a:spcPts val="600"/>
              </a:spcBef>
            </a:pPr>
            <a:r>
              <a:rPr lang="en-US" dirty="0"/>
              <a:t>In essence, Lakehouse Federation makes it possible to </a:t>
            </a:r>
            <a:r>
              <a:rPr lang="en-US" b="1" dirty="0"/>
              <a:t>access and analyze distributed data as if it were in a single system</a:t>
            </a:r>
            <a:r>
              <a:rPr lang="en-US" dirty="0"/>
              <a:t>, combining the flexibility of data virtualization with centralized governance. 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How It Works (Simplified)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Create a connection</a:t>
            </a:r>
            <a:r>
              <a:rPr lang="en-US" dirty="0"/>
              <a:t> to each external data source (using drivers like JDBC). </a:t>
            </a:r>
            <a:r>
              <a:rPr lang="en-US" b="1" dirty="0"/>
              <a:t>Register a foreign catalog</a:t>
            </a:r>
            <a:r>
              <a:rPr lang="en-US" dirty="0"/>
              <a:t> in the </a:t>
            </a:r>
            <a:r>
              <a:rPr lang="en-US" dirty="0" err="1"/>
              <a:t>lakehouse</a:t>
            </a:r>
            <a:r>
              <a:rPr lang="en-US" dirty="0"/>
              <a:t> catalog that mirrors the structure of the external source. </a:t>
            </a:r>
            <a:r>
              <a:rPr lang="en-US" b="1" dirty="0"/>
              <a:t>Run federated queries</a:t>
            </a:r>
            <a:r>
              <a:rPr lang="en-US" dirty="0"/>
              <a:t> across all connected sources using standard SQL.</a:t>
            </a:r>
          </a:p>
        </p:txBody>
      </p:sp>
    </p:spTree>
    <p:extLst>
      <p:ext uri="{BB962C8B-B14F-4D97-AF65-F5344CB8AC3E}">
        <p14:creationId xmlns:p14="http://schemas.microsoft.com/office/powerpoint/2010/main" val="66011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210312" y="256032"/>
            <a:ext cx="11981688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Why Unity Catalog? (Business Context)</a:t>
            </a:r>
          </a:p>
          <a:p>
            <a:pPr>
              <a:spcBef>
                <a:spcPts val="600"/>
              </a:spcBef>
            </a:pPr>
            <a:r>
              <a:rPr lang="en-US" b="1" dirty="0"/>
              <a:t>Challenges Before Unity Catalog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scattered across multiple workspaces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single view of </a:t>
            </a:r>
            <a:r>
              <a:rPr lang="en-US" b="1" dirty="0"/>
              <a:t>who can access what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Inconsistent permissions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Manual security management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Difficult audits &amp; compliance (SOX, GDPR, DPDP Act)</a:t>
            </a:r>
          </a:p>
          <a:p>
            <a:pPr>
              <a:spcBef>
                <a:spcPts val="600"/>
              </a:spcBef>
            </a:pPr>
            <a:r>
              <a:rPr lang="en-US" b="1" dirty="0"/>
              <a:t>Need of the Hour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✔ Centralized governance</a:t>
            </a:r>
            <a:br>
              <a:rPr lang="en-US" dirty="0"/>
            </a:br>
            <a:r>
              <a:rPr lang="en-US" dirty="0"/>
              <a:t>✔ Fine-grained access control</a:t>
            </a:r>
            <a:br>
              <a:rPr lang="en-US" dirty="0"/>
            </a:br>
            <a:r>
              <a:rPr lang="en-US" dirty="0"/>
              <a:t>✔ Auditability</a:t>
            </a:r>
            <a:br>
              <a:rPr lang="en-US" dirty="0"/>
            </a:br>
            <a:r>
              <a:rPr lang="en-US" dirty="0"/>
              <a:t>✔ Secure data sharing</a:t>
            </a:r>
          </a:p>
          <a:p>
            <a:pPr>
              <a:spcBef>
                <a:spcPts val="600"/>
              </a:spcBef>
            </a:pPr>
            <a:r>
              <a:rPr lang="en-US" dirty="0"/>
              <a:t>➡ </a:t>
            </a:r>
            <a:r>
              <a:rPr lang="en-US" b="1" dirty="0"/>
              <a:t>Unity Catalog solves these problems</a:t>
            </a: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11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210312" y="256032"/>
            <a:ext cx="119816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Unity Catalog?</a:t>
            </a:r>
          </a:p>
          <a:p>
            <a:pPr>
              <a:spcBef>
                <a:spcPts val="600"/>
              </a:spcBef>
            </a:pPr>
            <a:r>
              <a:rPr lang="en-US" b="1" dirty="0"/>
              <a:t>Definition</a:t>
            </a:r>
          </a:p>
          <a:p>
            <a:pPr>
              <a:spcBef>
                <a:spcPts val="600"/>
              </a:spcBef>
            </a:pPr>
            <a:r>
              <a:rPr lang="en-US" b="1" dirty="0"/>
              <a:t>Unity Catalog</a:t>
            </a:r>
            <a:r>
              <a:rPr lang="en-US" dirty="0"/>
              <a:t> is a </a:t>
            </a:r>
            <a:r>
              <a:rPr lang="en-US" b="1" dirty="0"/>
              <a:t>centralized governance layer</a:t>
            </a:r>
            <a:r>
              <a:rPr lang="en-US" dirty="0"/>
              <a:t> in Databricks that provides: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Unified access control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discovery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Auditing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sharing</a:t>
            </a:r>
          </a:p>
          <a:p>
            <a:pPr>
              <a:spcBef>
                <a:spcPts val="600"/>
              </a:spcBef>
            </a:pPr>
            <a:r>
              <a:rPr lang="en-US" dirty="0"/>
              <a:t>📌 It governs: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Views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Functions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ML models</a:t>
            </a:r>
          </a:p>
          <a:p>
            <a:pPr>
              <a:spcBef>
                <a:spcPts val="600"/>
              </a:spcBef>
            </a:pPr>
            <a:r>
              <a:rPr lang="en-US" dirty="0"/>
              <a:t>Across </a:t>
            </a:r>
            <a:r>
              <a:rPr lang="en-US" b="1" dirty="0"/>
              <a:t>all Databricks workspaces</a:t>
            </a: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9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65907E-A1CB-588F-17F0-5C4AE8FD6087}"/>
              </a:ext>
            </a:extLst>
          </p:cNvPr>
          <p:cNvSpPr txBox="1"/>
          <p:nvPr/>
        </p:nvSpPr>
        <p:spPr>
          <a:xfrm>
            <a:off x="210312" y="256032"/>
            <a:ext cx="119816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Unity Catalog?</a:t>
            </a:r>
          </a:p>
          <a:p>
            <a:pPr>
              <a:spcBef>
                <a:spcPts val="600"/>
              </a:spcBef>
            </a:pPr>
            <a:r>
              <a:rPr lang="en-US" b="1" dirty="0"/>
              <a:t>Definition</a:t>
            </a:r>
          </a:p>
          <a:p>
            <a:pPr>
              <a:spcBef>
                <a:spcPts val="600"/>
              </a:spcBef>
            </a:pPr>
            <a:r>
              <a:rPr lang="en-US" b="1" dirty="0"/>
              <a:t>Unity Catalog</a:t>
            </a:r>
            <a:r>
              <a:rPr lang="en-US" dirty="0"/>
              <a:t> is a </a:t>
            </a:r>
            <a:r>
              <a:rPr lang="en-US" b="1" dirty="0"/>
              <a:t>centralized governance layer</a:t>
            </a:r>
            <a:r>
              <a:rPr lang="en-US" dirty="0"/>
              <a:t> in Databricks that provides: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Unified access control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discovery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Auditing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sharing</a:t>
            </a:r>
          </a:p>
          <a:p>
            <a:pPr>
              <a:spcBef>
                <a:spcPts val="600"/>
              </a:spcBef>
            </a:pPr>
            <a:r>
              <a:rPr lang="en-US" dirty="0"/>
              <a:t>📌 It governs: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Views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Functions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ML models</a:t>
            </a:r>
          </a:p>
          <a:p>
            <a:pPr>
              <a:spcBef>
                <a:spcPts val="600"/>
              </a:spcBef>
            </a:pPr>
            <a:r>
              <a:rPr lang="en-US" dirty="0"/>
              <a:t>Across </a:t>
            </a:r>
            <a:r>
              <a:rPr lang="en-US" b="1" dirty="0"/>
              <a:t>all Databricks workspaces</a:t>
            </a: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348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Unity Catalog? - Azure Databricks | Microsoft Learn">
            <a:extLst>
              <a:ext uri="{FF2B5EF4-FFF2-40B4-BE49-F238E27FC236}">
                <a16:creationId xmlns:a16="http://schemas.microsoft.com/office/drawing/2014/main" id="{D094E52A-88AA-7728-DD58-43E2A455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500188"/>
            <a:ext cx="1217295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59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54038E-2576-BF16-5A9B-5B9EE603E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020837"/>
              </p:ext>
            </p:extLst>
          </p:nvPr>
        </p:nvGraphicFramePr>
        <p:xfrm>
          <a:off x="310896" y="884841"/>
          <a:ext cx="10131424" cy="32918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28812207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660324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697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Metastore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Central metadata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3070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Catalog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Top-level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8357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Logical grouping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281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Table /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Data objects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6058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Logic &amp;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273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Storage Credential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Secure cloud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9490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External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Governed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29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Governed file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5322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Components of Unity Catalog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67269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609447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a </a:t>
            </a:r>
            <a:r>
              <a:rPr lang="en-US" b="1" dirty="0" err="1"/>
              <a:t>Metastore</a:t>
            </a:r>
            <a:r>
              <a:rPr lang="en-US" b="1" dirty="0"/>
              <a:t>?</a:t>
            </a:r>
          </a:p>
          <a:p>
            <a:pPr>
              <a:spcBef>
                <a:spcPts val="600"/>
              </a:spcBef>
            </a:pPr>
            <a:r>
              <a:rPr lang="en-US" b="1" dirty="0" err="1"/>
              <a:t>Metastore</a:t>
            </a:r>
            <a:endParaRPr lang="en-US" b="1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Created at </a:t>
            </a:r>
            <a:r>
              <a:rPr lang="en-US" b="1" dirty="0"/>
              <a:t>Databricks Account level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Stores metadata &amp; permissions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Attached to one or more workspaces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One </a:t>
            </a:r>
            <a:r>
              <a:rPr lang="en-US" b="1" dirty="0" err="1"/>
              <a:t>Metastore</a:t>
            </a:r>
            <a:r>
              <a:rPr lang="en-US" b="1" dirty="0"/>
              <a:t> Can: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✔ Serve multiple workspaces</a:t>
            </a:r>
            <a:br>
              <a:rPr lang="en-US" dirty="0"/>
            </a:br>
            <a:r>
              <a:rPr lang="en-US" dirty="0"/>
              <a:t>✔ Enforce uniform governance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Catalog</a:t>
            </a:r>
          </a:p>
          <a:p>
            <a:pPr>
              <a:spcBef>
                <a:spcPts val="600"/>
              </a:spcBef>
            </a:pPr>
            <a:r>
              <a:rPr lang="en-US" dirty="0"/>
              <a:t>What is a Catalog?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Highest logical container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Used for data domain segregation</a:t>
            </a:r>
          </a:p>
          <a:p>
            <a:pPr>
              <a:spcBef>
                <a:spcPts val="600"/>
              </a:spcBef>
            </a:pPr>
            <a:r>
              <a:rPr lang="en-US" dirty="0"/>
              <a:t>Examples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finance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sales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hr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919016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6094476" cy="709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Schema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What is a Schema?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Logical grouping within a catalog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Similar to Oracle schema</a:t>
            </a:r>
          </a:p>
          <a:p>
            <a:pPr>
              <a:spcBef>
                <a:spcPts val="600"/>
              </a:spcBef>
            </a:pPr>
            <a:r>
              <a:rPr lang="en-US" b="1" dirty="0"/>
              <a:t>Tables &amp; Views</a:t>
            </a:r>
          </a:p>
          <a:p>
            <a:pPr>
              <a:spcBef>
                <a:spcPts val="600"/>
              </a:spcBef>
            </a:pPr>
            <a:r>
              <a:rPr lang="en-US" b="1" dirty="0"/>
              <a:t>Managed Tables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stored in Databricks-managed location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Full lifecycle control</a:t>
            </a:r>
          </a:p>
          <a:p>
            <a:pPr>
              <a:spcBef>
                <a:spcPts val="600"/>
              </a:spcBef>
            </a:pPr>
            <a:r>
              <a:rPr lang="en-US" b="1" dirty="0"/>
              <a:t>External Tables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stored in cloud storage (ADLS/S3/GCS)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Governed via Unity Catalog</a:t>
            </a:r>
          </a:p>
          <a:p>
            <a:pPr>
              <a:spcBef>
                <a:spcPts val="600"/>
              </a:spcBef>
            </a:pPr>
            <a:r>
              <a:rPr lang="en-US" b="1" dirty="0"/>
              <a:t>Views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Logical layer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Often used with </a:t>
            </a:r>
            <a:r>
              <a:rPr lang="en-US" b="1" dirty="0"/>
              <a:t>Row-Level Security</a:t>
            </a:r>
          </a:p>
          <a:p>
            <a:pPr>
              <a:spcBef>
                <a:spcPts val="600"/>
              </a:spcBef>
            </a:pPr>
            <a:r>
              <a:rPr lang="en-US" b="1" dirty="0"/>
              <a:t>Volumes (Governed File Storage)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alternative to DBFS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Governed file storage under Unity Catalog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467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6094476" cy="709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Schema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What is a Schema?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Logical grouping within a catalog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Similar to Oracle schema</a:t>
            </a:r>
          </a:p>
          <a:p>
            <a:pPr>
              <a:spcBef>
                <a:spcPts val="600"/>
              </a:spcBef>
            </a:pPr>
            <a:r>
              <a:rPr lang="en-US" b="1" dirty="0"/>
              <a:t>Tables &amp; Views</a:t>
            </a:r>
          </a:p>
          <a:p>
            <a:pPr>
              <a:spcBef>
                <a:spcPts val="600"/>
              </a:spcBef>
            </a:pPr>
            <a:r>
              <a:rPr lang="en-US" b="1" dirty="0"/>
              <a:t>Managed Tables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stored in Databricks-managed location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Full lifecycle control</a:t>
            </a:r>
          </a:p>
          <a:p>
            <a:pPr>
              <a:spcBef>
                <a:spcPts val="600"/>
              </a:spcBef>
            </a:pPr>
            <a:r>
              <a:rPr lang="en-US" b="1" dirty="0"/>
              <a:t>External Tables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stored in cloud storage (ADLS/S3/GCS)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Governed via Unity Catalog</a:t>
            </a:r>
          </a:p>
          <a:p>
            <a:pPr>
              <a:spcBef>
                <a:spcPts val="600"/>
              </a:spcBef>
            </a:pPr>
            <a:r>
              <a:rPr lang="en-US" b="1" dirty="0"/>
              <a:t>Views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Logical layer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Often used with </a:t>
            </a:r>
            <a:r>
              <a:rPr lang="en-US" b="1" dirty="0"/>
              <a:t>Row-Level Security</a:t>
            </a:r>
          </a:p>
          <a:p>
            <a:pPr>
              <a:spcBef>
                <a:spcPts val="600"/>
              </a:spcBef>
            </a:pPr>
            <a:r>
              <a:rPr lang="en-US" b="1" dirty="0"/>
              <a:t>Volumes (Governed File Storage)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alternative to DBFS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Governed file storage under Unity Catalog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141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6094476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Storage Credentials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Why Needed?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Unity Catalog </a:t>
            </a:r>
            <a:r>
              <a:rPr lang="en-US" b="1" dirty="0"/>
              <a:t>never uses account keys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cloud-native identities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Examples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Azure Managed Identity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AWS IAM Role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GCP Service Account</a:t>
            </a:r>
          </a:p>
          <a:p>
            <a:pPr>
              <a:spcBef>
                <a:spcPts val="600"/>
              </a:spcBef>
            </a:pPr>
            <a:r>
              <a:rPr lang="en-US" b="1" dirty="0"/>
              <a:t>External Locations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What is an External Location?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Mapping between storage path and credential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Enables governed access to cloud storage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266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6094476" cy="598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Fine-Grained Access Control</a:t>
            </a:r>
          </a:p>
          <a:p>
            <a:r>
              <a:rPr lang="en-US" dirty="0"/>
              <a:t>Unity Catalog supports permissions 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Catalog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Schema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Column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Row (RLS)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Files &amp; Volumes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Functions</a:t>
            </a:r>
          </a:p>
          <a:p>
            <a:r>
              <a:rPr lang="en-US" b="1" dirty="0"/>
              <a:t>Functions in Unity Catalog</a:t>
            </a:r>
          </a:p>
          <a:p>
            <a:r>
              <a:rPr lang="en-US" b="1" dirty="0"/>
              <a:t>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Scalar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Business rules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dirty="0"/>
              <a:t>✔ Reusable</a:t>
            </a:r>
            <a:br>
              <a:rPr lang="en-US" dirty="0"/>
            </a:br>
            <a:r>
              <a:rPr lang="en-US" dirty="0"/>
              <a:t>✔ Auditable</a:t>
            </a:r>
            <a:br>
              <a:rPr lang="en-US" dirty="0"/>
            </a:br>
            <a:r>
              <a:rPr lang="en-US" dirty="0"/>
              <a:t>✔ Secure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235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6094476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Auditing &amp; Compliance</a:t>
            </a:r>
          </a:p>
          <a:p>
            <a:r>
              <a:rPr lang="en-US" dirty="0"/>
              <a:t>Unity Catalog automatically logs: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Who accessed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What was accessed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When it was accessed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From which workspace</a:t>
            </a:r>
          </a:p>
          <a:p>
            <a:r>
              <a:rPr lang="en-US" dirty="0"/>
              <a:t>📌 Critical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ICAI audits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SOX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GDPR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DPDP Act (India)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Delta Sharing (Powered by Unity Catalog)</a:t>
            </a:r>
          </a:p>
          <a:p>
            <a:r>
              <a:rPr lang="en-US" b="1" dirty="0"/>
              <a:t>What is Delta Sharing?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Secure data sharing without copying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Works across organizations</a:t>
            </a:r>
          </a:p>
          <a:p>
            <a:r>
              <a:rPr lang="en-US" b="1" dirty="0"/>
              <a:t>Supports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Databricks → Databricks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Databricks → Power BI / Excel / Pandas</a:t>
            </a:r>
          </a:p>
          <a:p>
            <a:pPr lvl="1"/>
            <a:r>
              <a:rPr lang="en-US" dirty="0"/>
              <a:t>✔ Read-only</a:t>
            </a:r>
            <a:br>
              <a:rPr lang="en-US" dirty="0"/>
            </a:br>
            <a:r>
              <a:rPr lang="en-US" dirty="0"/>
              <a:t>✔ Fully governed</a:t>
            </a:r>
          </a:p>
          <a:p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472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8586216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Row-Level Security (RLS)?</a:t>
            </a:r>
          </a:p>
          <a:p>
            <a:pPr>
              <a:spcBef>
                <a:spcPts val="600"/>
              </a:spcBef>
            </a:pPr>
            <a:r>
              <a:rPr lang="en-US" dirty="0"/>
              <a:t>	Row-Level Security restricts which rows of data a user can see, based on:</a:t>
            </a:r>
          </a:p>
          <a:p>
            <a:pPr>
              <a:spcBef>
                <a:spcPts val="600"/>
              </a:spcBef>
            </a:pPr>
            <a:r>
              <a:rPr lang="en-US" dirty="0"/>
              <a:t>	User identity</a:t>
            </a:r>
          </a:p>
          <a:p>
            <a:pPr>
              <a:spcBef>
                <a:spcPts val="600"/>
              </a:spcBef>
            </a:pPr>
            <a:r>
              <a:rPr lang="en-US" dirty="0"/>
              <a:t>	User group / role</a:t>
            </a:r>
          </a:p>
          <a:p>
            <a:pPr>
              <a:spcBef>
                <a:spcPts val="600"/>
              </a:spcBef>
            </a:pPr>
            <a:r>
              <a:rPr lang="en-US" dirty="0"/>
              <a:t>	Business rules (region, department, cost center, etc.)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Even though users query the same table, each user sees different rows.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Why Row-Level Security is Important</a:t>
            </a:r>
          </a:p>
          <a:p>
            <a:pPr>
              <a:spcBef>
                <a:spcPts val="600"/>
              </a:spcBef>
            </a:pPr>
            <a:r>
              <a:rPr lang="en-US" dirty="0"/>
              <a:t>Business Reasons</a:t>
            </a:r>
          </a:p>
          <a:p>
            <a:pPr>
              <a:spcBef>
                <a:spcPts val="600"/>
              </a:spcBef>
            </a:pPr>
            <a:r>
              <a:rPr lang="en-US" dirty="0"/>
              <a:t>	Confidentiality (salary, profit, margins)</a:t>
            </a:r>
          </a:p>
          <a:p>
            <a:pPr>
              <a:spcBef>
                <a:spcPts val="600"/>
              </a:spcBef>
            </a:pPr>
            <a:r>
              <a:rPr lang="en-US" dirty="0"/>
              <a:t>	Regulatory compliance</a:t>
            </a:r>
          </a:p>
          <a:p>
            <a:pPr>
              <a:spcBef>
                <a:spcPts val="600"/>
              </a:spcBef>
            </a:pPr>
            <a:r>
              <a:rPr lang="en-US" dirty="0"/>
              <a:t>	Least-privilege access</a:t>
            </a:r>
          </a:p>
          <a:p>
            <a:pPr>
              <a:spcBef>
                <a:spcPts val="600"/>
              </a:spcBef>
            </a:pPr>
            <a:r>
              <a:rPr lang="en-US" dirty="0"/>
              <a:t>	Multi-tenant data sharing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512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CAA78-4299-D10D-8A53-A5C15ED42991}"/>
              </a:ext>
            </a:extLst>
          </p:cNvPr>
          <p:cNvSpPr txBox="1"/>
          <p:nvPr/>
        </p:nvSpPr>
        <p:spPr>
          <a:xfrm>
            <a:off x="310896" y="363974"/>
            <a:ext cx="858621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Flow:</a:t>
            </a:r>
          </a:p>
          <a:p>
            <a:pPr>
              <a:spcBef>
                <a:spcPts val="600"/>
              </a:spcBef>
            </a:pPr>
            <a:r>
              <a:rPr lang="en-US" b="1" dirty="0"/>
              <a:t>User logs into Databricks</a:t>
            </a:r>
          </a:p>
          <a:p>
            <a:pPr>
              <a:spcBef>
                <a:spcPts val="600"/>
              </a:spcBef>
            </a:pPr>
            <a:r>
              <a:rPr lang="en-US" dirty="0"/>
              <a:t>	User queries a table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Unity Catalog evaluates:</a:t>
            </a:r>
          </a:p>
          <a:p>
            <a:pPr>
              <a:spcBef>
                <a:spcPts val="600"/>
              </a:spcBef>
            </a:pPr>
            <a:r>
              <a:rPr lang="en-US" dirty="0"/>
              <a:t>	User identity</a:t>
            </a:r>
          </a:p>
          <a:p>
            <a:pPr>
              <a:spcBef>
                <a:spcPts val="600"/>
              </a:spcBef>
            </a:pPr>
            <a:r>
              <a:rPr lang="en-US" dirty="0"/>
              <a:t>	Group membership</a:t>
            </a:r>
          </a:p>
          <a:p>
            <a:pPr>
              <a:spcBef>
                <a:spcPts val="600"/>
              </a:spcBef>
            </a:pPr>
            <a:r>
              <a:rPr lang="en-US" dirty="0"/>
              <a:t>	Row filter logic</a:t>
            </a:r>
          </a:p>
          <a:p>
            <a:pPr>
              <a:spcBef>
                <a:spcPts val="600"/>
              </a:spcBef>
            </a:pPr>
            <a:r>
              <a:rPr lang="en-US" dirty="0"/>
              <a:t>	Only permitted rows are returned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Key Requirements for RLS in Databricks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Unity Catalog must be enabled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Use SQL Warehouse or Cluster with UC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Table must be managed by Unity Catalog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Not supported on legacy Hive </a:t>
            </a:r>
            <a:r>
              <a:rPr lang="en-US" dirty="0" err="1"/>
              <a:t>Metastore</a:t>
            </a: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8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59C18620-CF8D-DED9-283D-BD0E6FBF36D9}"/>
              </a:ext>
            </a:extLst>
          </p:cNvPr>
          <p:cNvSpPr txBox="1"/>
          <p:nvPr/>
        </p:nvSpPr>
        <p:spPr>
          <a:xfrm>
            <a:off x="112014" y="217438"/>
            <a:ext cx="10540746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Column-Level Security (CLS)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What is Column-Level Security?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Column-Level Security (CLS)</a:t>
            </a:r>
            <a:r>
              <a:rPr lang="en-US" dirty="0"/>
              <a:t> is a data-governance mechanism that restricts </a:t>
            </a:r>
            <a:r>
              <a:rPr lang="en-US" b="1" dirty="0"/>
              <a:t>access to specific columns</a:t>
            </a:r>
            <a:r>
              <a:rPr lang="en-US" dirty="0"/>
              <a:t> in a table based on </a:t>
            </a:r>
            <a:r>
              <a:rPr lang="en-US" b="1" dirty="0"/>
              <a:t>user roles or groups</a:t>
            </a:r>
            <a:r>
              <a:rPr lang="en-US" dirty="0"/>
              <a:t>, even when users have access to the table itself.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In simple terms: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“Users can see the table, but not all columns.”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Why Column-Level Security is Important</a:t>
            </a:r>
          </a:p>
          <a:p>
            <a:pPr>
              <a:spcBef>
                <a:spcPts val="600"/>
              </a:spcBef>
            </a:pPr>
            <a:r>
              <a:rPr lang="en-US" dirty="0"/>
              <a:t>In real-world business data, some columns are </a:t>
            </a:r>
            <a:r>
              <a:rPr lang="en-US" b="1" dirty="0"/>
              <a:t>highly sensitive</a:t>
            </a:r>
            <a:r>
              <a:rPr lang="en-US" dirty="0"/>
              <a:t>, such as: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Salary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PAN / Aadhaar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Bank Account Numbers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Email / Mobile Numbers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Credit Card or Financial Details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Not all users need to see this information, even if they work on the same dataset.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84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2BBAAB-3730-1BD3-56E8-00DE4801548E}"/>
              </a:ext>
            </a:extLst>
          </p:cNvPr>
          <p:cNvSpPr txBox="1"/>
          <p:nvPr/>
        </p:nvSpPr>
        <p:spPr>
          <a:xfrm>
            <a:off x="450342" y="322683"/>
            <a:ext cx="60944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CLS helps: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Protect sensitive data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Meet compliance requirements (GDPR, DPDP Act, SOX, HIPAA)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Implement least-privilege access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Avoid data duplication or masking outside the platform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How Column-Level Security Works (Concept)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Table access is granted to users or groups</a:t>
            </a:r>
          </a:p>
          <a:p>
            <a:pPr>
              <a:spcBef>
                <a:spcPts val="600"/>
              </a:spcBef>
            </a:pPr>
            <a:r>
              <a:rPr lang="en-IN" b="1" dirty="0"/>
              <a:t>Specific columns are restricted using:</a:t>
            </a:r>
          </a:p>
          <a:p>
            <a:pPr>
              <a:spcBef>
                <a:spcPts val="600"/>
              </a:spcBef>
            </a:pPr>
            <a:r>
              <a:rPr lang="en-IN" dirty="0"/>
              <a:t>	Column privileges, or</a:t>
            </a:r>
          </a:p>
          <a:p>
            <a:pPr>
              <a:spcBef>
                <a:spcPts val="600"/>
              </a:spcBef>
            </a:pPr>
            <a:r>
              <a:rPr lang="en-IN" dirty="0"/>
              <a:t>	Dynamic masking functions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Users see:</a:t>
            </a:r>
          </a:p>
          <a:p>
            <a:pPr>
              <a:spcBef>
                <a:spcPts val="600"/>
              </a:spcBef>
            </a:pPr>
            <a:r>
              <a:rPr lang="en-IN" dirty="0"/>
              <a:t>	Full data for allowed columns</a:t>
            </a:r>
          </a:p>
          <a:p>
            <a:pPr>
              <a:spcBef>
                <a:spcPts val="600"/>
              </a:spcBef>
            </a:pPr>
            <a:r>
              <a:rPr lang="en-IN" dirty="0"/>
              <a:t>	Masked or hidden data for restricted columns</a:t>
            </a:r>
          </a:p>
        </p:txBody>
      </p:sp>
    </p:spTree>
    <p:extLst>
      <p:ext uri="{BB962C8B-B14F-4D97-AF65-F5344CB8AC3E}">
        <p14:creationId xmlns:p14="http://schemas.microsoft.com/office/powerpoint/2010/main" val="1672684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1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2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3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4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5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6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3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4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5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6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7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8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79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80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8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ppt/theme/themeOverride82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11416</TotalTime>
  <Words>12933</Words>
  <Application>Microsoft Office PowerPoint</Application>
  <PresentationFormat>Widescreen</PresentationFormat>
  <Paragraphs>2416</Paragraphs>
  <Slides>137</Slides>
  <Notes>136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5" baseType="lpstr">
      <vt:lpstr>Aptos</vt:lpstr>
      <vt:lpstr>Arial</vt:lpstr>
      <vt:lpstr>Calibri</vt:lpstr>
      <vt:lpstr>Calibri Light</vt:lpstr>
      <vt:lpstr>Consolas</vt:lpstr>
      <vt:lpstr>Google Sans</vt:lpstr>
      <vt:lpstr>Segoe UI Symbol</vt:lpstr>
      <vt:lpstr>Celestial</vt:lpstr>
      <vt:lpstr>databriics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7</cp:revision>
  <dcterms:created xsi:type="dcterms:W3CDTF">2025-09-01T11:43:39Z</dcterms:created>
  <dcterms:modified xsi:type="dcterms:W3CDTF">2025-12-19T11:13:59Z</dcterms:modified>
</cp:coreProperties>
</file>